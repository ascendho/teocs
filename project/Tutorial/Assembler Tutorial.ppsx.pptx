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Arim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ErZ0uNQBZr8zYZeo0iLNYqn1B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imo-bold.fntdata"/><Relationship Id="rId27" Type="http://schemas.openxmlformats.org/officeDocument/2006/relationships/font" Target="fonts/Arim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Arim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lvl="0" algn="ctr">
              <a:spcBef>
                <a:spcPts val="960"/>
              </a:spcBef>
              <a:spcAft>
                <a:spcPts val="0"/>
              </a:spcAft>
              <a:buSzPts val="2640"/>
              <a:buNone/>
              <a:defRPr sz="24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2500"/>
              <a:buFont typeface="Arial"/>
              <a:buNone/>
              <a:defRPr sz="2000"/>
            </a:lvl2pPr>
            <a:lvl3pPr lvl="2" algn="ctr">
              <a:spcBef>
                <a:spcPts val="720"/>
              </a:spcBef>
              <a:spcAft>
                <a:spcPts val="0"/>
              </a:spcAft>
              <a:buSzPts val="1980"/>
              <a:buFont typeface="Arial"/>
              <a:buNone/>
              <a:defRPr sz="1800"/>
            </a:lvl3pPr>
            <a:lvl4pPr lvl="3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5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" type="body"/>
          </p:nvPr>
        </p:nvSpPr>
        <p:spPr>
          <a:xfrm>
            <a:off x="457200" y="762000"/>
            <a:ext cx="8332788" cy="54864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354330" lvl="0" marL="457200" algn="l">
              <a:spcBef>
                <a:spcPts val="720"/>
              </a:spcBef>
              <a:spcAft>
                <a:spcPts val="0"/>
              </a:spcAft>
              <a:buSzPts val="1980"/>
              <a:buChar char="▪"/>
              <a:defRPr/>
            </a:lvl1pPr>
            <a:lvl2pPr indent="-371475" lvl="1" marL="914400" algn="l">
              <a:spcBef>
                <a:spcPts val="720"/>
              </a:spcBef>
              <a:spcAft>
                <a:spcPts val="0"/>
              </a:spcAft>
              <a:buSzPts val="2250"/>
              <a:buChar char="•"/>
              <a:defRPr/>
            </a:lvl2pPr>
            <a:lvl3pPr indent="-354330" lvl="2" marL="1371600" algn="l">
              <a:spcBef>
                <a:spcPts val="720"/>
              </a:spcBef>
              <a:spcAft>
                <a:spcPts val="0"/>
              </a:spcAft>
              <a:buSzPts val="1980"/>
              <a:buChar char="•"/>
              <a:defRPr/>
            </a:lvl3pPr>
            <a:lvl4pPr indent="-3429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228600" lvl="0" marL="457200" algn="l">
              <a:spcBef>
                <a:spcPts val="960"/>
              </a:spcBef>
              <a:spcAft>
                <a:spcPts val="0"/>
              </a:spcAft>
              <a:buSzPts val="2640"/>
              <a:buNone/>
              <a:defRPr sz="24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2500"/>
              <a:buFont typeface="Arial"/>
              <a:buNone/>
              <a:defRPr sz="2000"/>
            </a:lvl2pPr>
            <a:lvl3pPr indent="-228600" lvl="2" marL="1371600" algn="l">
              <a:spcBef>
                <a:spcPts val="720"/>
              </a:spcBef>
              <a:spcAft>
                <a:spcPts val="0"/>
              </a:spcAft>
              <a:buSzPts val="1980"/>
              <a:buFont typeface="Arial"/>
              <a:buNone/>
              <a:defRPr sz="1800"/>
            </a:lvl3pPr>
            <a:lvl4pPr indent="-2286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457200" y="762000"/>
            <a:ext cx="4089400" cy="54864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354330" lvl="0" marL="457200" algn="l">
              <a:spcBef>
                <a:spcPts val="720"/>
              </a:spcBef>
              <a:spcAft>
                <a:spcPts val="0"/>
              </a:spcAft>
              <a:buSzPts val="1980"/>
              <a:buChar char="▪"/>
              <a:defRPr/>
            </a:lvl1pPr>
            <a:lvl2pPr indent="-371475" lvl="1" marL="914400" algn="l">
              <a:spcBef>
                <a:spcPts val="720"/>
              </a:spcBef>
              <a:spcAft>
                <a:spcPts val="0"/>
              </a:spcAft>
              <a:buSzPts val="2250"/>
              <a:buChar char="•"/>
              <a:defRPr/>
            </a:lvl2pPr>
            <a:lvl3pPr indent="-354330" lvl="2" marL="1371600" algn="l">
              <a:spcBef>
                <a:spcPts val="720"/>
              </a:spcBef>
              <a:spcAft>
                <a:spcPts val="0"/>
              </a:spcAft>
              <a:buSzPts val="1980"/>
              <a:buChar char="•"/>
              <a:defRPr/>
            </a:lvl3pPr>
            <a:lvl4pPr indent="-3429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2" type="body"/>
          </p:nvPr>
        </p:nvSpPr>
        <p:spPr>
          <a:xfrm>
            <a:off x="4699000" y="762000"/>
            <a:ext cx="4090988" cy="54864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354330" lvl="0" marL="457200" algn="l">
              <a:spcBef>
                <a:spcPts val="720"/>
              </a:spcBef>
              <a:spcAft>
                <a:spcPts val="0"/>
              </a:spcAft>
              <a:buSzPts val="1980"/>
              <a:buChar char="▪"/>
              <a:defRPr/>
            </a:lvl1pPr>
            <a:lvl2pPr indent="-371475" lvl="1" marL="914400" algn="l">
              <a:spcBef>
                <a:spcPts val="720"/>
              </a:spcBef>
              <a:spcAft>
                <a:spcPts val="0"/>
              </a:spcAft>
              <a:buSzPts val="2250"/>
              <a:buChar char="•"/>
              <a:defRPr/>
            </a:lvl2pPr>
            <a:lvl3pPr indent="-354330" lvl="2" marL="1371600" algn="l">
              <a:spcBef>
                <a:spcPts val="720"/>
              </a:spcBef>
              <a:spcAft>
                <a:spcPts val="0"/>
              </a:spcAft>
              <a:buSzPts val="1980"/>
              <a:buChar char="•"/>
              <a:defRPr/>
            </a:lvl3pPr>
            <a:lvl4pPr indent="-3429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0" spcFirstLastPara="1" rIns="91425" wrap="square" tIns="0">
            <a:noAutofit/>
          </a:bodyPr>
          <a:lstStyle>
            <a:lvl1pPr indent="-228600" lvl="0" marL="457200" algn="l">
              <a:spcBef>
                <a:spcPts val="960"/>
              </a:spcBef>
              <a:spcAft>
                <a:spcPts val="0"/>
              </a:spcAft>
              <a:buSzPts val="2640"/>
              <a:buNone/>
              <a:defRPr b="1" sz="24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2500"/>
              <a:buFont typeface="Arial"/>
              <a:buNone/>
              <a:defRPr b="1" sz="2000"/>
            </a:lvl2pPr>
            <a:lvl3pPr indent="-228600" lvl="2" marL="1371600" algn="l">
              <a:spcBef>
                <a:spcPts val="720"/>
              </a:spcBef>
              <a:spcAft>
                <a:spcPts val="0"/>
              </a:spcAft>
              <a:buSzPts val="1980"/>
              <a:buFont typeface="Arial"/>
              <a:buNone/>
              <a:defRPr b="1" sz="1800"/>
            </a:lvl3pPr>
            <a:lvl4pPr indent="-2286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2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354330" lvl="0" marL="457200" algn="l">
              <a:spcBef>
                <a:spcPts val="720"/>
              </a:spcBef>
              <a:spcAft>
                <a:spcPts val="0"/>
              </a:spcAft>
              <a:buSzPts val="1980"/>
              <a:buChar char="▪"/>
              <a:defRPr/>
            </a:lvl1pPr>
            <a:lvl2pPr indent="-371475" lvl="1" marL="914400" algn="l">
              <a:spcBef>
                <a:spcPts val="720"/>
              </a:spcBef>
              <a:spcAft>
                <a:spcPts val="0"/>
              </a:spcAft>
              <a:buSzPts val="2250"/>
              <a:buChar char="•"/>
              <a:defRPr/>
            </a:lvl2pPr>
            <a:lvl3pPr indent="-354330" lvl="2" marL="1371600" algn="l">
              <a:spcBef>
                <a:spcPts val="720"/>
              </a:spcBef>
              <a:spcAft>
                <a:spcPts val="0"/>
              </a:spcAft>
              <a:buSzPts val="1980"/>
              <a:buChar char="•"/>
              <a:defRPr/>
            </a:lvl3pPr>
            <a:lvl4pPr indent="-3429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0" spcFirstLastPara="1" rIns="91425" wrap="square" tIns="0">
            <a:noAutofit/>
          </a:bodyPr>
          <a:lstStyle>
            <a:lvl1pPr indent="-228600" lvl="0" marL="457200" algn="l">
              <a:spcBef>
                <a:spcPts val="960"/>
              </a:spcBef>
              <a:spcAft>
                <a:spcPts val="0"/>
              </a:spcAft>
              <a:buSzPts val="2640"/>
              <a:buNone/>
              <a:defRPr b="1" sz="24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2500"/>
              <a:buFont typeface="Arial"/>
              <a:buNone/>
              <a:defRPr b="1" sz="2000"/>
            </a:lvl2pPr>
            <a:lvl3pPr indent="-228600" lvl="2" marL="1371600" algn="l">
              <a:spcBef>
                <a:spcPts val="720"/>
              </a:spcBef>
              <a:spcAft>
                <a:spcPts val="0"/>
              </a:spcAft>
              <a:buSzPts val="1980"/>
              <a:buFont typeface="Arial"/>
              <a:buNone/>
              <a:defRPr b="1" sz="1800"/>
            </a:lvl3pPr>
            <a:lvl4pPr indent="-2286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2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354330" lvl="0" marL="457200" algn="l">
              <a:spcBef>
                <a:spcPts val="720"/>
              </a:spcBef>
              <a:spcAft>
                <a:spcPts val="0"/>
              </a:spcAft>
              <a:buSzPts val="1980"/>
              <a:buChar char="▪"/>
              <a:defRPr/>
            </a:lvl1pPr>
            <a:lvl2pPr indent="-371475" lvl="1" marL="914400" algn="l">
              <a:spcBef>
                <a:spcPts val="720"/>
              </a:spcBef>
              <a:spcAft>
                <a:spcPts val="0"/>
              </a:spcAft>
              <a:buSzPts val="2250"/>
              <a:buChar char="•"/>
              <a:defRPr/>
            </a:lvl2pPr>
            <a:lvl3pPr indent="-354330" lvl="2" marL="1371600" algn="l">
              <a:spcBef>
                <a:spcPts val="720"/>
              </a:spcBef>
              <a:spcAft>
                <a:spcPts val="0"/>
              </a:spcAft>
              <a:buSzPts val="1980"/>
              <a:buChar char="•"/>
              <a:defRPr/>
            </a:lvl3pPr>
            <a:lvl4pPr indent="-3429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452119" lvl="0" marL="457200" algn="l">
              <a:spcBef>
                <a:spcPts val="1280"/>
              </a:spcBef>
              <a:spcAft>
                <a:spcPts val="0"/>
              </a:spcAft>
              <a:buSzPts val="3520"/>
              <a:buChar char="▪"/>
              <a:defRPr sz="3200"/>
            </a:lvl1pPr>
            <a:lvl2pPr indent="-450850" lvl="1" marL="914400" algn="l">
              <a:spcBef>
                <a:spcPts val="1120"/>
              </a:spcBef>
              <a:spcAft>
                <a:spcPts val="0"/>
              </a:spcAft>
              <a:buSzPts val="3500"/>
              <a:buFont typeface="Arial"/>
              <a:buChar char="•"/>
              <a:defRPr sz="2800"/>
            </a:lvl2pPr>
            <a:lvl3pPr indent="-396239" lvl="2" marL="1371600" algn="l">
              <a:spcBef>
                <a:spcPts val="960"/>
              </a:spcBef>
              <a:spcAft>
                <a:spcPts val="0"/>
              </a:spcAft>
              <a:buSzPts val="2640"/>
              <a:buFont typeface="Arial"/>
              <a:buChar char="•"/>
              <a:defRPr sz="2400"/>
            </a:lvl3pPr>
            <a:lvl4pPr indent="-355600" lvl="3" marL="18288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8" name="Google Shape;38;p3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SzPts val="1760"/>
              <a:buNone/>
              <a:defRPr sz="1600"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SzPts val="1750"/>
              <a:buFont typeface="Arial"/>
              <a:buNone/>
              <a:defRPr sz="14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SzPts val="1320"/>
              <a:buFont typeface="Arial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SzPts val="1760"/>
              <a:buNone/>
              <a:defRPr sz="1600"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SzPts val="1750"/>
              <a:buFont typeface="Arial"/>
              <a:buNone/>
              <a:defRPr sz="14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SzPts val="1320"/>
              <a:buFont typeface="Arial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 rot="5400000">
            <a:off x="1880394" y="-661194"/>
            <a:ext cx="5486400" cy="8332788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354330" lvl="0" marL="457200" algn="l">
              <a:spcBef>
                <a:spcPts val="720"/>
              </a:spcBef>
              <a:spcAft>
                <a:spcPts val="0"/>
              </a:spcAft>
              <a:buSzPts val="1980"/>
              <a:buChar char="▪"/>
              <a:defRPr/>
            </a:lvl1pPr>
            <a:lvl2pPr indent="-371475" lvl="1" marL="914400" algn="l">
              <a:spcBef>
                <a:spcPts val="720"/>
              </a:spcBef>
              <a:spcAft>
                <a:spcPts val="0"/>
              </a:spcAft>
              <a:buSzPts val="2250"/>
              <a:buChar char="•"/>
              <a:defRPr/>
            </a:lvl2pPr>
            <a:lvl3pPr indent="-354330" lvl="2" marL="1371600" algn="l">
              <a:spcBef>
                <a:spcPts val="720"/>
              </a:spcBef>
              <a:spcAft>
                <a:spcPts val="0"/>
              </a:spcAft>
              <a:buSzPts val="1980"/>
              <a:buChar char="•"/>
              <a:defRPr/>
            </a:lvl3pPr>
            <a:lvl4pPr indent="-3429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 txBox="1"/>
          <p:nvPr>
            <p:ph type="title"/>
          </p:nvPr>
        </p:nvSpPr>
        <p:spPr>
          <a:xfrm rot="5400000">
            <a:off x="4700588" y="2159000"/>
            <a:ext cx="6096000" cy="20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" type="body"/>
          </p:nvPr>
        </p:nvSpPr>
        <p:spPr>
          <a:xfrm rot="5400000">
            <a:off x="457994" y="151606"/>
            <a:ext cx="6096000" cy="6097588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354330" lvl="0" marL="457200" algn="l">
              <a:spcBef>
                <a:spcPts val="720"/>
              </a:spcBef>
              <a:spcAft>
                <a:spcPts val="0"/>
              </a:spcAft>
              <a:buSzPts val="1980"/>
              <a:buChar char="▪"/>
              <a:defRPr/>
            </a:lvl1pPr>
            <a:lvl2pPr indent="-371475" lvl="1" marL="914400" algn="l">
              <a:spcBef>
                <a:spcPts val="720"/>
              </a:spcBef>
              <a:spcAft>
                <a:spcPts val="0"/>
              </a:spcAft>
              <a:buSzPts val="2250"/>
              <a:buChar char="•"/>
              <a:defRPr/>
            </a:lvl2pPr>
            <a:lvl3pPr indent="-354330" lvl="2" marL="1371600" algn="l">
              <a:spcBef>
                <a:spcPts val="720"/>
              </a:spcBef>
              <a:spcAft>
                <a:spcPts val="0"/>
              </a:spcAft>
              <a:buSzPts val="1980"/>
              <a:buChar char="•"/>
              <a:defRPr/>
            </a:lvl3pPr>
            <a:lvl4pPr indent="-3429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slide" Target="/ppt/slides/slide4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" name="Google Shape;7;p22"/>
          <p:cNvCxnSpPr/>
          <p:nvPr/>
        </p:nvCxnSpPr>
        <p:spPr>
          <a:xfrm>
            <a:off x="457200" y="609600"/>
            <a:ext cx="8180388" cy="0"/>
          </a:xfrm>
          <a:prstGeom prst="straightConnector1">
            <a:avLst/>
          </a:prstGeom>
          <a:noFill/>
          <a:ln cap="flat" cmpd="sng" w="9525">
            <a:solidFill>
              <a:srgbClr val="B058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" name="Google Shape;8;p22"/>
          <p:cNvSpPr txBox="1"/>
          <p:nvPr>
            <p:ph idx="1" type="body"/>
          </p:nvPr>
        </p:nvSpPr>
        <p:spPr>
          <a:xfrm>
            <a:off x="457200" y="762000"/>
            <a:ext cx="8332788" cy="54864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>
            <a:lvl1pPr indent="-368300" lvl="0" marL="457200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spcBef>
                <a:spcPts val="720"/>
              </a:spcBef>
              <a:spcAft>
                <a:spcPts val="0"/>
              </a:spcAft>
              <a:buClr>
                <a:srgbClr val="00007A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0360" lvl="2" marL="1371600" marR="0" rtl="0" algn="l">
              <a:spcBef>
                <a:spcPts val="640"/>
              </a:spcBef>
              <a:spcAft>
                <a:spcPts val="0"/>
              </a:spcAft>
              <a:buClr>
                <a:srgbClr val="A50021"/>
              </a:buClr>
              <a:buSzPts val="17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2"/>
          <p:cNvSpPr txBox="1"/>
          <p:nvPr/>
        </p:nvSpPr>
        <p:spPr>
          <a:xfrm>
            <a:off x="7848600" y="65071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/22</a:t>
            </a:r>
            <a:endParaRPr/>
          </a:p>
        </p:txBody>
      </p:sp>
      <p:sp>
        <p:nvSpPr>
          <p:cNvPr id="10" name="Google Shape;10;p22"/>
          <p:cNvSpPr txBox="1"/>
          <p:nvPr/>
        </p:nvSpPr>
        <p:spPr>
          <a:xfrm>
            <a:off x="533400" y="6507163"/>
            <a:ext cx="3429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Assembler Tutorial, www.nand2tetris.org</a:t>
            </a:r>
            <a:endParaRPr/>
          </a:p>
        </p:txBody>
      </p:sp>
      <p:cxnSp>
        <p:nvCxnSpPr>
          <p:cNvPr id="11" name="Google Shape;11;p22"/>
          <p:cNvCxnSpPr/>
          <p:nvPr/>
        </p:nvCxnSpPr>
        <p:spPr>
          <a:xfrm>
            <a:off x="533400" y="6477000"/>
            <a:ext cx="8077200" cy="0"/>
          </a:xfrm>
          <a:prstGeom prst="straightConnector1">
            <a:avLst/>
          </a:prstGeom>
          <a:noFill/>
          <a:ln cap="flat" cmpd="sng" w="9525">
            <a:solidFill>
              <a:srgbClr val="B058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2"/>
          <p:cNvSpPr txBox="1"/>
          <p:nvPr/>
        </p:nvSpPr>
        <p:spPr>
          <a:xfrm>
            <a:off x="4267200" y="6507163"/>
            <a:ext cx="1295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action="ppaction://hlinksldjump" r:id="rId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 Index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hyperlink" Target="http://www.nand2tetris.org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5.xml"/><Relationship Id="rId4" Type="http://schemas.openxmlformats.org/officeDocument/2006/relationships/slide" Target="/ppt/slides/slide8.xml"/><Relationship Id="rId5" Type="http://schemas.openxmlformats.org/officeDocument/2006/relationships/slide" Target="/ppt/slides/slide1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My Document\My Pictures\OPENOAM.jpg" id="53" name="Google Shape;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1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1371600" y="2220913"/>
            <a:ext cx="6400800" cy="3148554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0" wrap="square" tIns="0">
            <a:spAutoFit/>
          </a:bodyPr>
          <a:lstStyle/>
          <a:p>
            <a:pPr indent="-508000" lvl="0" marL="508000" rtl="0" algn="ctr"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sz="1600"/>
              <a:t>This program is part of the software suite</a:t>
            </a:r>
            <a:endParaRPr/>
          </a:p>
          <a:p>
            <a:pPr indent="-508000" lvl="0" marL="508000" rtl="0" algn="ctr"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sz="1600"/>
              <a:t>that accompanies the book</a:t>
            </a:r>
            <a:endParaRPr/>
          </a:p>
          <a:p>
            <a:pPr indent="-508000" lvl="0" marL="508000" rtl="0" algn="ctr"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rPr b="1" i="1" lang="en-US" sz="2000">
                <a:solidFill>
                  <a:srgbClr val="00007A"/>
                </a:solidFill>
              </a:rPr>
              <a:t>The Elements of Computing Systems</a:t>
            </a:r>
            <a:endParaRPr b="1" sz="2000">
              <a:solidFill>
                <a:srgbClr val="00007A"/>
              </a:solidFill>
            </a:endParaRPr>
          </a:p>
          <a:p>
            <a:pPr indent="-508000" lvl="0" marL="508000" rtl="0" algn="ctr">
              <a:spcBef>
                <a:spcPts val="320"/>
              </a:spcBef>
              <a:spcAft>
                <a:spcPts val="0"/>
              </a:spcAft>
              <a:buSzPts val="1760"/>
              <a:buNone/>
            </a:pPr>
            <a:r>
              <a:rPr lang="en-US" sz="1600">
                <a:solidFill>
                  <a:srgbClr val="00007A"/>
                </a:solidFill>
              </a:rPr>
              <a:t>by Noam Nisan and Shimon Schocken</a:t>
            </a:r>
            <a:endParaRPr/>
          </a:p>
          <a:p>
            <a:pPr indent="-508000" lvl="0" marL="508000" rtl="0" algn="ctr">
              <a:spcBef>
                <a:spcPts val="960"/>
              </a:spcBef>
              <a:spcAft>
                <a:spcPts val="0"/>
              </a:spcAft>
              <a:buSzPts val="1760"/>
              <a:buNone/>
            </a:pPr>
            <a:r>
              <a:rPr lang="en-US" sz="1600"/>
              <a:t>MIT Press</a:t>
            </a:r>
            <a:endParaRPr/>
          </a:p>
          <a:p>
            <a:pPr indent="-508000" lvl="0" marL="508000" rtl="0" algn="ctr">
              <a:spcBef>
                <a:spcPts val="960"/>
              </a:spcBef>
              <a:spcAft>
                <a:spcPts val="0"/>
              </a:spcAft>
              <a:buSzPts val="1760"/>
              <a:buNone/>
            </a:pPr>
            <a:r>
              <a:rPr lang="en-US" sz="1600" u="sng">
                <a:solidFill>
                  <a:schemeClr val="hlink"/>
                </a:solidFill>
                <a:hlinkClick r:id="rId4"/>
              </a:rPr>
              <a:t>www.nand2tetris.org</a:t>
            </a:r>
            <a:endParaRPr sz="1600" u="sng"/>
          </a:p>
          <a:p>
            <a:pPr indent="-508000" lvl="0" marL="508000" rtl="0" algn="ctr">
              <a:spcBef>
                <a:spcPts val="960"/>
              </a:spcBef>
              <a:spcAft>
                <a:spcPts val="0"/>
              </a:spcAft>
              <a:buSzPts val="1760"/>
              <a:buNone/>
            </a:pPr>
            <a:r>
              <a:rPr lang="en-US" sz="1600"/>
              <a:t>Developed by students at the</a:t>
            </a:r>
            <a:endParaRPr/>
          </a:p>
          <a:p>
            <a:pPr indent="-508000" lvl="0" marL="508000" rtl="0" algn="ctr"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sz="1600"/>
              <a:t>Efi Arazi School of Computer Science at Reichman University</a:t>
            </a:r>
            <a:endParaRPr/>
          </a:p>
          <a:p>
            <a:pPr indent="-508000" lvl="0" marL="508000" rtl="0" algn="ctr">
              <a:spcBef>
                <a:spcPts val="960"/>
              </a:spcBef>
              <a:spcAft>
                <a:spcPts val="0"/>
              </a:spcAft>
              <a:buSzPts val="1760"/>
              <a:buNone/>
            </a:pPr>
            <a:r>
              <a:rPr lang="en-US" sz="1600"/>
              <a:t>Chief Software Architect: Yaron Ukrainitz</a:t>
            </a:r>
            <a:endParaRPr sz="1600"/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1485900" y="1524000"/>
            <a:ext cx="6172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7A"/>
                </a:solidFill>
                <a:latin typeface="Arimo"/>
                <a:ea typeface="Arimo"/>
                <a:cs typeface="Arimo"/>
                <a:sym typeface="Arimo"/>
              </a:rPr>
              <a:t>Assembler Tutorial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</a:t>
            </a:r>
            <a:endParaRPr/>
          </a:p>
        </p:txBody>
      </p:sp>
      <p:pic>
        <p:nvPicPr>
          <p:cNvPr descr="C:\Documents and Settings\Administrator\Application Data\Microsoft\Media Catalog\Downloaded Clips\cl31\j0123413.wmf"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85800"/>
            <a:ext cx="7086600" cy="56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1981200" y="1116013"/>
            <a:ext cx="5257800" cy="4125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Elements of Computing Systems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evolves around the construction of a complete computer system, done in the framework of a 1- or 2-semester course.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the first part of the book/course, we build the hardware platform of a simple yet powerful computer, called Hack.  In the second part, we build the computer’s software hierarchy, consisting of an assembler, a virtual machine, a simple Java-like language called Jack, a compiler for it, and a mini operating system, written in Jack.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book/course is completely self-contained, requiring only programming as a pre-requisite.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book’s web site includes some 200 test programs, test scripts, and all the software 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tools necessary for doing all the projects.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31249" l="47656" r="27344" t="15625"/>
          <a:stretch/>
        </p:blipFill>
        <p:spPr>
          <a:xfrm>
            <a:off x="457200" y="914400"/>
            <a:ext cx="3300413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book’s software suite</a:t>
            </a:r>
            <a:endParaRPr/>
          </a:p>
        </p:txBody>
      </p:sp>
      <p:grpSp>
        <p:nvGrpSpPr>
          <p:cNvPr id="69" name="Google Shape;69;p3"/>
          <p:cNvGrpSpPr/>
          <p:nvPr/>
        </p:nvGrpSpPr>
        <p:grpSpPr>
          <a:xfrm>
            <a:off x="381000" y="1828800"/>
            <a:ext cx="3429000" cy="1724025"/>
            <a:chOff x="240" y="1122"/>
            <a:chExt cx="2160" cy="1086"/>
          </a:xfrm>
        </p:grpSpPr>
        <p:sp>
          <p:nvSpPr>
            <p:cNvPr id="70" name="Google Shape;70;p3"/>
            <p:cNvSpPr/>
            <p:nvPr/>
          </p:nvSpPr>
          <p:spPr>
            <a:xfrm>
              <a:off x="240" y="1920"/>
              <a:ext cx="2160" cy="288"/>
            </a:xfrm>
            <a:prstGeom prst="rect">
              <a:avLst/>
            </a:prstGeom>
            <a:noFill/>
            <a:ln cap="flat" cmpd="sng" w="25400">
              <a:solidFill>
                <a:srgbClr val="CC33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54000" spcFirstLastPara="1" rIns="54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816" y="1122"/>
              <a:ext cx="864" cy="510"/>
            </a:xfrm>
            <a:prstGeom prst="roundRect">
              <a:avLst>
                <a:gd fmla="val 16667" name="adj"/>
              </a:avLst>
            </a:prstGeom>
            <a:solidFill>
              <a:srgbClr val="FFDDC3"/>
            </a:solidFill>
            <a:ln cap="flat" cmpd="sng" w="19050">
              <a:solidFill>
                <a:srgbClr val="BD52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1400"/>
                <a:buFont typeface="Noto Sans Symbols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tutorial is about the</a:t>
              </a:r>
              <a:b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assembler</a:t>
              </a:r>
              <a:endParaRPr/>
            </a:p>
          </p:txBody>
        </p:sp>
        <p:cxnSp>
          <p:nvCxnSpPr>
            <p:cNvPr id="72" name="Google Shape;72;p3"/>
            <p:cNvCxnSpPr>
              <a:stCxn id="71" idx="2"/>
              <a:endCxn id="73" idx="2"/>
            </p:cNvCxnSpPr>
            <p:nvPr/>
          </p:nvCxnSpPr>
          <p:spPr>
            <a:xfrm>
              <a:off x="1248" y="1632"/>
              <a:ext cx="0" cy="300"/>
            </a:xfrm>
            <a:prstGeom prst="straightConnector1">
              <a:avLst/>
            </a:prstGeom>
            <a:noFill/>
            <a:ln cap="flat" cmpd="sng" w="19050">
              <a:solidFill>
                <a:srgbClr val="BD5201"/>
              </a:solidFill>
              <a:prstDash val="solid"/>
              <a:round/>
              <a:headEnd len="med" w="med" type="none"/>
              <a:tailEnd len="lg" w="lg" type="oval"/>
            </a:ln>
          </p:spPr>
        </p:cxnSp>
        <p:sp>
          <p:nvSpPr>
            <p:cNvPr id="73" name="Google Shape;73;p3"/>
            <p:cNvSpPr/>
            <p:nvPr/>
          </p:nvSpPr>
          <p:spPr>
            <a:xfrm>
              <a:off x="1152" y="1776"/>
              <a:ext cx="192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3"/>
          <p:cNvSpPr/>
          <p:nvPr/>
        </p:nvSpPr>
        <p:spPr>
          <a:xfrm>
            <a:off x="4114800" y="2971800"/>
            <a:ext cx="47244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/>
          <a:p>
            <a:pPr indent="-193675" lvl="0" marL="193675" marR="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200"/>
              <a:buFont typeface="Noto Sans Symbols"/>
              <a:buNone/>
            </a:pPr>
            <a:r>
              <a:rPr b="0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Translators </a:t>
            </a:r>
            <a:r>
              <a:rPr b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Assembler</a:t>
            </a:r>
            <a:r>
              <a:rPr b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JackCompiler</a:t>
            </a:r>
            <a:r>
              <a:rPr b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  <a:p>
            <a:pPr indent="-193675" lvl="0" marL="193675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Noto Sans Symbols"/>
              <a:buChar char="▪"/>
            </a:pP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translate from high-level to low-level;</a:t>
            </a:r>
            <a:endParaRPr/>
          </a:p>
          <a:p>
            <a:pPr indent="-193675" lvl="0" marL="193675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Noto Sans Symbols"/>
              <a:buChar char="▪"/>
            </a:pPr>
            <a:r>
              <a:rPr b="0" lang="en-US" sz="1600" u="none">
                <a:solidFill>
                  <a:srgbClr val="00007A"/>
                </a:solidFill>
                <a:latin typeface="Arial"/>
                <a:ea typeface="Arial"/>
                <a:cs typeface="Arial"/>
                <a:sym typeface="Arial"/>
              </a:rPr>
              <a:t>Developed by the students, using the book’s specs; Executable solutions supplied by us.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114800" y="4343400"/>
            <a:ext cx="4572000" cy="18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/>
          <a:p>
            <a:pPr indent="-193675" lvl="0" marL="193675" marR="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200"/>
              <a:buFont typeface="Noto Sans Symbols"/>
              <a:buNone/>
            </a:pPr>
            <a:r>
              <a:rPr b="0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 b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3675" lvl="0" marL="193675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1400"/>
              <a:buFont typeface="Noto Sans Symbols"/>
              <a:buChar char="▪"/>
            </a:pP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</a:t>
            </a: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simulators and translators software;</a:t>
            </a:r>
            <a:endParaRPr/>
          </a:p>
          <a:p>
            <a:pPr indent="-193675" lvl="0" marL="193675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1400"/>
              <a:buFont typeface="Noto Sans Symbols"/>
              <a:buChar char="▪"/>
            </a:pP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builtIn</a:t>
            </a: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executable versions of all the logic gates and chips mentioned in the book;</a:t>
            </a:r>
            <a:endParaRPr/>
          </a:p>
          <a:p>
            <a:pPr indent="-193675" lvl="0" marL="193675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1400"/>
              <a:buFont typeface="Noto Sans Symbols"/>
              <a:buChar char="▪"/>
            </a:pP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executable version of the Jack OS;</a:t>
            </a:r>
            <a:endParaRPr/>
          </a:p>
          <a:p>
            <a:pPr indent="-193675" lvl="0" marL="193675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1400"/>
              <a:buFont typeface="Noto Sans Symbols"/>
              <a:buChar char="▪"/>
            </a:pP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TextComparer</a:t>
            </a: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text comparison utility.</a:t>
            </a:r>
            <a:endParaRPr b="0" sz="1600" u="none">
              <a:solidFill>
                <a:srgbClr val="0000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267200" y="685800"/>
            <a:ext cx="4876800" cy="228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/>
          <a:p>
            <a:pPr indent="-246063" lvl="0" marL="246063" marR="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540"/>
              <a:buFont typeface="Noto Sans Symbols"/>
              <a:buNone/>
            </a:pPr>
            <a:r>
              <a:rPr b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(All the supplied tools are dual-platform:</a:t>
            </a: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Xxx.bat</a:t>
            </a:r>
            <a:r>
              <a:rPr b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starts</a:t>
            </a:r>
            <a:br>
              <a:rPr b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Xxx</a:t>
            </a:r>
            <a:r>
              <a:rPr b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Windows, and </a:t>
            </a: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Xxx.sh</a:t>
            </a:r>
            <a:r>
              <a:rPr b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starts it in Unix)</a:t>
            </a:r>
            <a:endParaRPr/>
          </a:p>
          <a:p>
            <a:pPr indent="-246063" lvl="0" marL="246063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2200"/>
              <a:buFont typeface="Noto Sans Symbols"/>
              <a:buNone/>
            </a:pPr>
            <a:r>
              <a:rPr b="0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Simulators</a:t>
            </a:r>
            <a:r>
              <a:rPr b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HardwareSimulator</a:t>
            </a: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CPUEmulator</a:t>
            </a: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VMEmulator</a:t>
            </a: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  <a:p>
            <a:pPr indent="-246063" lvl="0" marL="246063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Noto Sans Symbols"/>
              <a:buChar char="▪"/>
            </a:pP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build hardware platforms and</a:t>
            </a:r>
            <a:b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 programs;</a:t>
            </a:r>
            <a:endParaRPr/>
          </a:p>
          <a:p>
            <a:pPr indent="-246063" lvl="0" marL="246063" marR="0" rtl="0" algn="l">
              <a:spcBef>
                <a:spcPts val="80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Noto Sans Symbols"/>
              <a:buChar char="▪"/>
            </a:pPr>
            <a:r>
              <a:rPr b="0" lang="en-US" sz="1600" u="none">
                <a:solidFill>
                  <a:srgbClr val="00007A"/>
                </a:solidFill>
                <a:latin typeface="Arial"/>
                <a:ea typeface="Arial"/>
                <a:cs typeface="Arial"/>
                <a:sym typeface="Arial"/>
              </a:rPr>
              <a:t>Supplied by us.</a:t>
            </a:r>
            <a:endParaRPr/>
          </a:p>
        </p:txBody>
      </p:sp>
      <p:grpSp>
        <p:nvGrpSpPr>
          <p:cNvPr id="77" name="Google Shape;77;p3"/>
          <p:cNvGrpSpPr/>
          <p:nvPr/>
        </p:nvGrpSpPr>
        <p:grpSpPr>
          <a:xfrm>
            <a:off x="1905000" y="3505200"/>
            <a:ext cx="4191000" cy="1524000"/>
            <a:chOff x="1200" y="2208"/>
            <a:chExt cx="2640" cy="960"/>
          </a:xfrm>
        </p:grpSpPr>
        <p:sp>
          <p:nvSpPr>
            <p:cNvPr id="78" name="Google Shape;78;p3"/>
            <p:cNvSpPr/>
            <p:nvPr/>
          </p:nvSpPr>
          <p:spPr>
            <a:xfrm>
              <a:off x="2016" y="2448"/>
              <a:ext cx="1824" cy="720"/>
            </a:xfrm>
            <a:prstGeom prst="roundRect">
              <a:avLst>
                <a:gd fmla="val 16667" name="adj"/>
              </a:avLst>
            </a:prstGeom>
            <a:solidFill>
              <a:srgbClr val="FFDDC3"/>
            </a:solidFill>
            <a:ln cap="flat" cmpd="sng" w="19050">
              <a:solidFill>
                <a:srgbClr val="BD52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1540"/>
                <a:buFont typeface="Noto Sans Symbols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machine code generated by the assembler can be tested either in the hardware simulator or in the CPU emulator.</a:t>
              </a:r>
              <a:endParaRPr/>
            </a:p>
          </p:txBody>
        </p:sp>
        <p:cxnSp>
          <p:nvCxnSpPr>
            <p:cNvPr id="79" name="Google Shape;79;p3"/>
            <p:cNvCxnSpPr>
              <a:stCxn id="78" idx="1"/>
              <a:endCxn id="80" idx="2"/>
            </p:cNvCxnSpPr>
            <p:nvPr/>
          </p:nvCxnSpPr>
          <p:spPr>
            <a:xfrm rot="10800000">
              <a:off x="1416" y="2208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rgbClr val="BD5201"/>
              </a:solidFill>
              <a:prstDash val="solid"/>
              <a:round/>
              <a:headEnd len="med" w="med" type="none"/>
              <a:tailEnd len="lg" w="lg" type="oval"/>
            </a:ln>
          </p:spPr>
        </p:cxnSp>
        <p:sp>
          <p:nvSpPr>
            <p:cNvPr id="80" name="Google Shape;80;p3"/>
            <p:cNvSpPr/>
            <p:nvPr/>
          </p:nvSpPr>
          <p:spPr>
            <a:xfrm>
              <a:off x="1200" y="2208"/>
              <a:ext cx="192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" name="Google Shape;81;p3"/>
            <p:cNvCxnSpPr>
              <a:stCxn id="78" idx="1"/>
              <a:endCxn id="82" idx="2"/>
            </p:cNvCxnSpPr>
            <p:nvPr/>
          </p:nvCxnSpPr>
          <p:spPr>
            <a:xfrm rot="10800000">
              <a:off x="1416" y="2508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BD5201"/>
              </a:solidFill>
              <a:prstDash val="solid"/>
              <a:round/>
              <a:headEnd len="med" w="med" type="none"/>
              <a:tailEnd len="lg" w="lg" type="oval"/>
            </a:ln>
          </p:spPr>
        </p:cxnSp>
        <p:sp>
          <p:nvSpPr>
            <p:cNvPr id="82" name="Google Shape;82;p3"/>
            <p:cNvSpPr/>
            <p:nvPr/>
          </p:nvSpPr>
          <p:spPr>
            <a:xfrm>
              <a:off x="1392" y="2496"/>
              <a:ext cx="192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Assembler Tutorial</a:t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62000" y="1981200"/>
            <a:ext cx="4495800" cy="20574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I.  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Assembly program example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270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II. 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Command-level Assembler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270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III.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Interactive Assembler</a:t>
            </a:r>
            <a:endParaRPr sz="180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Assembler Tutorial</a:t>
            </a:r>
            <a:endParaRPr/>
          </a:p>
        </p:txBody>
      </p:sp>
      <p:pic>
        <p:nvPicPr>
          <p:cNvPr descr="G:\PPT Presentations\Pres Training\db Prepared Photos\monitor.jpg"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1362075"/>
            <a:ext cx="3962400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3048000" y="2209800"/>
            <a:ext cx="2743200" cy="157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2075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b="1" lang="en-US" sz="18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Part I:</a:t>
            </a:r>
            <a:endParaRPr/>
          </a:p>
          <a:p>
            <a:pPr indent="0" lvl="0" marL="92075" marR="0" rtl="0" algn="ctr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b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Assembly Programming</a:t>
            </a:r>
            <a:br>
              <a:rPr b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at a Glance</a:t>
            </a:r>
            <a:endParaRPr b="1" i="1" sz="1800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33400" y="762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7A"/>
                </a:solidFill>
                <a:latin typeface="Courier New"/>
                <a:ea typeface="Courier New"/>
                <a:cs typeface="Courier New"/>
                <a:sym typeface="Courier New"/>
              </a:rPr>
              <a:t>Sum.asm</a:t>
            </a:r>
            <a:endParaRPr/>
          </a:p>
        </p:txBody>
      </p:sp>
      <p:grpSp>
        <p:nvGrpSpPr>
          <p:cNvPr id="102" name="Google Shape;102;p6"/>
          <p:cNvGrpSpPr/>
          <p:nvPr/>
        </p:nvGrpSpPr>
        <p:grpSpPr>
          <a:xfrm>
            <a:off x="4648200" y="762000"/>
            <a:ext cx="4114800" cy="4419600"/>
            <a:chOff x="2880" y="528"/>
            <a:chExt cx="2592" cy="2784"/>
          </a:xfrm>
        </p:grpSpPr>
        <p:sp>
          <p:nvSpPr>
            <p:cNvPr id="103" name="Google Shape;103;p6"/>
            <p:cNvSpPr txBox="1"/>
            <p:nvPr/>
          </p:nvSpPr>
          <p:spPr>
            <a:xfrm>
              <a:off x="4128" y="720"/>
              <a:ext cx="1296" cy="2592"/>
            </a:xfrm>
            <a:prstGeom prst="rect">
              <a:avLst/>
            </a:prstGeom>
            <a:solidFill>
              <a:srgbClr val="F3F3FF"/>
            </a:solidFill>
            <a:ln cap="flat" cmpd="sng" w="9525">
              <a:solidFill>
                <a:srgbClr val="29397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89803">
                <a:srgbClr val="293973"/>
              </a:outerShdw>
            </a:effectLst>
          </p:spPr>
          <p:txBody>
            <a:bodyPr anchorCtr="0" anchor="t" bIns="190800" lIns="201600" spcFirstLastPara="1" rIns="93600" wrap="square" tIns="190800">
              <a:noAutofit/>
            </a:bodyPr>
            <a:lstStyle/>
            <a:p>
              <a:pPr indent="-342900" lvl="0" marL="342900" marR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0000000000010000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1110111111001000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0000000000010001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1110101010001000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0000000000010000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1111110000010000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0000000001100100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1110010011010000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0000000000010010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1110001100000001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0000000000010000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1111110000010000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0000000000010001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1111000010001000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0000000000010000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1111110111001000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0000000000000100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1110101010000111</a:t>
              </a:r>
              <a:endParaRPr/>
            </a:p>
            <a:p>
              <a:pPr indent="-342900" lvl="0" marL="342900" marR="0" rtl="0" algn="l">
                <a:lnSpc>
                  <a:spcPct val="5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4128" y="528"/>
              <a:ext cx="134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7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Sum.hack</a:t>
              </a: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2880" y="1680"/>
              <a:ext cx="1152" cy="720"/>
            </a:xfrm>
            <a:prstGeom prst="rightArrow">
              <a:avLst>
                <a:gd fmla="val 50000" name="adj1"/>
                <a:gd fmla="val 40000" name="adj2"/>
              </a:avLst>
            </a:prstGeom>
            <a:solidFill>
              <a:srgbClr val="FF99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Assembler</a:t>
              </a:r>
              <a:endParaRPr/>
            </a:p>
          </p:txBody>
        </p:sp>
      </p:grpSp>
      <p:sp>
        <p:nvSpPr>
          <p:cNvPr id="106" name="Google Shape;106;p6"/>
          <p:cNvSpPr txBox="1"/>
          <p:nvPr/>
        </p:nvSpPr>
        <p:spPr>
          <a:xfrm>
            <a:off x="457200" y="1066800"/>
            <a:ext cx="3962400" cy="5257800"/>
          </a:xfrm>
          <a:prstGeom prst="rect">
            <a:avLst/>
          </a:prstGeom>
          <a:solidFill>
            <a:srgbClr val="F3F3FF"/>
          </a:solidFill>
          <a:ln cap="flat" cmpd="sng" w="9525">
            <a:solidFill>
              <a:srgbClr val="29397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89803">
              <a:srgbClr val="293973"/>
            </a:outerShdw>
          </a:effectLst>
        </p:spPr>
        <p:txBody>
          <a:bodyPr anchorCtr="0" anchor="t" bIns="190800" lIns="201600" spcFirstLastPara="1" rIns="93600" wrap="square" tIns="190800">
            <a:noAutofit/>
          </a:bodyPr>
          <a:lstStyle/>
          <a:p>
            <a:pPr indent="-342900" lvl="0" marL="34290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Computes sum=1+...+100.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@i    // i=1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M=1 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@sum  // sum=0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M=0 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(LOOP)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@i    // if (i-100)=0 goto END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D=M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@100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D=D-A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@END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D;JGT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@i     // sum+=i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D=M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@sum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M=D+M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@i     // i++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M=M+1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@LOOP  // goto LOOP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0;JMP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(END)      // infinite loop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@END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0;JMP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4953000" y="274320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760"/>
              <a:buFont typeface="Noto Sans Symbols"/>
              <a:buNone/>
            </a:pPr>
            <a:r>
              <a:rPr lang="en-US" sz="16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assembly process: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6600"/>
              </a:buClr>
              <a:buSzPts val="176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Translates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Prog.asm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Prog.hack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6600"/>
              </a:buClr>
              <a:buSzPts val="176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Eliminates comments and white space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6600"/>
              </a:buClr>
              <a:buSzPts val="176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Allocates variables (e.g.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to memory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6600"/>
              </a:buClr>
              <a:buSzPts val="176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Translates each assembly command into a single 16-bit instruction written in the Hack machine language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6600"/>
              </a:buClr>
              <a:buSzPts val="176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Treats label declarations like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(LOOP)</a:t>
            </a: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(END)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pseudo commands that generate no code.</a:t>
            </a:r>
            <a:endParaRPr/>
          </a:p>
          <a:p>
            <a:pPr indent="-23114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6600"/>
              </a:buClr>
              <a:buSzPts val="176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876800" y="1143000"/>
            <a:ext cx="3886200" cy="16764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0" spcFirstLastPara="1" rIns="91425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Noto Sans Symbols"/>
              <a:buNone/>
            </a:pPr>
            <a:r>
              <a:rPr lang="en-US" sz="16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assembly program: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Stored in a text file named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Prog.asm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Written and edited in a text editor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33400" y="762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7A"/>
                </a:solidFill>
                <a:latin typeface="Courier New"/>
                <a:ea typeface="Courier New"/>
                <a:cs typeface="Courier New"/>
                <a:sym typeface="Courier New"/>
              </a:rPr>
              <a:t>Sum.asm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457200" y="1066800"/>
            <a:ext cx="3962400" cy="5257800"/>
          </a:xfrm>
          <a:prstGeom prst="rect">
            <a:avLst/>
          </a:prstGeom>
          <a:solidFill>
            <a:srgbClr val="F3F3FF"/>
          </a:solidFill>
          <a:ln cap="flat" cmpd="sng" w="9525">
            <a:solidFill>
              <a:srgbClr val="29397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89803">
              <a:srgbClr val="293973"/>
            </a:outerShdw>
          </a:effectLst>
        </p:spPr>
        <p:txBody>
          <a:bodyPr anchorCtr="0" anchor="t" bIns="190800" lIns="201600" spcFirstLastPara="1" rIns="93600" wrap="square" tIns="190800">
            <a:noAutofit/>
          </a:bodyPr>
          <a:lstStyle/>
          <a:p>
            <a:pPr indent="-342900" lvl="0" marL="34290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Computes sum=1+...+100.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@i    // i=1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M=1 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@sum  // sum=0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M=0 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(LOOP)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@i    // if (i-100)=0 goto END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D=M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@100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D=D-A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@END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D;JGT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@i     // sum+=i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D=M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@sum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M=D+M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@i     // i++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M=M+1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@LOOP  // goto LOOP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0;JMP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(END)      // infinite loop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@END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0;JMP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Assembler Tutorial</a:t>
            </a:r>
            <a:endParaRPr/>
          </a:p>
        </p:txBody>
      </p:sp>
      <p:pic>
        <p:nvPicPr>
          <p:cNvPr descr="G:\PPT Presentations\Pres Training\db Prepared Photos\monitor.jpg"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762000"/>
            <a:ext cx="4953000" cy="55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2819400" y="1600200"/>
            <a:ext cx="3581400" cy="261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2075" marR="0" rtl="0" algn="ctr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b="1" lang="en-US" sz="18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Part II:</a:t>
            </a:r>
            <a:endParaRPr/>
          </a:p>
          <a:p>
            <a:pPr indent="0" lvl="0" marL="92075" marR="0" rtl="0" algn="ctr">
              <a:spcBef>
                <a:spcPts val="108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b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Learn how to invoke the supplied assembler from </a:t>
            </a:r>
            <a:br>
              <a:rPr b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the OS shell level.</a:t>
            </a:r>
            <a:endParaRPr/>
          </a:p>
          <a:p>
            <a:pPr indent="0" lvl="0" marL="92075" marR="0" rtl="0" algn="ctr">
              <a:spcBef>
                <a:spcPts val="108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b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(the assembler that </a:t>
            </a:r>
            <a:r>
              <a:rPr b="1" i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b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 have to write in project 6 should have the same GUI and behavior)</a:t>
            </a:r>
            <a:endParaRPr b="1" i="1" sz="1800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9"/>
          <p:cNvPicPr preferRelativeResize="0"/>
          <p:nvPr/>
        </p:nvPicPr>
        <p:blipFill rotWithShape="1">
          <a:blip r:embed="rId3">
            <a:alphaModFix/>
          </a:blip>
          <a:srcRect b="26041" l="17188" r="17968" t="23958"/>
          <a:stretch/>
        </p:blipFill>
        <p:spPr>
          <a:xfrm>
            <a:off x="457200" y="914400"/>
            <a:ext cx="8229600" cy="47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command-level assembler</a:t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1676400" y="2362200"/>
            <a:ext cx="2057400" cy="1295400"/>
          </a:xfrm>
          <a:prstGeom prst="wedgeRoundRectCallout">
            <a:avLst>
              <a:gd fmla="val -1236" name="adj1"/>
              <a:gd fmla="val -92648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the assembly source code (contents of the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.asm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text file)</a:t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4114800" y="3886200"/>
            <a:ext cx="4038600" cy="1066800"/>
          </a:xfrm>
          <a:prstGeom prst="wedgeRoundRectCallout">
            <a:avLst>
              <a:gd fmla="val -15171" name="adj1"/>
              <a:gd fmla="val -47917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18800" lIns="91425" spcFirstLastPara="1" rIns="18000" wrap="square" tIns="118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illustrate how to use the assembler in the Windows command level (DOS); The Unix way is similar.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0"/>
          <p:cNvPicPr preferRelativeResize="0"/>
          <p:nvPr/>
        </p:nvPicPr>
        <p:blipFill rotWithShape="1">
          <a:blip r:embed="rId3">
            <a:alphaModFix/>
          </a:blip>
          <a:srcRect b="26041" l="17188" r="17968" t="23718"/>
          <a:stretch/>
        </p:blipFill>
        <p:spPr>
          <a:xfrm>
            <a:off x="457200" y="914400"/>
            <a:ext cx="82296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Inspecting the source file</a:t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172200" y="2514600"/>
            <a:ext cx="1066800" cy="990600"/>
          </a:xfrm>
          <a:prstGeom prst="wedgeRoundRectCallout">
            <a:avLst>
              <a:gd fmla="val -270833" name="adj1"/>
              <a:gd fmla="val 62019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code is shown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1"/>
          <p:cNvPicPr preferRelativeResize="0"/>
          <p:nvPr/>
        </p:nvPicPr>
        <p:blipFill rotWithShape="1">
          <a:blip r:embed="rId3">
            <a:alphaModFix/>
          </a:blip>
          <a:srcRect b="26041" l="17188" r="17968" t="23959"/>
          <a:stretch/>
        </p:blipFill>
        <p:spPr>
          <a:xfrm>
            <a:off x="457200" y="914400"/>
            <a:ext cx="8229600" cy="47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Invoking the Assembler</a:t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1600200" y="2667000"/>
            <a:ext cx="1295400" cy="990600"/>
          </a:xfrm>
          <a:prstGeom prst="wedgeRoundRectCallout">
            <a:avLst>
              <a:gd fmla="val 2449" name="adj1"/>
              <a:gd fmla="val -136056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Invoke the assembler program</a:t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3505200" y="2743200"/>
            <a:ext cx="2667000" cy="990600"/>
          </a:xfrm>
          <a:prstGeom prst="wedgeRoundRectCallout">
            <a:avLst>
              <a:gd fmla="val -45597" name="adj1"/>
              <a:gd fmla="val -139903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of the file to be translated (argument of the assembler program).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2"/>
          <p:cNvPicPr preferRelativeResize="0"/>
          <p:nvPr/>
        </p:nvPicPr>
        <p:blipFill rotWithShape="1">
          <a:blip r:embed="rId3">
            <a:alphaModFix/>
          </a:blip>
          <a:srcRect b="26041" l="17188" r="17968" t="23959"/>
          <a:stretch/>
        </p:blipFill>
        <p:spPr>
          <a:xfrm>
            <a:off x="457200" y="914400"/>
            <a:ext cx="8229600" cy="47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2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Invoking the Assembler</a:t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2438400" y="3124200"/>
            <a:ext cx="2362200" cy="685800"/>
          </a:xfrm>
          <a:prstGeom prst="wedgeRoundRectCallout">
            <a:avLst>
              <a:gd fmla="val -2083" name="adj1"/>
              <a:gd fmla="val -187731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4000" spcFirstLastPara="1" rIns="54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 the generated machine code</a:t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5181600" y="3352800"/>
            <a:ext cx="3657600" cy="2438400"/>
          </a:xfrm>
          <a:prstGeom prst="wedgeRoundRectCallout">
            <a:avLst>
              <a:gd fmla="val 176" name="adj1"/>
              <a:gd fmla="val -31903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5738" lvl="0" marL="1857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ways to test the generated machine code: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5738" lvl="0" marL="185738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Invoke the hardware simulator, load the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Computer.hdl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chip, then load the code (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.hack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file) into the internal ROM chip;</a:t>
            </a:r>
            <a:endParaRPr/>
          </a:p>
          <a:p>
            <a:pPr indent="-185738" lvl="0" marL="185738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Load and run the code in the CPU emulator (much quicker).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>
            <p:ph type="title"/>
          </p:nvPr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Simulation Tutorial</a:t>
            </a:r>
            <a:endParaRPr/>
          </a:p>
        </p:txBody>
      </p:sp>
      <p:pic>
        <p:nvPicPr>
          <p:cNvPr descr="G:\PPT Presentations\Pres Training\db Prepared Photos\monitor.jpg" id="159" name="Google Shape;1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504950"/>
            <a:ext cx="358140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/>
          <p:nvPr/>
        </p:nvSpPr>
        <p:spPr>
          <a:xfrm>
            <a:off x="3200400" y="2133600"/>
            <a:ext cx="2438400" cy="1522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2075" marR="0" rtl="0" algn="ctr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b="1" lang="en-US" sz="18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Part III:</a:t>
            </a:r>
            <a:endParaRPr/>
          </a:p>
          <a:p>
            <a:pPr indent="0" lvl="0" marL="92075" marR="0" rtl="0" algn="ctr">
              <a:lnSpc>
                <a:spcPct val="120000"/>
              </a:lnSpc>
              <a:spcBef>
                <a:spcPts val="1080"/>
              </a:spcBef>
              <a:spcAft>
                <a:spcPts val="0"/>
              </a:spcAft>
              <a:buClr>
                <a:srgbClr val="006600"/>
              </a:buClr>
              <a:buSzPts val="1980"/>
              <a:buFont typeface="Noto Sans Symbols"/>
              <a:buNone/>
            </a:pPr>
            <a:r>
              <a:rPr b="1" lang="en-US" sz="18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Learn how to use the interactive Assembler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4"/>
          <p:cNvPicPr preferRelativeResize="0"/>
          <p:nvPr/>
        </p:nvPicPr>
        <p:blipFill rotWithShape="1">
          <a:blip r:embed="rId3">
            <a:alphaModFix/>
          </a:blip>
          <a:srcRect b="4167" l="0" r="0" t="0"/>
          <a:stretch/>
        </p:blipFill>
        <p:spPr>
          <a:xfrm>
            <a:off x="457200" y="685800"/>
            <a:ext cx="822960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/>
          <p:nvPr/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Loading an assembly program</a:t>
            </a:r>
            <a:endParaRPr/>
          </a:p>
        </p:txBody>
      </p:sp>
      <p:sp>
        <p:nvSpPr>
          <p:cNvPr id="167" name="Google Shape;167;p14"/>
          <p:cNvSpPr/>
          <p:nvPr/>
        </p:nvSpPr>
        <p:spPr>
          <a:xfrm>
            <a:off x="1524000" y="5181600"/>
            <a:ext cx="2286000" cy="914400"/>
          </a:xfrm>
          <a:prstGeom prst="wedgeRoundRectCallout">
            <a:avLst>
              <a:gd fmla="val 74583" name="adj1"/>
              <a:gd fmla="val -212153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Navigate to a directory and select an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.asm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file.</a:t>
            </a: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6553200" y="4343400"/>
            <a:ext cx="1524000" cy="533400"/>
          </a:xfrm>
          <a:prstGeom prst="ellipse">
            <a:avLst/>
          </a:prstGeom>
          <a:noFill/>
          <a:ln cap="flat" cmpd="sng" w="381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304800" y="914400"/>
            <a:ext cx="762000" cy="685800"/>
          </a:xfrm>
          <a:prstGeom prst="ellipse">
            <a:avLst/>
          </a:prstGeom>
          <a:noFill/>
          <a:ln cap="flat" cmpd="sng" w="381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4167" l="0" r="0" t="0"/>
          <a:stretch/>
        </p:blipFill>
        <p:spPr>
          <a:xfrm>
            <a:off x="457200" y="685800"/>
            <a:ext cx="822960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5"/>
          <p:cNvSpPr/>
          <p:nvPr/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Loading an assembly program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4191000" y="4343400"/>
            <a:ext cx="2743200" cy="1143000"/>
          </a:xfrm>
          <a:prstGeom prst="wedgeRoundRectCallout">
            <a:avLst>
              <a:gd fmla="val -129343" name="adj1"/>
              <a:gd fmla="val -49167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5738" lvl="0" marL="185738" marR="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400"/>
              <a:buFont typeface="Noto Sans Symbols"/>
              <a:buChar char="▪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Read-only view of the assembly source code</a:t>
            </a:r>
            <a:endParaRPr/>
          </a:p>
          <a:p>
            <a:pPr indent="-185738" lvl="0" marL="185738" marR="0" rtl="0" algn="l">
              <a:spcBef>
                <a:spcPts val="350"/>
              </a:spcBef>
              <a:spcAft>
                <a:spcPts val="0"/>
              </a:spcAft>
              <a:buClr>
                <a:srgbClr val="006600"/>
              </a:buClr>
              <a:buSzPts val="1400"/>
              <a:buFont typeface="Noto Sans Symbols"/>
              <a:buChar char="▪"/>
            </a:pPr>
            <a:r>
              <a:rPr lang="en-US" sz="14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To edit it, use an external text editor.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6"/>
          <p:cNvPicPr preferRelativeResize="0"/>
          <p:nvPr/>
        </p:nvPicPr>
        <p:blipFill rotWithShape="1">
          <a:blip r:embed="rId3">
            <a:alphaModFix/>
          </a:blip>
          <a:srcRect b="4167" l="0" r="0" t="0"/>
          <a:stretch/>
        </p:blipFill>
        <p:spPr>
          <a:xfrm>
            <a:off x="457200" y="685800"/>
            <a:ext cx="822960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/>
          <p:nvPr/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Translating a program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1066800" y="5410200"/>
            <a:ext cx="1219200" cy="685800"/>
          </a:xfrm>
          <a:prstGeom prst="wedgeRoundRectCallout">
            <a:avLst>
              <a:gd fmla="val -21745" name="adj1"/>
              <a:gd fmla="val -634028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Translate line-by-line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1752600" y="4572000"/>
            <a:ext cx="1447800" cy="685800"/>
          </a:xfrm>
          <a:prstGeom prst="wedgeRoundRectCallout">
            <a:avLst>
              <a:gd fmla="val -51208" name="adj1"/>
              <a:gd fmla="val -513889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Translate the entire program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2514600" y="3657600"/>
            <a:ext cx="1143000" cy="685800"/>
          </a:xfrm>
          <a:prstGeom prst="wedgeRoundRectCallout">
            <a:avLst>
              <a:gd fmla="val -89028" name="adj1"/>
              <a:gd fmla="val -378241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Pause the translation</a:t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3048000" y="2819400"/>
            <a:ext cx="1371600" cy="609600"/>
          </a:xfrm>
          <a:prstGeom prst="wedgeRoundRectCallout">
            <a:avLst>
              <a:gd fmla="val -92361" name="adj1"/>
              <a:gd fmla="val -269273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from the beginning</a:t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4495800" y="1524000"/>
            <a:ext cx="1447800" cy="838200"/>
          </a:xfrm>
          <a:prstGeom prst="wedgeRoundRectCallout">
            <a:avLst>
              <a:gd fmla="val -155921" name="adj1"/>
              <a:gd fmla="val -60417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translation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 animation)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7"/>
          <p:cNvPicPr preferRelativeResize="0"/>
          <p:nvPr/>
        </p:nvPicPr>
        <p:blipFill rotWithShape="1">
          <a:blip r:embed="rId3">
            <a:alphaModFix/>
          </a:blip>
          <a:srcRect b="4167" l="0" r="0" t="0"/>
          <a:stretch/>
        </p:blipFill>
        <p:spPr>
          <a:xfrm>
            <a:off x="457200" y="685800"/>
            <a:ext cx="8229600" cy="579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7"/>
          <p:cNvGrpSpPr/>
          <p:nvPr/>
        </p:nvGrpSpPr>
        <p:grpSpPr>
          <a:xfrm>
            <a:off x="1524000" y="3886200"/>
            <a:ext cx="1371600" cy="2333625"/>
            <a:chOff x="960" y="2448"/>
            <a:chExt cx="864" cy="1470"/>
          </a:xfrm>
        </p:grpSpPr>
        <p:sp>
          <p:nvSpPr>
            <p:cNvPr id="194" name="Google Shape;194;p17"/>
            <p:cNvSpPr/>
            <p:nvPr/>
          </p:nvSpPr>
          <p:spPr>
            <a:xfrm>
              <a:off x="960" y="3408"/>
              <a:ext cx="864" cy="510"/>
            </a:xfrm>
            <a:prstGeom prst="roundRect">
              <a:avLst>
                <a:gd fmla="val 16667" name="adj"/>
              </a:avLst>
            </a:prstGeom>
            <a:solidFill>
              <a:srgbClr val="FFDDC3"/>
            </a:solidFill>
            <a:ln cap="flat" cmpd="sng" w="19050">
              <a:solidFill>
                <a:srgbClr val="BD52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1. Click an assembly command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" name="Google Shape;195;p17"/>
            <p:cNvCxnSpPr>
              <a:stCxn id="194" idx="0"/>
              <a:endCxn id="196" idx="2"/>
            </p:cNvCxnSpPr>
            <p:nvPr/>
          </p:nvCxnSpPr>
          <p:spPr>
            <a:xfrm rot="10800000">
              <a:off x="1392" y="2508"/>
              <a:ext cx="0" cy="900"/>
            </a:xfrm>
            <a:prstGeom prst="straightConnector1">
              <a:avLst/>
            </a:prstGeom>
            <a:noFill/>
            <a:ln cap="flat" cmpd="sng" w="19050">
              <a:solidFill>
                <a:srgbClr val="BD5201"/>
              </a:solidFill>
              <a:prstDash val="solid"/>
              <a:round/>
              <a:headEnd len="med" w="med" type="none"/>
              <a:tailEnd len="lg" w="lg" type="oval"/>
            </a:ln>
          </p:spPr>
        </p:cxnSp>
        <p:sp>
          <p:nvSpPr>
            <p:cNvPr id="196" name="Google Shape;196;p17"/>
            <p:cNvSpPr/>
            <p:nvPr/>
          </p:nvSpPr>
          <p:spPr>
            <a:xfrm>
              <a:off x="1296" y="2448"/>
              <a:ext cx="192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4064000" y="3625850"/>
            <a:ext cx="1727200" cy="2622550"/>
            <a:chOff x="2560" y="2284"/>
            <a:chExt cx="1088" cy="1652"/>
          </a:xfrm>
        </p:grpSpPr>
        <p:sp>
          <p:nvSpPr>
            <p:cNvPr id="198" name="Google Shape;198;p17"/>
            <p:cNvSpPr/>
            <p:nvPr/>
          </p:nvSpPr>
          <p:spPr>
            <a:xfrm>
              <a:off x="2560" y="3264"/>
              <a:ext cx="1088" cy="672"/>
            </a:xfrm>
            <a:prstGeom prst="roundRect">
              <a:avLst>
                <a:gd fmla="val 16667" name="adj"/>
              </a:avLst>
            </a:prstGeom>
            <a:solidFill>
              <a:srgbClr val="FFDDC3"/>
            </a:solidFill>
            <a:ln cap="flat" cmpd="sng" w="19050">
              <a:solidFill>
                <a:srgbClr val="BD52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2. The corresponding translated code is highlighted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9" name="Google Shape;199;p17"/>
            <p:cNvCxnSpPr>
              <a:stCxn id="198" idx="0"/>
              <a:endCxn id="200" idx="2"/>
            </p:cNvCxnSpPr>
            <p:nvPr/>
          </p:nvCxnSpPr>
          <p:spPr>
            <a:xfrm rot="10800000">
              <a:off x="3104" y="2364"/>
              <a:ext cx="0" cy="900"/>
            </a:xfrm>
            <a:prstGeom prst="straightConnector1">
              <a:avLst/>
            </a:prstGeom>
            <a:noFill/>
            <a:ln cap="flat" cmpd="sng" w="19050">
              <a:solidFill>
                <a:srgbClr val="BD5201"/>
              </a:solidFill>
              <a:prstDash val="solid"/>
              <a:round/>
              <a:headEnd len="med" w="med" type="none"/>
              <a:tailEnd len="lg" w="lg" type="oval"/>
            </a:ln>
          </p:spPr>
        </p:cxnSp>
        <p:sp>
          <p:nvSpPr>
            <p:cNvPr id="200" name="Google Shape;200;p17"/>
            <p:cNvSpPr/>
            <p:nvPr/>
          </p:nvSpPr>
          <p:spPr>
            <a:xfrm>
              <a:off x="3008" y="2284"/>
              <a:ext cx="192" cy="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17"/>
          <p:cNvSpPr/>
          <p:nvPr/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Inspecting the translation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8"/>
          <p:cNvPicPr preferRelativeResize="0"/>
          <p:nvPr/>
        </p:nvPicPr>
        <p:blipFill rotWithShape="1">
          <a:blip r:embed="rId3">
            <a:alphaModFix/>
          </a:blip>
          <a:srcRect b="4167" l="0" r="0" t="0"/>
          <a:stretch/>
        </p:blipFill>
        <p:spPr>
          <a:xfrm>
            <a:off x="457200" y="685800"/>
            <a:ext cx="822960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/>
          <p:nvPr/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Saving the translated code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1371600" y="1905000"/>
            <a:ext cx="1676400" cy="762000"/>
          </a:xfrm>
          <a:prstGeom prst="wedgeRoundRectCallout">
            <a:avLst>
              <a:gd fmla="val -61079" name="adj1"/>
              <a:gd fmla="val -108750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18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Saves the translated  code in a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.hack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file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5791200" y="2438400"/>
            <a:ext cx="2590800" cy="1600200"/>
          </a:xfrm>
          <a:prstGeom prst="wedgeRoundRectCallout">
            <a:avLst>
              <a:gd fmla="val -18995" name="adj1"/>
              <a:gd fmla="val 15375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5738" lvl="0" marL="185738" marR="0" rtl="0" algn="l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400"/>
              <a:buFont typeface="Noto Sans Symbols"/>
              <a:buChar char="▪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“save” operation is enabled only if the translation was error-free;</a:t>
            </a:r>
            <a:endParaRPr/>
          </a:p>
          <a:p>
            <a:pPr indent="-185738" lvl="0" marL="185738" marR="0" rtl="0" algn="l">
              <a:spcBef>
                <a:spcPts val="350"/>
              </a:spcBef>
              <a:spcAft>
                <a:spcPts val="0"/>
              </a:spcAft>
              <a:buClr>
                <a:srgbClr val="006600"/>
              </a:buClr>
              <a:buSzPts val="1400"/>
              <a:buFont typeface="Noto Sans Symbols"/>
              <a:buChar char="▪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Otherwise, the translation stops with an error message. </a:t>
            </a:r>
            <a:endParaRPr/>
          </a:p>
          <a:p>
            <a:pPr indent="-96838" lvl="0" marL="185738" marR="0" rtl="0" algn="l">
              <a:spcBef>
                <a:spcPts val="350"/>
              </a:spcBef>
              <a:spcAft>
                <a:spcPts val="0"/>
              </a:spcAft>
              <a:buClr>
                <a:srgbClr val="006600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9"/>
          <p:cNvPicPr preferRelativeResize="0"/>
          <p:nvPr/>
        </p:nvPicPr>
        <p:blipFill rotWithShape="1">
          <a:blip r:embed="rId3">
            <a:alphaModFix/>
          </a:blip>
          <a:srcRect b="4167" l="0" r="0" t="0"/>
          <a:stretch/>
        </p:blipFill>
        <p:spPr>
          <a:xfrm>
            <a:off x="457200" y="685800"/>
            <a:ext cx="822960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/>
          <p:nvPr/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Using Compare Files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4038600" y="990600"/>
            <a:ext cx="1295400" cy="609600"/>
          </a:xfrm>
          <a:prstGeom prst="wedgeRoundRectCallout">
            <a:avLst>
              <a:gd fmla="val -100000" name="adj1"/>
              <a:gd fmla="val -6509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18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Load a compare file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1524000" y="4876800"/>
            <a:ext cx="2286000" cy="762000"/>
          </a:xfrm>
          <a:prstGeom prst="wedgeRoundRectCallout">
            <a:avLst>
              <a:gd fmla="val 63056" name="adj1"/>
              <a:gd fmla="val -220000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Select a compare (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.hack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file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6019800" y="4267200"/>
            <a:ext cx="1752600" cy="609600"/>
          </a:xfrm>
          <a:prstGeom prst="ellipse">
            <a:avLst/>
          </a:prstGeom>
          <a:noFill/>
          <a:ln cap="flat" cmpd="sng" w="381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85800"/>
            <a:ext cx="822960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1600200" y="3276600"/>
            <a:ext cx="1828800" cy="1295400"/>
          </a:xfrm>
          <a:prstGeom prst="wedgeRoundRectCallout">
            <a:avLst>
              <a:gd fmla="val 17273" name="adj1"/>
              <a:gd fmla="val -175856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Translate the program (any translation mode can be used)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2590800" y="9906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Using Compare Files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2971800" y="5334000"/>
            <a:ext cx="1905000" cy="762000"/>
          </a:xfrm>
          <a:prstGeom prst="wedgeRoundRectCallout">
            <a:avLst>
              <a:gd fmla="val 115000" name="adj1"/>
              <a:gd fmla="val -136042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Compare file is shown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1"/>
          <p:cNvPicPr preferRelativeResize="0"/>
          <p:nvPr/>
        </p:nvPicPr>
        <p:blipFill rotWithShape="1">
          <a:blip r:embed="rId3">
            <a:alphaModFix/>
          </a:blip>
          <a:srcRect b="4167" l="0" r="0" t="0"/>
          <a:stretch/>
        </p:blipFill>
        <p:spPr>
          <a:xfrm>
            <a:off x="457200" y="685800"/>
            <a:ext cx="822960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/>
          <p:nvPr/>
        </p:nvSpPr>
        <p:spPr>
          <a:xfrm>
            <a:off x="3124200" y="4267200"/>
            <a:ext cx="2133600" cy="1447800"/>
          </a:xfrm>
          <a:prstGeom prst="wedgeRoundRectCallout">
            <a:avLst>
              <a:gd fmla="val -126639" name="adj1"/>
              <a:gd fmla="val 93204" name="adj2"/>
              <a:gd fmla="val 16667" name="adj3"/>
            </a:avLst>
          </a:prstGeom>
          <a:solidFill>
            <a:srgbClr val="FFFFC5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translation of the highlighted line does not match the corresponding line in the compare file.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457200" y="152400"/>
            <a:ext cx="83327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Using Compare Files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ed_valu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00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2002-09-27T17:30:27Z</dcterms:created>
  <dc:creator>Shimon Schocken</dc:creator>
</cp:coreProperties>
</file>
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slideshow.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86" r:id="rId2"/>
    <p:sldId id="387" r:id="rId3"/>
    <p:sldId id="379" r:id="rId4"/>
    <p:sldId id="269" r:id="rId5"/>
    <p:sldId id="369" r:id="rId6"/>
    <p:sldId id="331" r:id="rId7"/>
    <p:sldId id="360" r:id="rId8"/>
    <p:sldId id="322" r:id="rId9"/>
    <p:sldId id="366" r:id="rId10"/>
    <p:sldId id="326" r:id="rId11"/>
    <p:sldId id="323" r:id="rId12"/>
    <p:sldId id="324" r:id="rId13"/>
    <p:sldId id="356" r:id="rId14"/>
    <p:sldId id="361" r:id="rId15"/>
    <p:sldId id="325" r:id="rId16"/>
    <p:sldId id="327" r:id="rId17"/>
    <p:sldId id="384" r:id="rId18"/>
    <p:sldId id="385" r:id="rId19"/>
    <p:sldId id="362" r:id="rId20"/>
    <p:sldId id="310" r:id="rId21"/>
    <p:sldId id="339" r:id="rId22"/>
    <p:sldId id="341" r:id="rId23"/>
    <p:sldId id="365" r:id="rId24"/>
    <p:sldId id="332" r:id="rId25"/>
    <p:sldId id="346" r:id="rId26"/>
    <p:sldId id="363" r:id="rId27"/>
    <p:sldId id="367" r:id="rId28"/>
    <p:sldId id="347" r:id="rId29"/>
    <p:sldId id="358" r:id="rId30"/>
    <p:sldId id="316" r:id="rId31"/>
    <p:sldId id="313" r:id="rId32"/>
    <p:sldId id="353" r:id="rId33"/>
    <p:sldId id="355" r:id="rId34"/>
    <p:sldId id="314" r:id="rId35"/>
    <p:sldId id="364" r:id="rId36"/>
    <p:sldId id="318" r:id="rId37"/>
    <p:sldId id="370" r:id="rId38"/>
    <p:sldId id="372" r:id="rId39"/>
    <p:sldId id="373" r:id="rId40"/>
  </p:sldIdLst>
  <p:sldSz cx="9144000" cy="6858000" type="screen4x3"/>
  <p:notesSz cx="6858000" cy="9144000"/>
  <p:defaultTextStyle>
    <a:defPPr>
      <a:defRPr lang="he-IL"/>
    </a:defPPr>
    <a:lvl1pPr algn="l" rtl="0" fontAlgn="base">
      <a:spcBef>
        <a:spcPct val="0"/>
      </a:spcBef>
      <a:spcAft>
        <a:spcPct val="0"/>
      </a:spcAft>
      <a:defRPr sz="1600" b="1"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sz="1600" b="1"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sz="1600" b="1"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sz="1600" b="1"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sz="1600" b="1"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600" b="1"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sz="1600" b="1"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sz="1600" b="1"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sz="1600" b="1"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582" autoAdjust="0"/>
    <p:restoredTop sz="90938"/>
  </p:normalViewPr>
  <p:slideViewPr>
    <p:cSldViewPr>
      <p:cViewPr varScale="1">
        <p:scale>
          <a:sx n="95" d="100"/>
          <a:sy n="95" d="100"/>
        </p:scale>
        <p:origin x="2368" y="192"/>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_rels/viewProps.xml.rels><?xml version="1.0" encoding="UTF-8" standalone="yes"?>
<Relationships xmlns="http://schemas.openxmlformats.org/package/2006/relationships"><Relationship Id="rId8" Type="http://schemas.openxmlformats.org/officeDocument/2006/relationships/slide" Target="slides/slide13.xml"/><Relationship Id="rId13" Type="http://schemas.openxmlformats.org/officeDocument/2006/relationships/slide" Target="slides/slide24.xml"/><Relationship Id="rId3" Type="http://schemas.openxmlformats.org/officeDocument/2006/relationships/slide" Target="slides/slide8.xml"/><Relationship Id="rId7" Type="http://schemas.openxmlformats.org/officeDocument/2006/relationships/slide" Target="slides/slide12.xml"/><Relationship Id="rId12" Type="http://schemas.openxmlformats.org/officeDocument/2006/relationships/slide" Target="slides/slide18.xml"/><Relationship Id="rId2" Type="http://schemas.openxmlformats.org/officeDocument/2006/relationships/slide" Target="slides/slide3.xml"/><Relationship Id="rId16" Type="http://schemas.openxmlformats.org/officeDocument/2006/relationships/slide" Target="slides/slide37.xml"/><Relationship Id="rId1" Type="http://schemas.openxmlformats.org/officeDocument/2006/relationships/slide" Target="slides/slide1.xml"/><Relationship Id="rId6" Type="http://schemas.openxmlformats.org/officeDocument/2006/relationships/slide" Target="slides/slide11.xml"/><Relationship Id="rId11" Type="http://schemas.openxmlformats.org/officeDocument/2006/relationships/slide" Target="slides/slide17.xml"/><Relationship Id="rId5" Type="http://schemas.openxmlformats.org/officeDocument/2006/relationships/slide" Target="slides/slide10.xml"/><Relationship Id="rId15" Type="http://schemas.openxmlformats.org/officeDocument/2006/relationships/slide" Target="slides/slide29.xml"/><Relationship Id="rId10" Type="http://schemas.openxmlformats.org/officeDocument/2006/relationships/slide" Target="slides/slide16.xml"/><Relationship Id="rId4" Type="http://schemas.openxmlformats.org/officeDocument/2006/relationships/slide" Target="slides/slide9.xml"/><Relationship Id="rId9" Type="http://schemas.openxmlformats.org/officeDocument/2006/relationships/slide" Target="slides/slide15.xml"/><Relationship Id="rId14"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6B75A-47E6-BB46-B702-BCF481B86C1A}"/>
              </a:ext>
            </a:extLst>
          </p:cNvPr>
          <p:cNvSpPr>
            <a:spLocks noGrp="1"/>
          </p:cNvSpPr>
          <p:nvPr>
            <p:ph type="ctrTitle"/>
          </p:nvPr>
        </p:nvSpPr>
        <p:spPr>
          <a:xfrm>
            <a:off x="1143000" y="1122363"/>
            <a:ext cx="6858000" cy="2387600"/>
          </a:xfrm>
        </p:spPr>
        <p:txBody>
          <a:bodyPr/>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8277B5F-712F-9640-972E-B57ED0AFEA11}"/>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989859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B9BCA-63F3-944D-84DB-1CE4D1D585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92A311-6D28-2745-AF10-FA9E6FF0652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6408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578EA-23AF-3D46-BBAA-6BF8B706F39C}"/>
              </a:ext>
            </a:extLst>
          </p:cNvPr>
          <p:cNvSpPr>
            <a:spLocks noGrp="1"/>
          </p:cNvSpPr>
          <p:nvPr>
            <p:ph type="title"/>
          </p:nvPr>
        </p:nvSpPr>
        <p:spPr>
          <a:xfrm>
            <a:off x="623888" y="1709738"/>
            <a:ext cx="7886700" cy="2852737"/>
          </a:xfrm>
        </p:spPr>
        <p:txBody>
          <a:bodyPr/>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4CC41FA-4DBC-A04A-B10F-A7405E275A16}"/>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Tree>
    <p:extLst>
      <p:ext uri="{BB962C8B-B14F-4D97-AF65-F5344CB8AC3E}">
        <p14:creationId xmlns:p14="http://schemas.microsoft.com/office/powerpoint/2010/main" val="3942193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BF708-F600-FA4F-AA9F-9EA63C8629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D40BE1-2EB0-7D49-B10A-D8111F1CA046}"/>
              </a:ext>
            </a:extLst>
          </p:cNvPr>
          <p:cNvSpPr>
            <a:spLocks noGrp="1"/>
          </p:cNvSpPr>
          <p:nvPr>
            <p:ph sz="half" idx="1"/>
          </p:nvPr>
        </p:nvSpPr>
        <p:spPr>
          <a:xfrm>
            <a:off x="457200" y="762000"/>
            <a:ext cx="4089400" cy="5486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04CD14-A6A4-674C-9B53-E1E80B4CC115}"/>
              </a:ext>
            </a:extLst>
          </p:cNvPr>
          <p:cNvSpPr>
            <a:spLocks noGrp="1"/>
          </p:cNvSpPr>
          <p:nvPr>
            <p:ph sz="half" idx="2"/>
          </p:nvPr>
        </p:nvSpPr>
        <p:spPr>
          <a:xfrm>
            <a:off x="4699000" y="762000"/>
            <a:ext cx="4090988" cy="5486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259294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9F68F-970D-CB40-8172-110AD041A8A6}"/>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5ACDBD-AC3C-164B-9076-895CF5EDA5C7}"/>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638CAEC-8DDC-2743-BFB1-A051F84C0D45}"/>
              </a:ext>
            </a:extLst>
          </p:cNvPr>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FD5BFEA-28D0-594C-93FA-559946BBD3CC}"/>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4C16F61-5464-134A-93FF-CC6DFEA4824D}"/>
              </a:ext>
            </a:extLst>
          </p:cNvPr>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097182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F1042-6933-C547-B03B-0D7F9F45F95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85040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1031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A219C-510B-8A44-9A68-06F5C8C53476}"/>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DAD570-040B-0545-AAE2-C46F21944880}"/>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1ADDE6-1F5F-CD4D-BDE0-D2A5749EDBA8}"/>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2475056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0BA11-FFBF-C043-BF2B-BD0913B1601B}"/>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F7DF31B-5EEE-A746-985E-7B010BDDE3D8}"/>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40843E1-1387-D342-8AB1-AC2DBF9B5FE8}"/>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2010486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31855-F1F9-364C-96E1-83BA43E18FE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AB2AE49-9592-4F49-BD59-7787C34D0BE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21073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1AC24B-F5EA-C649-A127-8BFA4E82BFE1}"/>
              </a:ext>
            </a:extLst>
          </p:cNvPr>
          <p:cNvSpPr>
            <a:spLocks noGrp="1"/>
          </p:cNvSpPr>
          <p:nvPr>
            <p:ph type="title" orient="vert"/>
          </p:nvPr>
        </p:nvSpPr>
        <p:spPr>
          <a:xfrm>
            <a:off x="6707188" y="152400"/>
            <a:ext cx="2082800" cy="609600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FA9EAC-0452-274F-A80C-74E072622827}"/>
              </a:ext>
            </a:extLst>
          </p:cNvPr>
          <p:cNvSpPr>
            <a:spLocks noGrp="1"/>
          </p:cNvSpPr>
          <p:nvPr>
            <p:ph type="body" orient="vert" idx="1"/>
          </p:nvPr>
        </p:nvSpPr>
        <p:spPr>
          <a:xfrm>
            <a:off x="457200" y="152400"/>
            <a:ext cx="6097588" cy="60960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551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 Target="../slides/slide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1" name="Rectangle 17">
            <a:extLst>
              <a:ext uri="{FF2B5EF4-FFF2-40B4-BE49-F238E27FC236}">
                <a16:creationId xmlns:a16="http://schemas.microsoft.com/office/drawing/2014/main" id="{05CCE208-302A-074E-A642-CF5F6DAA2E2D}"/>
              </a:ext>
            </a:extLst>
          </p:cNvPr>
          <p:cNvSpPr>
            <a:spLocks noGrp="1" noChangeArrowheads="1"/>
          </p:cNvSpPr>
          <p:nvPr>
            <p:ph type="title"/>
          </p:nvPr>
        </p:nvSpPr>
        <p:spPr bwMode="auto">
          <a:xfrm>
            <a:off x="457200" y="152400"/>
            <a:ext cx="8332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b" anchorCtr="0" compatLnSpc="1">
            <a:prstTxWarp prst="textNoShape">
              <a:avLst/>
            </a:prstTxWarp>
          </a:bodyPr>
          <a:lstStyle/>
          <a:p>
            <a:pPr lvl="0"/>
            <a:r>
              <a:rPr lang="en-US" altLang="en-US"/>
              <a:t>Slide title</a:t>
            </a:r>
          </a:p>
        </p:txBody>
      </p:sp>
      <p:sp>
        <p:nvSpPr>
          <p:cNvPr id="1042" name="Line 18">
            <a:extLst>
              <a:ext uri="{FF2B5EF4-FFF2-40B4-BE49-F238E27FC236}">
                <a16:creationId xmlns:a16="http://schemas.microsoft.com/office/drawing/2014/main" id="{8869A355-22A3-B64F-A677-D9327A94F432}"/>
              </a:ext>
            </a:extLst>
          </p:cNvPr>
          <p:cNvSpPr>
            <a:spLocks noChangeShapeType="1"/>
          </p:cNvSpPr>
          <p:nvPr/>
        </p:nvSpPr>
        <p:spPr bwMode="auto">
          <a:xfrm>
            <a:off x="457200" y="609600"/>
            <a:ext cx="8180388" cy="0"/>
          </a:xfrm>
          <a:prstGeom prst="line">
            <a:avLst/>
          </a:prstGeom>
          <a:noFill/>
          <a:ln w="9525">
            <a:solidFill>
              <a:srgbClr val="B058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4" name="Rectangle 20">
            <a:extLst>
              <a:ext uri="{FF2B5EF4-FFF2-40B4-BE49-F238E27FC236}">
                <a16:creationId xmlns:a16="http://schemas.microsoft.com/office/drawing/2014/main" id="{F7701D26-5C47-5D47-8759-03EE104FB335}"/>
              </a:ext>
            </a:extLst>
          </p:cNvPr>
          <p:cNvSpPr>
            <a:spLocks noGrp="1" noChangeArrowheads="1"/>
          </p:cNvSpPr>
          <p:nvPr>
            <p:ph type="body" idx="1"/>
          </p:nvPr>
        </p:nvSpPr>
        <p:spPr bwMode="auto">
          <a:xfrm>
            <a:off x="457200" y="762000"/>
            <a:ext cx="8332788"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45720" numCol="1" anchor="t" anchorCtr="1" compatLnSpc="1">
            <a:prstTxWarp prst="textNoShape">
              <a:avLst/>
            </a:prstTxWarp>
          </a:bodyPr>
          <a:lstStyle/>
          <a:p>
            <a:pPr lvl="0"/>
            <a:r>
              <a:rPr lang="en-US" altLang="he-IL"/>
              <a:t>First level bullet</a:t>
            </a:r>
          </a:p>
          <a:p>
            <a:pPr lvl="1"/>
            <a:r>
              <a:rPr lang="en-US" altLang="he-IL"/>
              <a:t>Second level bullet</a:t>
            </a:r>
          </a:p>
          <a:p>
            <a:pPr lvl="2"/>
            <a:r>
              <a:rPr lang="en-US" altLang="he-IL"/>
              <a:t>Third level</a:t>
            </a:r>
          </a:p>
          <a:p>
            <a:pPr lvl="3"/>
            <a:r>
              <a:rPr lang="en-US" altLang="he-IL"/>
              <a:t>Fourth level</a:t>
            </a:r>
          </a:p>
          <a:p>
            <a:pPr lvl="4"/>
            <a:r>
              <a:rPr lang="en-US" altLang="he-IL"/>
              <a:t>Fifth level</a:t>
            </a:r>
            <a:endParaRPr lang="en-US" altLang="en-US"/>
          </a:p>
        </p:txBody>
      </p:sp>
      <p:sp>
        <p:nvSpPr>
          <p:cNvPr id="1045" name="Text Box 21">
            <a:extLst>
              <a:ext uri="{FF2B5EF4-FFF2-40B4-BE49-F238E27FC236}">
                <a16:creationId xmlns:a16="http://schemas.microsoft.com/office/drawing/2014/main" id="{00F0D0FA-B9CB-3042-BF08-B283B4E80241}"/>
              </a:ext>
            </a:extLst>
          </p:cNvPr>
          <p:cNvSpPr txBox="1">
            <a:spLocks noChangeArrowheads="1"/>
          </p:cNvSpPr>
          <p:nvPr/>
        </p:nvSpPr>
        <p:spPr bwMode="auto">
          <a:xfrm>
            <a:off x="7848600" y="6507163"/>
            <a:ext cx="11430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b">
            <a:spAutoFit/>
          </a:bodyPr>
          <a:lstStyle/>
          <a:p>
            <a:r>
              <a:rPr lang="en-US" altLang="en-US" sz="1200" b="0"/>
              <a:t>Slide </a:t>
            </a:r>
            <a:fld id="{E445CCC2-86D9-8440-865F-660AB8339FE5}" type="slidenum">
              <a:rPr lang="en-US" altLang="en-US" sz="1200" b="0"/>
              <a:pPr/>
              <a:t>‹#›</a:t>
            </a:fld>
            <a:r>
              <a:rPr lang="en-US" altLang="en-US" sz="1200" b="0"/>
              <a:t>/40</a:t>
            </a:r>
          </a:p>
        </p:txBody>
      </p:sp>
      <p:sp>
        <p:nvSpPr>
          <p:cNvPr id="1046" name="Text Box 22">
            <a:extLst>
              <a:ext uri="{FF2B5EF4-FFF2-40B4-BE49-F238E27FC236}">
                <a16:creationId xmlns:a16="http://schemas.microsoft.com/office/drawing/2014/main" id="{6D26050C-86B2-3C41-81AB-281C9AC464A8}"/>
              </a:ext>
            </a:extLst>
          </p:cNvPr>
          <p:cNvSpPr txBox="1">
            <a:spLocks noChangeArrowheads="1"/>
          </p:cNvSpPr>
          <p:nvPr/>
        </p:nvSpPr>
        <p:spPr bwMode="auto">
          <a:xfrm>
            <a:off x="533400" y="6507163"/>
            <a:ext cx="3505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b">
            <a:spAutoFit/>
          </a:bodyPr>
          <a:lstStyle/>
          <a:p>
            <a:r>
              <a:rPr lang="en-US" altLang="en-US" sz="1200" b="0" dirty="0"/>
              <a:t>CPU Emulator Tutorial, www.nand2tetris.org</a:t>
            </a:r>
          </a:p>
        </p:txBody>
      </p:sp>
      <p:sp>
        <p:nvSpPr>
          <p:cNvPr id="1048" name="Line 24">
            <a:extLst>
              <a:ext uri="{FF2B5EF4-FFF2-40B4-BE49-F238E27FC236}">
                <a16:creationId xmlns:a16="http://schemas.microsoft.com/office/drawing/2014/main" id="{48BC9159-5F15-0B4C-9124-905CF9C984DC}"/>
              </a:ext>
            </a:extLst>
          </p:cNvPr>
          <p:cNvSpPr>
            <a:spLocks noChangeShapeType="1"/>
          </p:cNvSpPr>
          <p:nvPr userDrawn="1"/>
        </p:nvSpPr>
        <p:spPr bwMode="auto">
          <a:xfrm>
            <a:off x="533400" y="6477000"/>
            <a:ext cx="8077200" cy="0"/>
          </a:xfrm>
          <a:prstGeom prst="line">
            <a:avLst/>
          </a:prstGeom>
          <a:noFill/>
          <a:ln w="9525">
            <a:solidFill>
              <a:srgbClr val="B058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1" name="Text Box 27">
            <a:extLst>
              <a:ext uri="{FF2B5EF4-FFF2-40B4-BE49-F238E27FC236}">
                <a16:creationId xmlns:a16="http://schemas.microsoft.com/office/drawing/2014/main" id="{86F091A7-6A28-BD40-9E57-EEE08E05E370}"/>
              </a:ext>
            </a:extLst>
          </p:cNvPr>
          <p:cNvSpPr txBox="1">
            <a:spLocks noChangeArrowheads="1"/>
          </p:cNvSpPr>
          <p:nvPr userDrawn="1"/>
        </p:nvSpPr>
        <p:spPr bwMode="auto">
          <a:xfrm>
            <a:off x="4267200" y="6507163"/>
            <a:ext cx="12954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b">
            <a:spAutoFit/>
          </a:bodyPr>
          <a:lstStyle/>
          <a:p>
            <a:r>
              <a:rPr lang="en-US" altLang="en-US" sz="1200" b="0">
                <a:hlinkClick r:id="rId13" action="ppaction://hlinksldjump"/>
              </a:rPr>
              <a:t>Tutorial Index</a:t>
            </a:r>
            <a:endParaRPr lang="en-US" altLang="en-US" sz="1200" b="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fontAlgn="base">
        <a:spcBef>
          <a:spcPct val="0"/>
        </a:spcBef>
        <a:spcAft>
          <a:spcPct val="0"/>
        </a:spcAft>
        <a:defRPr sz="2400" kern="1200">
          <a:solidFill>
            <a:schemeClr val="tx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cs typeface="Arial" panose="020B0604020202020204" pitchFamily="34" charset="0"/>
        </a:defRPr>
      </a:lvl2pPr>
      <a:lvl3pPr algn="l" rtl="0" fontAlgn="base">
        <a:spcBef>
          <a:spcPct val="0"/>
        </a:spcBef>
        <a:spcAft>
          <a:spcPct val="0"/>
        </a:spcAft>
        <a:defRPr sz="2400">
          <a:solidFill>
            <a:schemeClr val="tx2"/>
          </a:solidFill>
          <a:latin typeface="Arial" panose="020B0604020202020204" pitchFamily="34" charset="0"/>
          <a:cs typeface="Arial" panose="020B0604020202020204" pitchFamily="34" charset="0"/>
        </a:defRPr>
      </a:lvl3pPr>
      <a:lvl4pPr algn="l" rtl="0" fontAlgn="base">
        <a:spcBef>
          <a:spcPct val="0"/>
        </a:spcBef>
        <a:spcAft>
          <a:spcPct val="0"/>
        </a:spcAft>
        <a:defRPr sz="2400">
          <a:solidFill>
            <a:schemeClr val="tx2"/>
          </a:solidFill>
          <a:latin typeface="Arial" panose="020B0604020202020204" pitchFamily="34" charset="0"/>
          <a:cs typeface="Arial" panose="020B0604020202020204" pitchFamily="34" charset="0"/>
        </a:defRPr>
      </a:lvl4pPr>
      <a:lvl5pPr algn="l" rtl="0" fontAlgn="base">
        <a:spcBef>
          <a:spcPct val="0"/>
        </a:spcBef>
        <a:spcAft>
          <a:spcPct val="0"/>
        </a:spcAft>
        <a:defRPr sz="2400">
          <a:solidFill>
            <a:schemeClr val="tx2"/>
          </a:solidFill>
          <a:latin typeface="Arial" panose="020B0604020202020204" pitchFamily="34" charset="0"/>
          <a:cs typeface="Arial" panose="020B0604020202020204" pitchFamily="34" charset="0"/>
        </a:defRPr>
      </a:lvl5pPr>
      <a:lvl6pPr marL="457200" algn="l" rtl="0" fontAlgn="base">
        <a:spcBef>
          <a:spcPct val="0"/>
        </a:spcBef>
        <a:spcAft>
          <a:spcPct val="0"/>
        </a:spcAft>
        <a:defRPr sz="2400">
          <a:solidFill>
            <a:schemeClr val="tx2"/>
          </a:solidFill>
          <a:latin typeface="Arial" panose="020B0604020202020204" pitchFamily="34" charset="0"/>
          <a:cs typeface="Arial" panose="020B0604020202020204" pitchFamily="34" charset="0"/>
        </a:defRPr>
      </a:lvl6pPr>
      <a:lvl7pPr marL="914400" algn="l" rtl="0" fontAlgn="base">
        <a:spcBef>
          <a:spcPct val="0"/>
        </a:spcBef>
        <a:spcAft>
          <a:spcPct val="0"/>
        </a:spcAft>
        <a:defRPr sz="2400">
          <a:solidFill>
            <a:schemeClr val="tx2"/>
          </a:solidFill>
          <a:latin typeface="Arial" panose="020B0604020202020204" pitchFamily="34" charset="0"/>
          <a:cs typeface="Arial" panose="020B0604020202020204" pitchFamily="34" charset="0"/>
        </a:defRPr>
      </a:lvl7pPr>
      <a:lvl8pPr marL="1371600" algn="l" rtl="0" fontAlgn="base">
        <a:spcBef>
          <a:spcPct val="0"/>
        </a:spcBef>
        <a:spcAft>
          <a:spcPct val="0"/>
        </a:spcAft>
        <a:defRPr sz="2400">
          <a:solidFill>
            <a:schemeClr val="tx2"/>
          </a:solidFill>
          <a:latin typeface="Arial" panose="020B0604020202020204" pitchFamily="34" charset="0"/>
          <a:cs typeface="Arial" panose="020B0604020202020204" pitchFamily="34" charset="0"/>
        </a:defRPr>
      </a:lvl8pPr>
      <a:lvl9pPr marL="1828800" algn="l" rtl="0" fontAlgn="base">
        <a:spcBef>
          <a:spcPct val="0"/>
        </a:spcBef>
        <a:spcAft>
          <a:spcPct val="0"/>
        </a:spcAft>
        <a:defRPr sz="2400">
          <a:solidFill>
            <a:schemeClr val="tx2"/>
          </a:solidFill>
          <a:latin typeface="Arial" panose="020B0604020202020204" pitchFamily="34" charset="0"/>
          <a:cs typeface="Arial" panose="020B0604020202020204" pitchFamily="34" charset="0"/>
        </a:defRPr>
      </a:lvl9pPr>
    </p:titleStyle>
    <p:bodyStyle>
      <a:lvl1pPr marL="342900" indent="-342900" algn="l" rtl="0" fontAlgn="base">
        <a:spcBef>
          <a:spcPct val="40000"/>
        </a:spcBef>
        <a:spcAft>
          <a:spcPct val="0"/>
        </a:spcAft>
        <a:buClr>
          <a:srgbClr val="006600"/>
        </a:buClr>
        <a:buSzPct val="110000"/>
        <a:buFont typeface="Wingdings" pitchFamily="2" charset="2"/>
        <a:buChar char="§"/>
        <a:tabLst>
          <a:tab pos="0" algn="l"/>
        </a:tabLst>
        <a:defRPr sz="2000" kern="1200">
          <a:solidFill>
            <a:schemeClr val="tx1"/>
          </a:solidFill>
          <a:latin typeface="+mn-lt"/>
          <a:ea typeface="+mn-ea"/>
          <a:cs typeface="+mn-cs"/>
        </a:defRPr>
      </a:lvl1pPr>
      <a:lvl2pPr marL="742950" indent="-285750" algn="l" rtl="0" fontAlgn="base">
        <a:spcBef>
          <a:spcPct val="40000"/>
        </a:spcBef>
        <a:spcAft>
          <a:spcPct val="0"/>
        </a:spcAft>
        <a:buClr>
          <a:srgbClr val="00007A"/>
        </a:buClr>
        <a:buSzPct val="125000"/>
        <a:buChar char="•"/>
        <a:tabLst>
          <a:tab pos="0" algn="l"/>
        </a:tabLst>
        <a:defRPr kern="1200">
          <a:solidFill>
            <a:schemeClr val="tx1"/>
          </a:solidFill>
          <a:latin typeface="+mn-lt"/>
          <a:ea typeface="+mn-ea"/>
          <a:cs typeface="+mn-cs"/>
        </a:defRPr>
      </a:lvl2pPr>
      <a:lvl3pPr marL="1143000" indent="-228600" algn="l" rtl="0" fontAlgn="base">
        <a:spcBef>
          <a:spcPct val="40000"/>
        </a:spcBef>
        <a:spcAft>
          <a:spcPct val="0"/>
        </a:spcAft>
        <a:buClr>
          <a:srgbClr val="A50021"/>
        </a:buClr>
        <a:buSzPct val="110000"/>
        <a:buChar char="•"/>
        <a:tabLst>
          <a:tab pos="0" algn="l"/>
        </a:tabLst>
        <a:defRPr sz="1600" kern="1200">
          <a:solidFill>
            <a:schemeClr val="tx1"/>
          </a:solidFill>
          <a:latin typeface="+mn-lt"/>
          <a:ea typeface="+mn-ea"/>
          <a:cs typeface="+mn-cs"/>
        </a:defRPr>
      </a:lvl3pPr>
      <a:lvl4pPr marL="1600200" indent="-228600" algn="l" rtl="0" fontAlgn="base">
        <a:spcBef>
          <a:spcPct val="40000"/>
        </a:spcBef>
        <a:spcAft>
          <a:spcPct val="0"/>
        </a:spcAft>
        <a:buChar char="–"/>
        <a:tabLst>
          <a:tab pos="0" algn="l"/>
        </a:tabLst>
        <a:defRPr sz="1600" kern="1200">
          <a:solidFill>
            <a:schemeClr val="tx1"/>
          </a:solidFill>
          <a:latin typeface="+mn-lt"/>
          <a:ea typeface="+mn-ea"/>
          <a:cs typeface="+mn-cs"/>
        </a:defRPr>
      </a:lvl4pPr>
      <a:lvl5pPr marL="2057400" indent="-228600" algn="l" rtl="0" fontAlgn="base">
        <a:spcBef>
          <a:spcPct val="40000"/>
        </a:spcBef>
        <a:spcAft>
          <a:spcPct val="0"/>
        </a:spcAft>
        <a:buChar char="»"/>
        <a:tabLst>
          <a:tab pos="0" algn="l"/>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nand2tetris.org/"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emf"/><Relationship Id="rId1" Type="http://schemas.openxmlformats.org/officeDocument/2006/relationships/slideLayout" Target="../slideLayouts/slideLayout6.xml"/><Relationship Id="rId5" Type="http://schemas.openxmlformats.org/officeDocument/2006/relationships/image" Target="../media/image7.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7.xml"/><Relationship Id="rId1" Type="http://schemas.openxmlformats.org/officeDocument/2006/relationships/slideLayout" Target="../slideLayouts/slideLayout6.xml"/><Relationship Id="rId6" Type="http://schemas.openxmlformats.org/officeDocument/2006/relationships/slide" Target="slide35.xml"/><Relationship Id="rId5" Type="http://schemas.openxmlformats.org/officeDocument/2006/relationships/slide" Target="slide26.xml"/><Relationship Id="rId4" Type="http://schemas.openxmlformats.org/officeDocument/2006/relationships/slide" Target="slide19.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8178" name="Picture 1026" descr="D:\My Document\My Pictures\OPENOAM.jpg">
            <a:extLst>
              <a:ext uri="{FF2B5EF4-FFF2-40B4-BE49-F238E27FC236}">
                <a16:creationId xmlns:a16="http://schemas.microsoft.com/office/drawing/2014/main" id="{52049492-3DC6-6947-9862-6B5E801411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1650"/>
          </a:xfrm>
          <a:prstGeom prst="rect">
            <a:avLst/>
          </a:prstGeom>
          <a:noFill/>
          <a:extLst>
            <a:ext uri="{909E8E84-426E-40DD-AFC4-6F175D3DCCD1}">
              <a14:hiddenFill xmlns:a14="http://schemas.microsoft.com/office/drawing/2010/main">
                <a:solidFill>
                  <a:srgbClr val="FFFFFF"/>
                </a:solidFill>
              </a14:hiddenFill>
            </a:ext>
          </a:extLst>
        </p:spPr>
      </p:pic>
      <p:sp>
        <p:nvSpPr>
          <p:cNvPr id="178179" name="Rectangle 1027">
            <a:extLst>
              <a:ext uri="{FF2B5EF4-FFF2-40B4-BE49-F238E27FC236}">
                <a16:creationId xmlns:a16="http://schemas.microsoft.com/office/drawing/2014/main" id="{D4BEA669-E818-124E-8D11-E1FFE9EA7243}"/>
              </a:ext>
            </a:extLst>
          </p:cNvPr>
          <p:cNvSpPr>
            <a:spLocks noGrp="1" noChangeArrowheads="1"/>
          </p:cNvSpPr>
          <p:nvPr>
            <p:ph type="subTitle" idx="1"/>
          </p:nvPr>
        </p:nvSpPr>
        <p:spPr>
          <a:xfrm>
            <a:off x="1371600" y="2220913"/>
            <a:ext cx="6400800" cy="3122612"/>
          </a:xfrm>
          <a:noFill/>
          <a:ln/>
        </p:spPr>
        <p:txBody>
          <a:bodyPr rIns="0">
            <a:spAutoFit/>
          </a:bodyPr>
          <a:lstStyle/>
          <a:p>
            <a:pPr marL="508000" indent="-508000">
              <a:spcBef>
                <a:spcPct val="0"/>
              </a:spcBef>
            </a:pPr>
            <a:r>
              <a:rPr lang="en-US" altLang="en-US" sz="1600" dirty="0"/>
              <a:t>This program is part of the software suite</a:t>
            </a:r>
          </a:p>
          <a:p>
            <a:pPr marL="508000" indent="-508000">
              <a:spcBef>
                <a:spcPct val="0"/>
              </a:spcBef>
            </a:pPr>
            <a:r>
              <a:rPr lang="en-US" altLang="en-US" sz="1600" dirty="0"/>
              <a:t>that accompanies the book</a:t>
            </a:r>
          </a:p>
          <a:p>
            <a:pPr marL="508000" indent="-508000">
              <a:spcBef>
                <a:spcPct val="60000"/>
              </a:spcBef>
            </a:pPr>
            <a:r>
              <a:rPr lang="en-US" altLang="en-US" sz="2000" b="1" i="1" dirty="0">
                <a:solidFill>
                  <a:srgbClr val="00007A"/>
                </a:solidFill>
                <a:cs typeface="Arial" panose="020B0604020202020204" pitchFamily="34" charset="0"/>
              </a:rPr>
              <a:t>The Elements of Computing Systems</a:t>
            </a:r>
            <a:endParaRPr lang="en-US" altLang="en-US" sz="2000" b="1" dirty="0">
              <a:solidFill>
                <a:srgbClr val="00007A"/>
              </a:solidFill>
              <a:cs typeface="Arial" panose="020B0604020202020204" pitchFamily="34" charset="0"/>
            </a:endParaRPr>
          </a:p>
          <a:p>
            <a:pPr marL="508000" indent="-508000">
              <a:spcBef>
                <a:spcPct val="20000"/>
              </a:spcBef>
            </a:pPr>
            <a:r>
              <a:rPr lang="en-US" altLang="en-US" sz="1600" dirty="0">
                <a:solidFill>
                  <a:srgbClr val="00007A"/>
                </a:solidFill>
                <a:cs typeface="Arial" panose="020B0604020202020204" pitchFamily="34" charset="0"/>
              </a:rPr>
              <a:t>by Noam Nisan and Shimon Schocken</a:t>
            </a:r>
          </a:p>
          <a:p>
            <a:pPr marL="508000" indent="-508000">
              <a:spcBef>
                <a:spcPct val="60000"/>
              </a:spcBef>
            </a:pPr>
            <a:r>
              <a:rPr lang="en-US" altLang="en-US" sz="1600" dirty="0"/>
              <a:t>MIT Press</a:t>
            </a:r>
          </a:p>
          <a:p>
            <a:pPr marL="508000" indent="-508000">
              <a:spcBef>
                <a:spcPct val="60000"/>
              </a:spcBef>
            </a:pPr>
            <a:r>
              <a:rPr lang="en-US" altLang="en-US" sz="1600" u="sng" dirty="0">
                <a:hlinkClick r:id="rId3"/>
              </a:rPr>
              <a:t>www.nand2tetris.org</a:t>
            </a:r>
            <a:endParaRPr lang="en-US" altLang="en-US" sz="1600" u="sng" dirty="0"/>
          </a:p>
          <a:p>
            <a:pPr marL="508000" indent="-508000">
              <a:spcBef>
                <a:spcPct val="60000"/>
              </a:spcBef>
            </a:pPr>
            <a:r>
              <a:rPr lang="en-US" altLang="en-US" sz="1600" dirty="0"/>
              <a:t>Developed by students at the</a:t>
            </a:r>
          </a:p>
          <a:p>
            <a:pPr marL="508000" indent="-508000">
              <a:spcBef>
                <a:spcPct val="0"/>
              </a:spcBef>
            </a:pPr>
            <a:r>
              <a:rPr lang="en-US" altLang="en-US" sz="1600" dirty="0"/>
              <a:t>Efi Arazi School of Computer Science at Reichman University</a:t>
            </a:r>
          </a:p>
          <a:p>
            <a:pPr marL="508000" indent="-508000">
              <a:spcBef>
                <a:spcPct val="60000"/>
              </a:spcBef>
            </a:pPr>
            <a:r>
              <a:rPr lang="en-US" altLang="en-US" sz="1600" dirty="0"/>
              <a:t>Chief Software Architect: </a:t>
            </a:r>
            <a:r>
              <a:rPr lang="en-US" altLang="en-US" sz="1600" dirty="0" err="1"/>
              <a:t>Yaron</a:t>
            </a:r>
            <a:r>
              <a:rPr lang="en-US" altLang="en-US" sz="1600" dirty="0"/>
              <a:t> </a:t>
            </a:r>
            <a:r>
              <a:rPr lang="en-US" altLang="en-US" sz="1600" dirty="0" err="1"/>
              <a:t>Ukrainitz</a:t>
            </a:r>
            <a:endParaRPr lang="en-US" altLang="en-US" sz="1600" dirty="0"/>
          </a:p>
        </p:txBody>
      </p:sp>
      <p:sp>
        <p:nvSpPr>
          <p:cNvPr id="178180" name="Rectangle 1028">
            <a:extLst>
              <a:ext uri="{FF2B5EF4-FFF2-40B4-BE49-F238E27FC236}">
                <a16:creationId xmlns:a16="http://schemas.microsoft.com/office/drawing/2014/main" id="{CC9DF8F6-FBD4-5043-9EF0-7694FC0A0489}"/>
              </a:ext>
            </a:extLst>
          </p:cNvPr>
          <p:cNvSpPr>
            <a:spLocks noGrp="1" noChangeArrowheads="1"/>
          </p:cNvSpPr>
          <p:nvPr>
            <p:ph type="ctrTitle"/>
          </p:nvPr>
        </p:nvSpPr>
        <p:spPr>
          <a:xfrm>
            <a:off x="1485900" y="1524000"/>
            <a:ext cx="6172200" cy="533400"/>
          </a:xfrm>
          <a:noFill/>
          <a:ln/>
        </p:spPr>
        <p:txBody>
          <a:bodyPr anchor="t"/>
          <a:lstStyle/>
          <a:p>
            <a:r>
              <a:rPr lang="en-US" altLang="en-US" sz="2800">
                <a:solidFill>
                  <a:srgbClr val="00007A"/>
                </a:solidFill>
                <a:latin typeface="Arial Unicode MS" panose="020B0604020202020204" pitchFamily="34" charset="-128"/>
                <a:ea typeface="Arial Unicode MS" panose="020B0604020202020204" pitchFamily="34" charset="-128"/>
                <a:cs typeface="Arial Unicode MS" panose="020B0604020202020204" pitchFamily="34" charset="-128"/>
              </a:rPr>
              <a:t>CPU Emulator Tutorial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1026">
            <a:extLst>
              <a:ext uri="{FF2B5EF4-FFF2-40B4-BE49-F238E27FC236}">
                <a16:creationId xmlns:a16="http://schemas.microsoft.com/office/drawing/2014/main" id="{8E099752-2A4D-E548-8E1D-F4450DB8A383}"/>
              </a:ext>
            </a:extLst>
          </p:cNvPr>
          <p:cNvSpPr>
            <a:spLocks noGrp="1" noChangeArrowheads="1"/>
          </p:cNvSpPr>
          <p:nvPr>
            <p:ph type="title"/>
          </p:nvPr>
        </p:nvSpPr>
        <p:spPr/>
        <p:txBody>
          <a:bodyPr/>
          <a:lstStyle/>
          <a:p>
            <a:r>
              <a:rPr lang="en-US" altLang="en-US"/>
              <a:t>Background</a:t>
            </a:r>
          </a:p>
        </p:txBody>
      </p:sp>
      <p:pic>
        <p:nvPicPr>
          <p:cNvPr id="179203" name="Picture 1027" descr="C:\Documents and Settings\Administrator\Application Data\Microsoft\Media Catalog\Downloaded Clips\cl31\j0123413.wmf">
            <a:extLst>
              <a:ext uri="{FF2B5EF4-FFF2-40B4-BE49-F238E27FC236}">
                <a16:creationId xmlns:a16="http://schemas.microsoft.com/office/drawing/2014/main" id="{70EA22B0-1348-A048-B2D1-2603580C81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685800"/>
            <a:ext cx="7086600" cy="5638800"/>
          </a:xfrm>
          <a:prstGeom prst="rect">
            <a:avLst/>
          </a:prstGeom>
          <a:noFill/>
          <a:extLst>
            <a:ext uri="{909E8E84-426E-40DD-AFC4-6F175D3DCCD1}">
              <a14:hiddenFill xmlns:a14="http://schemas.microsoft.com/office/drawing/2010/main">
                <a:solidFill>
                  <a:srgbClr val="FFFFFF"/>
                </a:solidFill>
              </a14:hiddenFill>
            </a:ext>
          </a:extLst>
        </p:spPr>
      </p:pic>
      <p:sp>
        <p:nvSpPr>
          <p:cNvPr id="179204" name="Text Box 1028">
            <a:extLst>
              <a:ext uri="{FF2B5EF4-FFF2-40B4-BE49-F238E27FC236}">
                <a16:creationId xmlns:a16="http://schemas.microsoft.com/office/drawing/2014/main" id="{8D1999F1-A872-FB45-B571-CF90508ABACB}"/>
              </a:ext>
            </a:extLst>
          </p:cNvPr>
          <p:cNvSpPr txBox="1">
            <a:spLocks noChangeArrowheads="1"/>
          </p:cNvSpPr>
          <p:nvPr/>
        </p:nvSpPr>
        <p:spPr bwMode="auto">
          <a:xfrm>
            <a:off x="1981200" y="1116013"/>
            <a:ext cx="5257800" cy="4125912"/>
          </a:xfrm>
          <a:prstGeom prst="rect">
            <a:avLst/>
          </a:prstGeom>
          <a:noFill/>
          <a:ln>
            <a:noFill/>
          </a:ln>
          <a:effectLst/>
          <a:extLst>
            <a:ext uri="{909E8E84-426E-40DD-AFC4-6F175D3DCCD1}">
              <a14:hiddenFill xmlns:a14="http://schemas.microsoft.com/office/drawing/2010/main">
                <a:solidFill>
                  <a:srgbClr val="FFFFC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0" i="1">
                <a:latin typeface="Comic Sans MS" panose="030F0902030302020204" pitchFamily="66" charset="0"/>
              </a:rPr>
              <a:t>The Elements of Computing Systems</a:t>
            </a:r>
            <a:r>
              <a:rPr lang="en-US" altLang="en-US" b="0">
                <a:latin typeface="Comic Sans MS" panose="030F0902030302020204" pitchFamily="66" charset="0"/>
              </a:rPr>
              <a:t> evolves around the construction of a complete computer system, done in the framework of a 1- or 2-semester course.</a:t>
            </a:r>
          </a:p>
          <a:p>
            <a:pPr>
              <a:spcBef>
                <a:spcPct val="50000"/>
              </a:spcBef>
            </a:pPr>
            <a:r>
              <a:rPr lang="en-US" altLang="en-US" b="0">
                <a:latin typeface="Comic Sans MS" panose="030F0902030302020204" pitchFamily="66" charset="0"/>
              </a:rPr>
              <a:t>In the first part of the book/course, we build the hardware platform of a simple yet powerful computer, called Hack.  In the second part, we build the computer’s software hierarchy, consisting of an assembler, a virtual machine, a simple Java-like language called Jack, a compiler for it, and a mini operating system, written in Jack.</a:t>
            </a:r>
          </a:p>
          <a:p>
            <a:pPr>
              <a:spcBef>
                <a:spcPct val="50000"/>
              </a:spcBef>
            </a:pPr>
            <a:r>
              <a:rPr lang="en-US" altLang="en-US" b="0">
                <a:latin typeface="Comic Sans MS" panose="030F0902030302020204" pitchFamily="66" charset="0"/>
              </a:rPr>
              <a:t>The book/course is completely self-contained, requiring only programming as a pre-requisite.</a:t>
            </a:r>
          </a:p>
          <a:p>
            <a:pPr>
              <a:spcBef>
                <a:spcPct val="50000"/>
              </a:spcBef>
            </a:pPr>
            <a:r>
              <a:rPr lang="en-US" altLang="en-US" b="0">
                <a:latin typeface="Comic Sans MS" panose="030F0902030302020204" pitchFamily="66" charset="0"/>
              </a:rPr>
              <a:t>The book’s web site includes some 200 test programs, test scripts, and all the software </a:t>
            </a:r>
            <a:br>
              <a:rPr lang="en-US" altLang="en-US" b="0">
                <a:latin typeface="Comic Sans MS" panose="030F0902030302020204" pitchFamily="66" charset="0"/>
              </a:rPr>
            </a:br>
            <a:r>
              <a:rPr lang="en-US" altLang="en-US" b="0">
                <a:latin typeface="Comic Sans MS" panose="030F0902030302020204" pitchFamily="66" charset="0"/>
              </a:rPr>
              <a:t>tools necessary for doing all the projects.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9762" name="Picture 18">
            <a:extLst>
              <a:ext uri="{FF2B5EF4-FFF2-40B4-BE49-F238E27FC236}">
                <a16:creationId xmlns:a16="http://schemas.microsoft.com/office/drawing/2014/main" id="{F38D3A38-194C-934B-86C4-0D7ACB4C31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7656" t="15625" r="27344" b="31250"/>
          <a:stretch>
            <a:fillRect/>
          </a:stretch>
        </p:blipFill>
        <p:spPr bwMode="auto">
          <a:xfrm>
            <a:off x="457200" y="914400"/>
            <a:ext cx="3300413" cy="5257800"/>
          </a:xfrm>
          <a:prstGeom prst="rect">
            <a:avLst/>
          </a:prstGeom>
          <a:noFill/>
          <a:ln>
            <a:noFill/>
          </a:ln>
          <a:effectLst/>
          <a:extLst>
            <a:ext uri="{909E8E84-426E-40DD-AFC4-6F175D3DCCD1}">
              <a14:hiddenFill xmlns:a14="http://schemas.microsoft.com/office/drawing/2010/main">
                <a:solidFill>
                  <a:srgbClr val="C0C6E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9747" name="Rectangle 3">
            <a:extLst>
              <a:ext uri="{FF2B5EF4-FFF2-40B4-BE49-F238E27FC236}">
                <a16:creationId xmlns:a16="http://schemas.microsoft.com/office/drawing/2014/main" id="{D0AA068B-89BE-3345-ACD3-3DE7812152E2}"/>
              </a:ext>
            </a:extLst>
          </p:cNvPr>
          <p:cNvSpPr>
            <a:spLocks noGrp="1" noChangeArrowheads="1"/>
          </p:cNvSpPr>
          <p:nvPr>
            <p:ph type="title"/>
          </p:nvPr>
        </p:nvSpPr>
        <p:spPr/>
        <p:txBody>
          <a:bodyPr/>
          <a:lstStyle/>
          <a:p>
            <a:r>
              <a:rPr lang="en-US" altLang="en-US"/>
              <a:t>The book’s software suite</a:t>
            </a:r>
          </a:p>
        </p:txBody>
      </p:sp>
      <p:grpSp>
        <p:nvGrpSpPr>
          <p:cNvPr id="159755" name="Group 11">
            <a:extLst>
              <a:ext uri="{FF2B5EF4-FFF2-40B4-BE49-F238E27FC236}">
                <a16:creationId xmlns:a16="http://schemas.microsoft.com/office/drawing/2014/main" id="{0F6395B5-89CA-4646-9753-4ABFF464E621}"/>
              </a:ext>
            </a:extLst>
          </p:cNvPr>
          <p:cNvGrpSpPr>
            <a:grpSpLocks/>
          </p:cNvGrpSpPr>
          <p:nvPr/>
        </p:nvGrpSpPr>
        <p:grpSpPr bwMode="auto">
          <a:xfrm>
            <a:off x="381000" y="2057400"/>
            <a:ext cx="3429000" cy="1905000"/>
            <a:chOff x="240" y="1296"/>
            <a:chExt cx="2160" cy="1200"/>
          </a:xfrm>
        </p:grpSpPr>
        <p:sp>
          <p:nvSpPr>
            <p:cNvPr id="159753" name="Rectangle 9">
              <a:extLst>
                <a:ext uri="{FF2B5EF4-FFF2-40B4-BE49-F238E27FC236}">
                  <a16:creationId xmlns:a16="http://schemas.microsoft.com/office/drawing/2014/main" id="{69E821E2-80BC-0045-8E5F-679C0D5A58E4}"/>
                </a:ext>
              </a:extLst>
            </p:cNvPr>
            <p:cNvSpPr>
              <a:spLocks noChangeArrowheads="1"/>
            </p:cNvSpPr>
            <p:nvPr/>
          </p:nvSpPr>
          <p:spPr bwMode="auto">
            <a:xfrm>
              <a:off x="240" y="2208"/>
              <a:ext cx="2160" cy="288"/>
            </a:xfrm>
            <a:prstGeom prst="rect">
              <a:avLst/>
            </a:prstGeom>
            <a:noFill/>
            <a:ln w="25400">
              <a:solidFill>
                <a:srgbClr val="CC3300"/>
              </a:solidFill>
              <a:miter lim="800000"/>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rIns="54000" anchor="ctr"/>
            <a:lstStyle/>
            <a:p>
              <a:endParaRPr lang="en-US"/>
            </a:p>
          </p:txBody>
        </p:sp>
        <p:sp>
          <p:nvSpPr>
            <p:cNvPr id="159754" name="AutoShape 10">
              <a:extLst>
                <a:ext uri="{FF2B5EF4-FFF2-40B4-BE49-F238E27FC236}">
                  <a16:creationId xmlns:a16="http://schemas.microsoft.com/office/drawing/2014/main" id="{1B32C456-3D66-0844-97AD-DAD42F2B96EC}"/>
                </a:ext>
              </a:extLst>
            </p:cNvPr>
            <p:cNvSpPr>
              <a:spLocks noChangeArrowheads="1"/>
            </p:cNvSpPr>
            <p:nvPr/>
          </p:nvSpPr>
          <p:spPr bwMode="auto">
            <a:xfrm>
              <a:off x="1104" y="1296"/>
              <a:ext cx="1056" cy="576"/>
            </a:xfrm>
            <a:prstGeom prst="wedgeRoundRectCallout">
              <a:avLst>
                <a:gd name="adj1" fmla="val -7954"/>
                <a:gd name="adj2" fmla="val 125694"/>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a:lstStyle>
              <a:lvl1pPr marL="103188" indent="-6350" algn="r" rtl="1">
                <a:defRPr sz="2400">
                  <a:solidFill>
                    <a:schemeClr val="tx1"/>
                  </a:solidFill>
                  <a:latin typeface="Times New Roman" panose="02020603050405020304" pitchFamily="18" charset="0"/>
                  <a:cs typeface="Times New Roman (Hebrew)" panose="02020603050405020304" pitchFamily="18" charset="0"/>
                </a:defRPr>
              </a:lvl1pPr>
              <a:lvl2pPr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50000"/>
                </a:spcBef>
                <a:buClr>
                  <a:srgbClr val="006600"/>
                </a:buClr>
                <a:buFont typeface="Wingdings" pitchFamily="2" charset="2"/>
                <a:buNone/>
              </a:pPr>
              <a:r>
                <a:rPr lang="en-US" altLang="en-US" sz="1400" b="0">
                  <a:latin typeface="Arial" panose="020B0604020202020204" pitchFamily="34" charset="0"/>
                  <a:cs typeface="Arial" panose="020B0604020202020204" pitchFamily="34" charset="0"/>
                </a:rPr>
                <a:t>This tutorial is about the</a:t>
              </a:r>
              <a:br>
                <a:rPr lang="en-US" altLang="en-US" sz="1400" b="0">
                  <a:latin typeface="Arial" panose="020B0604020202020204" pitchFamily="34" charset="0"/>
                  <a:cs typeface="Arial" panose="020B0604020202020204" pitchFamily="34" charset="0"/>
                </a:rPr>
              </a:br>
              <a:r>
                <a:rPr lang="en-US" altLang="en-US" sz="1400">
                  <a:latin typeface="Arial" panose="020B0604020202020204" pitchFamily="34" charset="0"/>
                  <a:cs typeface="Arial" panose="020B0604020202020204" pitchFamily="34" charset="0"/>
                </a:rPr>
                <a:t>CPU emulator</a:t>
              </a:r>
              <a:r>
                <a:rPr lang="en-US" altLang="en-US" sz="1400" b="0">
                  <a:latin typeface="Arial" panose="020B0604020202020204" pitchFamily="34" charset="0"/>
                  <a:cs typeface="Arial" panose="020B0604020202020204" pitchFamily="34" charset="0"/>
                </a:rPr>
                <a:t>.</a:t>
              </a:r>
            </a:p>
          </p:txBody>
        </p:sp>
      </p:grpSp>
      <p:sp>
        <p:nvSpPr>
          <p:cNvPr id="159759" name="Rectangle 15">
            <a:extLst>
              <a:ext uri="{FF2B5EF4-FFF2-40B4-BE49-F238E27FC236}">
                <a16:creationId xmlns:a16="http://schemas.microsoft.com/office/drawing/2014/main" id="{44D299F6-C392-A94C-9413-0043E6A6AA71}"/>
              </a:ext>
            </a:extLst>
          </p:cNvPr>
          <p:cNvSpPr>
            <a:spLocks noChangeArrowheads="1"/>
          </p:cNvSpPr>
          <p:nvPr/>
        </p:nvSpPr>
        <p:spPr bwMode="auto">
          <a:xfrm>
            <a:off x="4114800" y="2971800"/>
            <a:ext cx="4724400" cy="1371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193675" indent="-193675" algn="r" rtl="1">
              <a:tabLst>
                <a:tab pos="0" algn="l"/>
              </a:tabLst>
              <a:defRPr sz="2400">
                <a:solidFill>
                  <a:schemeClr val="tx1"/>
                </a:solidFill>
                <a:latin typeface="Times New Roman" panose="02020603050405020304" pitchFamily="18" charset="0"/>
                <a:cs typeface="Times New Roman (Hebrew)" panose="02020603050405020304" pitchFamily="18" charset="0"/>
              </a:defRPr>
            </a:lvl1pPr>
            <a:lvl2pPr marL="766763" indent="-285750" algn="r" rtl="1">
              <a:tabLst>
                <a:tab pos="0" algn="l"/>
              </a:tabLst>
              <a:defRPr sz="2400">
                <a:solidFill>
                  <a:schemeClr val="tx1"/>
                </a:solidFill>
                <a:latin typeface="Times New Roman" panose="02020603050405020304" pitchFamily="18" charset="0"/>
                <a:cs typeface="Times New Roman (Hebrew)" panose="02020603050405020304" pitchFamily="18" charset="0"/>
              </a:defRPr>
            </a:lvl2pPr>
            <a:lvl3pPr marL="1185863"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3pPr>
            <a:lvl4pPr marL="1604963"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buClr>
                <a:srgbClr val="006600"/>
              </a:buClr>
              <a:buSzPct val="110000"/>
              <a:buFont typeface="Wingdings" pitchFamily="2" charset="2"/>
              <a:buNone/>
            </a:pPr>
            <a:r>
              <a:rPr lang="en-US" altLang="en-US" sz="2000" b="0" u="sng">
                <a:latin typeface="Arial" panose="020B0604020202020204" pitchFamily="34" charset="0"/>
              </a:rPr>
              <a:t>Translators </a:t>
            </a:r>
            <a:r>
              <a:rPr lang="en-US" altLang="en-US" sz="1800" b="0">
                <a:latin typeface="Arial" panose="020B0604020202020204" pitchFamily="34" charset="0"/>
                <a:cs typeface="Arial" panose="020B0604020202020204" pitchFamily="34" charset="0"/>
              </a:rPr>
              <a:t>(</a:t>
            </a:r>
            <a:r>
              <a:rPr lang="en-US" altLang="en-US" sz="1400">
                <a:latin typeface="Courier New" panose="02070309020205020404" pitchFamily="49" charset="0"/>
                <a:cs typeface="Courier New" panose="02070309020205020404" pitchFamily="49" charset="0"/>
              </a:rPr>
              <a:t>Assembler</a:t>
            </a:r>
            <a:r>
              <a:rPr lang="en-US" altLang="en-US" sz="1800" b="0">
                <a:latin typeface="Arial" panose="020B0604020202020204" pitchFamily="34" charset="0"/>
                <a:cs typeface="Arial" panose="020B0604020202020204" pitchFamily="34" charset="0"/>
              </a:rPr>
              <a:t>, </a:t>
            </a:r>
            <a:r>
              <a:rPr lang="en-US" altLang="en-US" sz="1400">
                <a:latin typeface="Courier New" panose="02070309020205020404" pitchFamily="49" charset="0"/>
                <a:cs typeface="Courier New" panose="02070309020205020404" pitchFamily="49" charset="0"/>
              </a:rPr>
              <a:t>JackCompiler</a:t>
            </a:r>
            <a:r>
              <a:rPr lang="en-US" altLang="en-US" sz="1800" b="0">
                <a:latin typeface="Arial" panose="020B0604020202020204" pitchFamily="34" charset="0"/>
                <a:cs typeface="Arial" panose="020B0604020202020204" pitchFamily="34" charset="0"/>
              </a:rPr>
              <a:t>):</a:t>
            </a:r>
          </a:p>
          <a:p>
            <a:pPr algn="l" rtl="0">
              <a:spcBef>
                <a:spcPct val="50000"/>
              </a:spcBef>
              <a:buClr>
                <a:srgbClr val="006600"/>
              </a:buClr>
              <a:buFont typeface="Wingdings" pitchFamily="2" charset="2"/>
              <a:buChar char="§"/>
            </a:pPr>
            <a:r>
              <a:rPr lang="en-US" altLang="en-US" sz="1600" b="0">
                <a:latin typeface="Arial" panose="020B0604020202020204" pitchFamily="34" charset="0"/>
                <a:cs typeface="Arial" panose="020B0604020202020204" pitchFamily="34" charset="0"/>
              </a:rPr>
              <a:t>Used to translate from high-level to low-level;</a:t>
            </a:r>
          </a:p>
          <a:p>
            <a:pPr algn="l" rtl="0">
              <a:spcBef>
                <a:spcPct val="50000"/>
              </a:spcBef>
              <a:buClr>
                <a:srgbClr val="006600"/>
              </a:buClr>
              <a:buFont typeface="Wingdings" pitchFamily="2" charset="2"/>
              <a:buChar char="§"/>
            </a:pPr>
            <a:r>
              <a:rPr lang="en-US" altLang="en-US" sz="1600" b="0">
                <a:solidFill>
                  <a:srgbClr val="00007A"/>
                </a:solidFill>
                <a:latin typeface="Arial" panose="020B0604020202020204" pitchFamily="34" charset="0"/>
                <a:cs typeface="Arial" panose="020B0604020202020204" pitchFamily="34" charset="0"/>
              </a:rPr>
              <a:t>Developed by the students, using the book’s specs; Executable solutions supplied by us.</a:t>
            </a:r>
          </a:p>
        </p:txBody>
      </p:sp>
      <p:sp>
        <p:nvSpPr>
          <p:cNvPr id="159760" name="Rectangle 16">
            <a:extLst>
              <a:ext uri="{FF2B5EF4-FFF2-40B4-BE49-F238E27FC236}">
                <a16:creationId xmlns:a16="http://schemas.microsoft.com/office/drawing/2014/main" id="{9FFA4975-F00A-C641-A800-3D02BEA545AE}"/>
              </a:ext>
            </a:extLst>
          </p:cNvPr>
          <p:cNvSpPr>
            <a:spLocks noChangeArrowheads="1"/>
          </p:cNvSpPr>
          <p:nvPr/>
        </p:nvSpPr>
        <p:spPr bwMode="auto">
          <a:xfrm>
            <a:off x="4114800" y="4343400"/>
            <a:ext cx="4572000" cy="1828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193675" indent="-193675" algn="r" rtl="1">
              <a:tabLst>
                <a:tab pos="0" algn="l"/>
              </a:tabLst>
              <a:defRPr sz="2400">
                <a:solidFill>
                  <a:schemeClr val="tx1"/>
                </a:solidFill>
                <a:latin typeface="Times New Roman" panose="02020603050405020304" pitchFamily="18" charset="0"/>
                <a:cs typeface="Times New Roman (Hebrew)" panose="02020603050405020304" pitchFamily="18" charset="0"/>
              </a:defRPr>
            </a:lvl1pPr>
            <a:lvl2pPr marL="766763" indent="-285750" algn="r" rtl="1">
              <a:tabLst>
                <a:tab pos="0" algn="l"/>
              </a:tabLst>
              <a:defRPr sz="2400">
                <a:solidFill>
                  <a:schemeClr val="tx1"/>
                </a:solidFill>
                <a:latin typeface="Times New Roman" panose="02020603050405020304" pitchFamily="18" charset="0"/>
                <a:cs typeface="Times New Roman (Hebrew)" panose="02020603050405020304" pitchFamily="18" charset="0"/>
              </a:defRPr>
            </a:lvl2pPr>
            <a:lvl3pPr marL="1185863"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3pPr>
            <a:lvl4pPr marL="1604963"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buClr>
                <a:srgbClr val="006600"/>
              </a:buClr>
              <a:buSzPct val="110000"/>
              <a:buFont typeface="Wingdings" pitchFamily="2" charset="2"/>
              <a:buNone/>
            </a:pPr>
            <a:r>
              <a:rPr lang="en-US" altLang="en-US" sz="2000" b="0" u="sng">
                <a:latin typeface="Arial" panose="020B0604020202020204" pitchFamily="34" charset="0"/>
              </a:rPr>
              <a:t>Other</a:t>
            </a:r>
            <a:endParaRPr lang="en-US" altLang="en-US" sz="1800" b="0">
              <a:latin typeface="Arial" panose="020B0604020202020204" pitchFamily="34" charset="0"/>
              <a:cs typeface="Arial" panose="020B0604020202020204" pitchFamily="34" charset="0"/>
            </a:endParaRPr>
          </a:p>
          <a:p>
            <a:pPr algn="l" rtl="0">
              <a:spcBef>
                <a:spcPct val="50000"/>
              </a:spcBef>
              <a:buClr>
                <a:srgbClr val="006600"/>
              </a:buClr>
              <a:buFont typeface="Wingdings" pitchFamily="2" charset="2"/>
              <a:buChar char="§"/>
            </a:pPr>
            <a:r>
              <a:rPr lang="en-US" altLang="en-US" sz="1400">
                <a:latin typeface="Courier New" panose="02070309020205020404" pitchFamily="49" charset="0"/>
                <a:cs typeface="Courier New" panose="02070309020205020404" pitchFamily="49" charset="0"/>
              </a:rPr>
              <a:t>Bin</a:t>
            </a:r>
            <a:r>
              <a:rPr lang="en-US" altLang="en-US" sz="1600" b="0">
                <a:latin typeface="Arial" panose="020B0604020202020204" pitchFamily="34" charset="0"/>
                <a:cs typeface="Arial" panose="020B0604020202020204" pitchFamily="34" charset="0"/>
              </a:rPr>
              <a:t>: simulators and translators software;</a:t>
            </a:r>
          </a:p>
          <a:p>
            <a:pPr algn="l" rtl="0">
              <a:spcBef>
                <a:spcPct val="50000"/>
              </a:spcBef>
              <a:buClr>
                <a:srgbClr val="006600"/>
              </a:buClr>
              <a:buFont typeface="Wingdings" pitchFamily="2" charset="2"/>
              <a:buChar char="§"/>
            </a:pPr>
            <a:r>
              <a:rPr lang="en-US" altLang="en-US" sz="1400">
                <a:latin typeface="Courier New" panose="02070309020205020404" pitchFamily="49" charset="0"/>
                <a:cs typeface="Courier New" panose="02070309020205020404" pitchFamily="49" charset="0"/>
              </a:rPr>
              <a:t>builtIn</a:t>
            </a:r>
            <a:r>
              <a:rPr lang="en-US" altLang="en-US" sz="1600" b="0">
                <a:latin typeface="Arial" panose="020B0604020202020204" pitchFamily="34" charset="0"/>
                <a:cs typeface="Arial" panose="020B0604020202020204" pitchFamily="34" charset="0"/>
              </a:rPr>
              <a:t>: executable versions of all the logic gates and chips mentioned in the book;</a:t>
            </a:r>
          </a:p>
          <a:p>
            <a:pPr algn="l" rtl="0">
              <a:spcBef>
                <a:spcPct val="50000"/>
              </a:spcBef>
              <a:buClr>
                <a:srgbClr val="006600"/>
              </a:buClr>
              <a:buFont typeface="Wingdings" pitchFamily="2" charset="2"/>
              <a:buChar char="§"/>
            </a:pPr>
            <a:r>
              <a:rPr lang="en-US" altLang="en-US" sz="1400">
                <a:latin typeface="Courier New" panose="02070309020205020404" pitchFamily="49" charset="0"/>
                <a:cs typeface="Courier New" panose="02070309020205020404" pitchFamily="49" charset="0"/>
              </a:rPr>
              <a:t>OS</a:t>
            </a:r>
            <a:r>
              <a:rPr lang="en-US" altLang="en-US" sz="1600" b="0">
                <a:latin typeface="Arial" panose="020B0604020202020204" pitchFamily="34" charset="0"/>
                <a:cs typeface="Arial" panose="020B0604020202020204" pitchFamily="34" charset="0"/>
              </a:rPr>
              <a:t>: executable version of the Jack OS;</a:t>
            </a:r>
          </a:p>
          <a:p>
            <a:pPr algn="l" rtl="0">
              <a:spcBef>
                <a:spcPct val="50000"/>
              </a:spcBef>
              <a:buClr>
                <a:srgbClr val="006600"/>
              </a:buClr>
              <a:buFont typeface="Wingdings" pitchFamily="2" charset="2"/>
              <a:buChar char="§"/>
            </a:pPr>
            <a:r>
              <a:rPr lang="en-US" altLang="en-US" sz="1400">
                <a:latin typeface="Courier New" panose="02070309020205020404" pitchFamily="49" charset="0"/>
                <a:cs typeface="Courier New" panose="02070309020205020404" pitchFamily="49" charset="0"/>
              </a:rPr>
              <a:t>TextComparer</a:t>
            </a:r>
            <a:r>
              <a:rPr lang="en-US" altLang="en-US" sz="1600" b="0">
                <a:latin typeface="Arial" panose="020B0604020202020204" pitchFamily="34" charset="0"/>
                <a:cs typeface="Arial" panose="020B0604020202020204" pitchFamily="34" charset="0"/>
              </a:rPr>
              <a:t>: a text comparison utility.</a:t>
            </a:r>
            <a:endParaRPr lang="en-US" altLang="en-US" sz="1600" b="0">
              <a:solidFill>
                <a:srgbClr val="00007A"/>
              </a:solidFill>
              <a:latin typeface="Arial" panose="020B0604020202020204" pitchFamily="34" charset="0"/>
              <a:cs typeface="Arial" panose="020B0604020202020204" pitchFamily="34" charset="0"/>
            </a:endParaRPr>
          </a:p>
        </p:txBody>
      </p:sp>
      <p:sp>
        <p:nvSpPr>
          <p:cNvPr id="159761" name="Rectangle 17">
            <a:extLst>
              <a:ext uri="{FF2B5EF4-FFF2-40B4-BE49-F238E27FC236}">
                <a16:creationId xmlns:a16="http://schemas.microsoft.com/office/drawing/2014/main" id="{0D759345-D460-1747-B427-04E558E4D749}"/>
              </a:ext>
            </a:extLst>
          </p:cNvPr>
          <p:cNvSpPr>
            <a:spLocks noChangeArrowheads="1"/>
          </p:cNvSpPr>
          <p:nvPr/>
        </p:nvSpPr>
        <p:spPr bwMode="auto">
          <a:xfrm>
            <a:off x="4267200" y="685800"/>
            <a:ext cx="4876800" cy="22860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246063" indent="-246063" algn="r" rtl="1">
              <a:tabLst>
                <a:tab pos="193675" algn="l"/>
              </a:tabLst>
              <a:defRPr sz="2400">
                <a:solidFill>
                  <a:schemeClr val="tx1"/>
                </a:solidFill>
                <a:latin typeface="Times New Roman" panose="02020603050405020304" pitchFamily="18" charset="0"/>
                <a:cs typeface="Times New Roman (Hebrew)" panose="02020603050405020304" pitchFamily="18" charset="0"/>
              </a:defRPr>
            </a:lvl1pPr>
            <a:lvl2pPr marL="819150" indent="-285750" algn="r" rtl="1">
              <a:tabLst>
                <a:tab pos="193675" algn="l"/>
              </a:tabLst>
              <a:defRPr sz="2400">
                <a:solidFill>
                  <a:schemeClr val="tx1"/>
                </a:solidFill>
                <a:latin typeface="Times New Roman" panose="02020603050405020304" pitchFamily="18" charset="0"/>
                <a:cs typeface="Times New Roman (Hebrew)" panose="02020603050405020304" pitchFamily="18" charset="0"/>
              </a:defRPr>
            </a:lvl2pPr>
            <a:lvl3pPr marL="1238250" indent="-228600" algn="r" rtl="1">
              <a:tabLst>
                <a:tab pos="193675" algn="l"/>
              </a:tabLst>
              <a:defRPr sz="2400">
                <a:solidFill>
                  <a:schemeClr val="tx1"/>
                </a:solidFill>
                <a:latin typeface="Times New Roman" panose="02020603050405020304" pitchFamily="18" charset="0"/>
                <a:cs typeface="Times New Roman (Hebrew)" panose="02020603050405020304" pitchFamily="18" charset="0"/>
              </a:defRPr>
            </a:lvl3pPr>
            <a:lvl4pPr marL="1657350" indent="-228600" algn="r" rtl="1">
              <a:tabLst>
                <a:tab pos="193675" algn="l"/>
              </a:tabLst>
              <a:defRPr sz="2400">
                <a:solidFill>
                  <a:schemeClr val="tx1"/>
                </a:solidFill>
                <a:latin typeface="Times New Roman" panose="02020603050405020304" pitchFamily="18" charset="0"/>
                <a:cs typeface="Times New Roman (Hebrew)" panose="02020603050405020304" pitchFamily="18" charset="0"/>
              </a:defRPr>
            </a:lvl4pPr>
            <a:lvl5pPr marL="2076450" indent="-228600" algn="r" rtl="1">
              <a:tabLst>
                <a:tab pos="193675" algn="l"/>
              </a:tabLst>
              <a:defRPr sz="2400">
                <a:solidFill>
                  <a:schemeClr val="tx1"/>
                </a:solidFill>
                <a:latin typeface="Times New Roman" panose="02020603050405020304" pitchFamily="18" charset="0"/>
                <a:cs typeface="Times New Roman (Hebrew)" panose="02020603050405020304" pitchFamily="18" charset="0"/>
              </a:defRPr>
            </a:lvl5pPr>
            <a:lvl6pPr marL="2533650" indent="-228600" algn="r" rtl="1" fontAlgn="base">
              <a:spcBef>
                <a:spcPct val="0"/>
              </a:spcBef>
              <a:spcAft>
                <a:spcPct val="0"/>
              </a:spcAft>
              <a:tabLst>
                <a:tab pos="193675" algn="l"/>
              </a:tabLst>
              <a:defRPr sz="2400">
                <a:solidFill>
                  <a:schemeClr val="tx1"/>
                </a:solidFill>
                <a:latin typeface="Times New Roman" panose="02020603050405020304" pitchFamily="18" charset="0"/>
                <a:cs typeface="Times New Roman (Hebrew)" panose="02020603050405020304" pitchFamily="18" charset="0"/>
              </a:defRPr>
            </a:lvl6pPr>
            <a:lvl7pPr marL="2990850" indent="-228600" algn="r" rtl="1" fontAlgn="base">
              <a:spcBef>
                <a:spcPct val="0"/>
              </a:spcBef>
              <a:spcAft>
                <a:spcPct val="0"/>
              </a:spcAft>
              <a:tabLst>
                <a:tab pos="193675" algn="l"/>
              </a:tabLst>
              <a:defRPr sz="2400">
                <a:solidFill>
                  <a:schemeClr val="tx1"/>
                </a:solidFill>
                <a:latin typeface="Times New Roman" panose="02020603050405020304" pitchFamily="18" charset="0"/>
                <a:cs typeface="Times New Roman (Hebrew)" panose="02020603050405020304" pitchFamily="18" charset="0"/>
              </a:defRPr>
            </a:lvl7pPr>
            <a:lvl8pPr marL="3448050" indent="-228600" algn="r" rtl="1" fontAlgn="base">
              <a:spcBef>
                <a:spcPct val="0"/>
              </a:spcBef>
              <a:spcAft>
                <a:spcPct val="0"/>
              </a:spcAft>
              <a:tabLst>
                <a:tab pos="193675" algn="l"/>
              </a:tabLst>
              <a:defRPr sz="2400">
                <a:solidFill>
                  <a:schemeClr val="tx1"/>
                </a:solidFill>
                <a:latin typeface="Times New Roman" panose="02020603050405020304" pitchFamily="18" charset="0"/>
                <a:cs typeface="Times New Roman (Hebrew)" panose="02020603050405020304" pitchFamily="18" charset="0"/>
              </a:defRPr>
            </a:lvl8pPr>
            <a:lvl9pPr marL="3905250" indent="-228600" algn="r" rtl="1" fontAlgn="base">
              <a:spcBef>
                <a:spcPct val="0"/>
              </a:spcBef>
              <a:spcAft>
                <a:spcPct val="0"/>
              </a:spcAft>
              <a:tabLst>
                <a:tab pos="193675"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buClr>
                <a:srgbClr val="006600"/>
              </a:buClr>
              <a:buSzPct val="110000"/>
              <a:buFont typeface="Wingdings" pitchFamily="2" charset="2"/>
              <a:buNone/>
            </a:pPr>
            <a:r>
              <a:rPr lang="en-US" altLang="en-US" sz="1400" b="0">
                <a:latin typeface="Arial" panose="020B0604020202020204" pitchFamily="34" charset="0"/>
              </a:rPr>
              <a:t>(All the supplied tools are dual-platform:</a:t>
            </a:r>
            <a:r>
              <a:rPr lang="en-US" altLang="en-US" sz="1400" b="0" i="1">
                <a:latin typeface="Arial" panose="020B0604020202020204" pitchFamily="34" charset="0"/>
                <a:cs typeface="Arial" panose="020B0604020202020204" pitchFamily="34" charset="0"/>
              </a:rPr>
              <a:t> </a:t>
            </a:r>
            <a:r>
              <a:rPr lang="en-US" altLang="en-US" sz="1400">
                <a:latin typeface="Courier New" panose="02070309020205020404" pitchFamily="49" charset="0"/>
                <a:cs typeface="Courier New" panose="02070309020205020404" pitchFamily="49" charset="0"/>
              </a:rPr>
              <a:t>Xxx.bat</a:t>
            </a:r>
            <a:r>
              <a:rPr lang="en-US" altLang="en-US" sz="1400" b="0">
                <a:latin typeface="Arial" panose="020B0604020202020204" pitchFamily="34" charset="0"/>
                <a:cs typeface="Arial" panose="020B0604020202020204" pitchFamily="34" charset="0"/>
              </a:rPr>
              <a:t> starts</a:t>
            </a:r>
            <a:br>
              <a:rPr lang="en-US" altLang="en-US" sz="1400" b="0">
                <a:latin typeface="Arial" panose="020B0604020202020204" pitchFamily="34" charset="0"/>
                <a:cs typeface="Arial" panose="020B0604020202020204" pitchFamily="34" charset="0"/>
              </a:rPr>
            </a:br>
            <a:r>
              <a:rPr lang="en-US" altLang="en-US" sz="1400">
                <a:latin typeface="Courier New" panose="02070309020205020404" pitchFamily="49" charset="0"/>
                <a:cs typeface="Courier New" panose="02070309020205020404" pitchFamily="49" charset="0"/>
              </a:rPr>
              <a:t>Xxx</a:t>
            </a:r>
            <a:r>
              <a:rPr lang="en-US" altLang="en-US" sz="1400" b="0">
                <a:latin typeface="Arial" panose="020B0604020202020204" pitchFamily="34" charset="0"/>
                <a:cs typeface="Arial" panose="020B0604020202020204" pitchFamily="34" charset="0"/>
              </a:rPr>
              <a:t> in Windows, and </a:t>
            </a:r>
            <a:r>
              <a:rPr lang="en-US" altLang="en-US" sz="1400">
                <a:latin typeface="Courier New" panose="02070309020205020404" pitchFamily="49" charset="0"/>
                <a:cs typeface="Courier New" panose="02070309020205020404" pitchFamily="49" charset="0"/>
              </a:rPr>
              <a:t>Xxx.sh</a:t>
            </a:r>
            <a:r>
              <a:rPr lang="en-US" altLang="en-US" sz="1400" b="0">
                <a:latin typeface="Arial" panose="020B0604020202020204" pitchFamily="34" charset="0"/>
                <a:cs typeface="Arial" panose="020B0604020202020204" pitchFamily="34" charset="0"/>
              </a:rPr>
              <a:t> starts it in Unix)</a:t>
            </a:r>
          </a:p>
          <a:p>
            <a:pPr algn="l" rtl="0">
              <a:spcBef>
                <a:spcPct val="40000"/>
              </a:spcBef>
              <a:buClr>
                <a:srgbClr val="006600"/>
              </a:buClr>
              <a:buSzPct val="110000"/>
              <a:buFont typeface="Wingdings" pitchFamily="2" charset="2"/>
              <a:buNone/>
            </a:pPr>
            <a:r>
              <a:rPr lang="en-US" altLang="en-US" sz="2000" b="0" u="sng">
                <a:latin typeface="Arial" panose="020B0604020202020204" pitchFamily="34" charset="0"/>
              </a:rPr>
              <a:t>Simulators</a:t>
            </a:r>
            <a:r>
              <a:rPr lang="en-US" altLang="en-US" sz="2000" b="0">
                <a:latin typeface="Arial" panose="020B0604020202020204" pitchFamily="34" charset="0"/>
              </a:rPr>
              <a:t> </a:t>
            </a:r>
            <a:br>
              <a:rPr lang="en-US" altLang="en-US" sz="2000" b="0">
                <a:latin typeface="Arial" panose="020B0604020202020204" pitchFamily="34" charset="0"/>
              </a:rPr>
            </a:br>
            <a:r>
              <a:rPr lang="en-US" altLang="en-US" sz="1600" b="0">
                <a:latin typeface="Arial" panose="020B0604020202020204" pitchFamily="34" charset="0"/>
                <a:cs typeface="Arial" panose="020B0604020202020204" pitchFamily="34" charset="0"/>
              </a:rPr>
              <a:t>(</a:t>
            </a:r>
            <a:r>
              <a:rPr lang="en-US" altLang="en-US" sz="1400">
                <a:latin typeface="Courier New" panose="02070309020205020404" pitchFamily="49" charset="0"/>
                <a:cs typeface="Courier New" panose="02070309020205020404" pitchFamily="49" charset="0"/>
              </a:rPr>
              <a:t>HardwareSimulator</a:t>
            </a:r>
            <a:r>
              <a:rPr lang="en-US" altLang="en-US" sz="1600" b="0">
                <a:latin typeface="Arial" panose="020B0604020202020204" pitchFamily="34" charset="0"/>
                <a:cs typeface="Arial" panose="020B0604020202020204" pitchFamily="34" charset="0"/>
              </a:rPr>
              <a:t>, </a:t>
            </a:r>
            <a:r>
              <a:rPr lang="en-US" altLang="en-US" sz="1400">
                <a:latin typeface="Courier New" panose="02070309020205020404" pitchFamily="49" charset="0"/>
                <a:cs typeface="Courier New" panose="02070309020205020404" pitchFamily="49" charset="0"/>
              </a:rPr>
              <a:t>CPUEmulator</a:t>
            </a:r>
            <a:r>
              <a:rPr lang="en-US" altLang="en-US" sz="1600" b="0">
                <a:latin typeface="Arial" panose="020B0604020202020204" pitchFamily="34" charset="0"/>
                <a:cs typeface="Arial" panose="020B0604020202020204" pitchFamily="34" charset="0"/>
              </a:rPr>
              <a:t>, </a:t>
            </a:r>
            <a:r>
              <a:rPr lang="en-US" altLang="en-US" sz="1400">
                <a:latin typeface="Courier New" panose="02070309020205020404" pitchFamily="49" charset="0"/>
                <a:cs typeface="Courier New" panose="02070309020205020404" pitchFamily="49" charset="0"/>
              </a:rPr>
              <a:t>VMEmulator</a:t>
            </a:r>
            <a:r>
              <a:rPr lang="en-US" altLang="en-US" sz="1600" b="0">
                <a:latin typeface="Arial" panose="020B0604020202020204" pitchFamily="34" charset="0"/>
                <a:cs typeface="Arial" panose="020B0604020202020204" pitchFamily="34" charset="0"/>
              </a:rPr>
              <a:t>):</a:t>
            </a:r>
          </a:p>
          <a:p>
            <a:pPr algn="l" rtl="0">
              <a:spcBef>
                <a:spcPct val="50000"/>
              </a:spcBef>
              <a:buClr>
                <a:srgbClr val="006600"/>
              </a:buClr>
              <a:buFont typeface="Wingdings" pitchFamily="2" charset="2"/>
              <a:buChar char="§"/>
            </a:pPr>
            <a:r>
              <a:rPr lang="en-US" altLang="en-US" sz="1600" b="0">
                <a:latin typeface="Arial" panose="020B0604020202020204" pitchFamily="34" charset="0"/>
                <a:cs typeface="Arial" panose="020B0604020202020204" pitchFamily="34" charset="0"/>
              </a:rPr>
              <a:t>Used to build hardware platforms and</a:t>
            </a:r>
            <a:br>
              <a:rPr lang="en-US" altLang="en-US" sz="1600" b="0">
                <a:latin typeface="Arial" panose="020B0604020202020204" pitchFamily="34" charset="0"/>
                <a:cs typeface="Arial" panose="020B0604020202020204" pitchFamily="34" charset="0"/>
              </a:rPr>
            </a:br>
            <a:r>
              <a:rPr lang="en-US" altLang="en-US" sz="1600" b="0">
                <a:latin typeface="Arial" panose="020B0604020202020204" pitchFamily="34" charset="0"/>
                <a:cs typeface="Arial" panose="020B0604020202020204" pitchFamily="34" charset="0"/>
              </a:rPr>
              <a:t>execute programs;</a:t>
            </a:r>
          </a:p>
          <a:p>
            <a:pPr algn="l" rtl="0">
              <a:spcBef>
                <a:spcPct val="50000"/>
              </a:spcBef>
              <a:buClr>
                <a:srgbClr val="006600"/>
              </a:buClr>
              <a:buFont typeface="Wingdings" pitchFamily="2" charset="2"/>
              <a:buChar char="§"/>
            </a:pPr>
            <a:r>
              <a:rPr lang="en-US" altLang="en-US" sz="1600" b="0">
                <a:solidFill>
                  <a:srgbClr val="00007A"/>
                </a:solidFill>
                <a:latin typeface="Arial" panose="020B0604020202020204" pitchFamily="34" charset="0"/>
                <a:cs typeface="Arial" panose="020B0604020202020204" pitchFamily="34" charset="0"/>
              </a:rPr>
              <a:t>Supplied by us.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976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975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5976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597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59" grpId="0" animBg="1" autoUpdateAnimBg="0"/>
      <p:bldP spid="159760" grpId="0" animBg="1" autoUpdateAnimBg="0"/>
      <p:bldP spid="159761" grpId="0" animBg="1"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BC564207-87D9-8A48-A8D0-7B6354DF8036}"/>
              </a:ext>
            </a:extLst>
          </p:cNvPr>
          <p:cNvSpPr>
            <a:spLocks noGrp="1" noChangeArrowheads="1"/>
          </p:cNvSpPr>
          <p:nvPr>
            <p:ph type="title"/>
          </p:nvPr>
        </p:nvSpPr>
        <p:spPr/>
        <p:txBody>
          <a:bodyPr/>
          <a:lstStyle/>
          <a:p>
            <a:r>
              <a:rPr lang="en-US" altLang="en-US"/>
              <a:t>Tutorial Objective</a:t>
            </a:r>
          </a:p>
        </p:txBody>
      </p:sp>
      <p:pic>
        <p:nvPicPr>
          <p:cNvPr id="15363" name="Picture 3" descr="G:\PPT Presentations\Pres Training\db Prepared Photos\monitor.jpg">
            <a:extLst>
              <a:ext uri="{FF2B5EF4-FFF2-40B4-BE49-F238E27FC236}">
                <a16:creationId xmlns:a16="http://schemas.microsoft.com/office/drawing/2014/main" id="{958DF1C4-FA85-B140-A25B-F87E212831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219200"/>
            <a:ext cx="4572000" cy="4724400"/>
          </a:xfrm>
          <a:prstGeom prst="rect">
            <a:avLst/>
          </a:prstGeom>
          <a:noFill/>
          <a:extLst>
            <a:ext uri="{909E8E84-426E-40DD-AFC4-6F175D3DCCD1}">
              <a14:hiddenFill xmlns:a14="http://schemas.microsoft.com/office/drawing/2010/main">
                <a:solidFill>
                  <a:srgbClr val="FFFFFF"/>
                </a:solidFill>
              </a14:hiddenFill>
            </a:ext>
          </a:extLst>
        </p:spPr>
      </p:pic>
      <p:sp>
        <p:nvSpPr>
          <p:cNvPr id="15364" name="Rectangle 4">
            <a:extLst>
              <a:ext uri="{FF2B5EF4-FFF2-40B4-BE49-F238E27FC236}">
                <a16:creationId xmlns:a16="http://schemas.microsoft.com/office/drawing/2014/main" id="{21E8E311-3FB4-874E-82B5-8D19AD33CE58}"/>
              </a:ext>
            </a:extLst>
          </p:cNvPr>
          <p:cNvSpPr>
            <a:spLocks noChangeArrowheads="1"/>
          </p:cNvSpPr>
          <p:nvPr/>
        </p:nvSpPr>
        <p:spPr bwMode="auto">
          <a:xfrm>
            <a:off x="3143250" y="2070100"/>
            <a:ext cx="320040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40000"/>
              </a:spcBef>
              <a:buClr>
                <a:srgbClr val="006600"/>
              </a:buClr>
              <a:buSzPct val="110000"/>
              <a:buFont typeface="Wingdings" pitchFamily="2" charset="2"/>
              <a:buChar char="§"/>
              <a:tabLst>
                <a:tab pos="0" algn="l"/>
              </a:tabLst>
              <a:defRPr sz="2000">
                <a:solidFill>
                  <a:schemeClr val="tx1"/>
                </a:solidFill>
                <a:latin typeface="Arial" panose="020B0604020202020204" pitchFamily="34" charset="0"/>
                <a:cs typeface="Times New Roman (Hebrew)" panose="02020603050405020304" pitchFamily="18" charset="0"/>
              </a:defRPr>
            </a:lvl1pPr>
            <a:lvl2pPr>
              <a:spcBef>
                <a:spcPct val="40000"/>
              </a:spcBef>
              <a:buClr>
                <a:srgbClr val="00007A"/>
              </a:buClr>
              <a:buSzPct val="125000"/>
              <a:buChar char="•"/>
              <a:tabLst>
                <a:tab pos="0" algn="l"/>
              </a:tabLst>
              <a:defRPr>
                <a:solidFill>
                  <a:schemeClr val="tx1"/>
                </a:solidFill>
                <a:latin typeface="Arial" panose="020B0604020202020204" pitchFamily="34" charset="0"/>
                <a:cs typeface="Times New Roman (Hebrew)" panose="02020603050405020304" pitchFamily="18" charset="0"/>
              </a:defRPr>
            </a:lvl2pPr>
            <a:lvl3pPr>
              <a:spcBef>
                <a:spcPct val="40000"/>
              </a:spcBef>
              <a:buClr>
                <a:srgbClr val="A50021"/>
              </a:buClr>
              <a:buSzPct val="110000"/>
              <a:buChar char="•"/>
              <a:tabLst>
                <a:tab pos="0" algn="l"/>
              </a:tabLst>
              <a:defRPr sz="1600">
                <a:solidFill>
                  <a:schemeClr val="tx1"/>
                </a:solidFill>
                <a:latin typeface="Arial" panose="020B0604020202020204" pitchFamily="34" charset="0"/>
                <a:cs typeface="Times New Roman (Hebrew)" panose="02020603050405020304" pitchFamily="18" charset="0"/>
              </a:defRPr>
            </a:lvl3pPr>
            <a:lvl4pPr>
              <a:spcBef>
                <a:spcPct val="40000"/>
              </a:spcBef>
              <a:buChar char="–"/>
              <a:tabLst>
                <a:tab pos="0" algn="l"/>
              </a:tabLst>
              <a:defRPr sz="1600">
                <a:solidFill>
                  <a:schemeClr val="tx1"/>
                </a:solidFill>
                <a:latin typeface="Arial" panose="020B0604020202020204" pitchFamily="34" charset="0"/>
                <a:cs typeface="Times New Roman (Hebrew)" panose="02020603050405020304" pitchFamily="18" charset="0"/>
              </a:defRPr>
            </a:lvl4pPr>
            <a:lvl5pPr>
              <a:spcBef>
                <a:spcPct val="40000"/>
              </a:spcBef>
              <a:buChar char="»"/>
              <a:tabLst>
                <a:tab pos="0" algn="l"/>
              </a:tabLst>
              <a:defRPr sz="1600">
                <a:solidFill>
                  <a:schemeClr val="tx1"/>
                </a:solidFill>
                <a:latin typeface="Arial" panose="020B0604020202020204" pitchFamily="34" charset="0"/>
                <a:cs typeface="Times New Roman (Hebrew)" panose="02020603050405020304" pitchFamily="18" charset="0"/>
              </a:defRPr>
            </a:lvl5pPr>
            <a:lvl6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6pPr>
            <a:lvl7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7pPr>
            <a:lvl8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8pPr>
            <a:lvl9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9pPr>
          </a:lstStyle>
          <a:p>
            <a:pPr algn="ctr">
              <a:buFont typeface="Wingdings" pitchFamily="2" charset="2"/>
              <a:buNone/>
            </a:pPr>
            <a:r>
              <a:rPr lang="en-US" altLang="he-IL">
                <a:solidFill>
                  <a:srgbClr val="000066"/>
                </a:solidFill>
              </a:rPr>
              <a:t>Learn how to use the </a:t>
            </a:r>
            <a:r>
              <a:rPr lang="en-US" altLang="he-IL">
                <a:solidFill>
                  <a:srgbClr val="993300"/>
                </a:solidFill>
              </a:rPr>
              <a:t>CPU Emulator</a:t>
            </a:r>
            <a:r>
              <a:rPr lang="en-US" altLang="he-IL">
                <a:solidFill>
                  <a:srgbClr val="000066"/>
                </a:solidFill>
              </a:rPr>
              <a:t> </a:t>
            </a:r>
            <a:br>
              <a:rPr lang="en-US" altLang="he-IL">
                <a:solidFill>
                  <a:srgbClr val="000066"/>
                </a:solidFill>
              </a:rPr>
            </a:br>
            <a:r>
              <a:rPr lang="en-US" altLang="he-IL">
                <a:solidFill>
                  <a:srgbClr val="000066"/>
                </a:solidFill>
              </a:rPr>
              <a:t>for simulating the execution of machine language programs on the </a:t>
            </a:r>
            <a:r>
              <a:rPr lang="en-US" altLang="he-IL" i="1">
                <a:solidFill>
                  <a:srgbClr val="000066"/>
                </a:solidFill>
              </a:rPr>
              <a:t>Hack computer</a:t>
            </a:r>
            <a:endParaRPr lang="en-US" altLang="he-IL" i="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1026">
            <a:extLst>
              <a:ext uri="{FF2B5EF4-FFF2-40B4-BE49-F238E27FC236}">
                <a16:creationId xmlns:a16="http://schemas.microsoft.com/office/drawing/2014/main" id="{0F21B9F6-2EFA-C048-8D54-71C5BDFC3C47}"/>
              </a:ext>
            </a:extLst>
          </p:cNvPr>
          <p:cNvSpPr>
            <a:spLocks noGrp="1" noChangeArrowheads="1"/>
          </p:cNvSpPr>
          <p:nvPr>
            <p:ph type="title"/>
          </p:nvPr>
        </p:nvSpPr>
        <p:spPr/>
        <p:txBody>
          <a:bodyPr/>
          <a:lstStyle/>
          <a:p>
            <a:r>
              <a:rPr lang="en-US" altLang="en-US"/>
              <a:t>The Hack computer</a:t>
            </a:r>
          </a:p>
        </p:txBody>
      </p:sp>
      <p:pic>
        <p:nvPicPr>
          <p:cNvPr id="147459" name="Picture 1027" descr="C:\Documents and Settings\Administrator\Application Data\Microsoft\Media Catalog\Downloaded Clips\cl31\j0123413.wmf">
            <a:extLst>
              <a:ext uri="{FF2B5EF4-FFF2-40B4-BE49-F238E27FC236}">
                <a16:creationId xmlns:a16="http://schemas.microsoft.com/office/drawing/2014/main" id="{C788975D-9FFB-494B-A417-9F90CD761C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914400"/>
            <a:ext cx="4876800" cy="5397500"/>
          </a:xfrm>
          <a:prstGeom prst="rect">
            <a:avLst/>
          </a:prstGeom>
          <a:noFill/>
          <a:extLst>
            <a:ext uri="{909E8E84-426E-40DD-AFC4-6F175D3DCCD1}">
              <a14:hiddenFill xmlns:a14="http://schemas.microsoft.com/office/drawing/2010/main">
                <a:solidFill>
                  <a:srgbClr val="FFFFFF"/>
                </a:solidFill>
              </a14:hiddenFill>
            </a:ext>
          </a:extLst>
        </p:spPr>
      </p:pic>
      <p:sp>
        <p:nvSpPr>
          <p:cNvPr id="147460" name="Text Box 1028">
            <a:extLst>
              <a:ext uri="{FF2B5EF4-FFF2-40B4-BE49-F238E27FC236}">
                <a16:creationId xmlns:a16="http://schemas.microsoft.com/office/drawing/2014/main" id="{E179EA70-97C8-C049-B776-EDB907920890}"/>
              </a:ext>
            </a:extLst>
          </p:cNvPr>
          <p:cNvSpPr txBox="1">
            <a:spLocks noChangeArrowheads="1"/>
          </p:cNvSpPr>
          <p:nvPr/>
        </p:nvSpPr>
        <p:spPr bwMode="auto">
          <a:xfrm>
            <a:off x="1371600" y="1295400"/>
            <a:ext cx="3581400" cy="3881438"/>
          </a:xfrm>
          <a:prstGeom prst="rect">
            <a:avLst/>
          </a:prstGeom>
          <a:noFill/>
          <a:ln>
            <a:noFill/>
          </a:ln>
          <a:effectLst/>
          <a:extLst>
            <a:ext uri="{909E8E84-426E-40DD-AFC4-6F175D3DCCD1}">
              <a14:hiddenFill xmlns:a14="http://schemas.microsoft.com/office/drawing/2010/main">
                <a:solidFill>
                  <a:srgbClr val="FFFFC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0">
                <a:latin typeface="Comic Sans MS" panose="030F0902030302020204" pitchFamily="66" charset="0"/>
              </a:rPr>
              <a:t>This CPU emulator simulates the operations of the Hack computer, built in chapters 1-5 of the book.</a:t>
            </a:r>
          </a:p>
          <a:p>
            <a:pPr>
              <a:spcBef>
                <a:spcPct val="50000"/>
              </a:spcBef>
            </a:pPr>
            <a:r>
              <a:rPr lang="en-US" altLang="en-US" b="0">
                <a:latin typeface="Comic Sans MS" panose="030F0902030302020204" pitchFamily="66" charset="0"/>
              </a:rPr>
              <a:t>Hack -- a 16-bit computer equipped with a screen and a keyboard -- resembles hand-held  computers like game machines, PDA’s, and cellular telephones.</a:t>
            </a:r>
          </a:p>
          <a:p>
            <a:pPr>
              <a:spcBef>
                <a:spcPct val="50000"/>
              </a:spcBef>
            </a:pPr>
            <a:r>
              <a:rPr lang="en-US" altLang="en-US" b="0">
                <a:latin typeface="Comic Sans MS" panose="030F0902030302020204" pitchFamily="66" charset="0"/>
              </a:rPr>
              <a:t>Before such devices are actually built in hardware, they are planned and simulated in software. </a:t>
            </a:r>
          </a:p>
          <a:p>
            <a:pPr>
              <a:spcBef>
                <a:spcPct val="50000"/>
              </a:spcBef>
            </a:pPr>
            <a:r>
              <a:rPr lang="en-US" altLang="en-US" b="0">
                <a:latin typeface="Comic Sans MS" panose="030F0902030302020204" pitchFamily="66" charset="0"/>
              </a:rPr>
              <a:t>The CPU emulator is one of </a:t>
            </a:r>
            <a:br>
              <a:rPr lang="en-US" altLang="en-US" b="0">
                <a:latin typeface="Comic Sans MS" panose="030F0902030302020204" pitchFamily="66" charset="0"/>
              </a:rPr>
            </a:br>
            <a:r>
              <a:rPr lang="en-US" altLang="en-US" b="0">
                <a:latin typeface="Comic Sans MS" panose="030F0902030302020204" pitchFamily="66" charset="0"/>
              </a:rPr>
              <a:t>the software tools used for </a:t>
            </a:r>
            <a:br>
              <a:rPr lang="en-US" altLang="en-US" b="0">
                <a:latin typeface="Comic Sans MS" panose="030F0902030302020204" pitchFamily="66" charset="0"/>
              </a:rPr>
            </a:br>
            <a:r>
              <a:rPr lang="en-US" altLang="en-US" b="0">
                <a:latin typeface="Comic Sans MS" panose="030F0902030302020204" pitchFamily="66" charset="0"/>
              </a:rPr>
              <a:t>this purpose.</a:t>
            </a:r>
          </a:p>
        </p:txBody>
      </p:sp>
      <p:pic>
        <p:nvPicPr>
          <p:cNvPr id="147461" name="Picture 1029" descr="http://www.dantelnv.com/bluenokia.gif">
            <a:extLst>
              <a:ext uri="{FF2B5EF4-FFF2-40B4-BE49-F238E27FC236}">
                <a16:creationId xmlns:a16="http://schemas.microsoft.com/office/drawing/2014/main" id="{A4090816-F766-5F46-A7F9-16DB1773E9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7200" y="3429000"/>
            <a:ext cx="2260600" cy="2971800"/>
          </a:xfrm>
          <a:prstGeom prst="rect">
            <a:avLst/>
          </a:prstGeom>
          <a:noFill/>
          <a:extLst>
            <a:ext uri="{909E8E84-426E-40DD-AFC4-6F175D3DCCD1}">
              <a14:hiddenFill xmlns:a14="http://schemas.microsoft.com/office/drawing/2010/main">
                <a:solidFill>
                  <a:srgbClr val="FFFFFF"/>
                </a:solidFill>
              </a14:hiddenFill>
            </a:ext>
          </a:extLst>
        </p:spPr>
      </p:pic>
      <p:pic>
        <p:nvPicPr>
          <p:cNvPr id="147462" name="Picture 1030" descr="http://www.zdnet.de/news/artikel/2002/04/gameboy.jpg">
            <a:extLst>
              <a:ext uri="{FF2B5EF4-FFF2-40B4-BE49-F238E27FC236}">
                <a16:creationId xmlns:a16="http://schemas.microsoft.com/office/drawing/2014/main" id="{2D1C5283-05BA-1B47-B85E-7D1F873D5D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9525" y="838200"/>
            <a:ext cx="2251075" cy="1635125"/>
          </a:xfrm>
          <a:prstGeom prst="rect">
            <a:avLst/>
          </a:prstGeom>
          <a:noFill/>
          <a:extLst>
            <a:ext uri="{909E8E84-426E-40DD-AFC4-6F175D3DCCD1}">
              <a14:hiddenFill xmlns:a14="http://schemas.microsoft.com/office/drawing/2010/main">
                <a:solidFill>
                  <a:srgbClr val="FFFFFF"/>
                </a:solidFill>
              </a14:hiddenFill>
            </a:ext>
          </a:extLst>
        </p:spPr>
      </p:pic>
      <p:pic>
        <p:nvPicPr>
          <p:cNvPr id="147463" name="Picture 1031" descr="http://images.google.com/images?q=tbn:5VI_cIggd3YC:www.cadsystems.com/hardware/0003f061.jpg">
            <a:extLst>
              <a:ext uri="{FF2B5EF4-FFF2-40B4-BE49-F238E27FC236}">
                <a16:creationId xmlns:a16="http://schemas.microsoft.com/office/drawing/2014/main" id="{85AAA576-E4FE-6045-8C61-0E22898F47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9800" y="2895600"/>
            <a:ext cx="1025525" cy="1524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1026">
            <a:extLst>
              <a:ext uri="{FF2B5EF4-FFF2-40B4-BE49-F238E27FC236}">
                <a16:creationId xmlns:a16="http://schemas.microsoft.com/office/drawing/2014/main" id="{96B37DAA-343C-FA48-8721-9DCA16F9E49E}"/>
              </a:ext>
            </a:extLst>
          </p:cNvPr>
          <p:cNvSpPr>
            <a:spLocks noGrp="1" noChangeArrowheads="1"/>
          </p:cNvSpPr>
          <p:nvPr>
            <p:ph type="title"/>
          </p:nvPr>
        </p:nvSpPr>
        <p:spPr/>
        <p:txBody>
          <a:bodyPr/>
          <a:lstStyle/>
          <a:p>
            <a:r>
              <a:rPr lang="en-US" altLang="en-US"/>
              <a:t>CPU Emulator Tutorial</a:t>
            </a:r>
          </a:p>
        </p:txBody>
      </p:sp>
      <p:sp>
        <p:nvSpPr>
          <p:cNvPr id="100355" name="Rectangle 1027">
            <a:extLst>
              <a:ext uri="{FF2B5EF4-FFF2-40B4-BE49-F238E27FC236}">
                <a16:creationId xmlns:a16="http://schemas.microsoft.com/office/drawing/2014/main" id="{F731024D-A6C3-BB47-B7C9-39324C5B7D2F}"/>
              </a:ext>
            </a:extLst>
          </p:cNvPr>
          <p:cNvSpPr>
            <a:spLocks noChangeArrowheads="1"/>
          </p:cNvSpPr>
          <p:nvPr/>
        </p:nvSpPr>
        <p:spPr bwMode="auto">
          <a:xfrm>
            <a:off x="76200" y="1295400"/>
            <a:ext cx="48006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342900" indent="-342900" algn="r" rtl="1">
              <a:tabLst>
                <a:tab pos="0" algn="l"/>
              </a:tabLst>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tabLst>
                <a:tab pos="0" algn="l"/>
              </a:tabLst>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100000"/>
              </a:spcBef>
              <a:buClr>
                <a:srgbClr val="006600"/>
              </a:buClr>
              <a:buSzPct val="110000"/>
              <a:buFont typeface="Wingdings" pitchFamily="2" charset="2"/>
              <a:buNone/>
            </a:pPr>
            <a:r>
              <a:rPr lang="en-US" altLang="en-US" sz="1800" b="0">
                <a:latin typeface="Arial" panose="020B0604020202020204" pitchFamily="34" charset="0"/>
              </a:rPr>
              <a:t>			I.    </a:t>
            </a:r>
            <a:r>
              <a:rPr lang="en-US" altLang="en-US" sz="1800" b="0">
                <a:latin typeface="Arial" panose="020B0604020202020204" pitchFamily="34" charset="0"/>
                <a:hlinkClick r:id="rId2" action="ppaction://hlinksldjump"/>
              </a:rPr>
              <a:t>Basic Platform</a:t>
            </a:r>
            <a:endParaRPr lang="en-US" altLang="en-US" sz="1800" b="0">
              <a:latin typeface="Arial" panose="020B0604020202020204" pitchFamily="34" charset="0"/>
            </a:endParaRPr>
          </a:p>
          <a:p>
            <a:pPr algn="l" rtl="0">
              <a:spcBef>
                <a:spcPct val="100000"/>
              </a:spcBef>
              <a:buClr>
                <a:srgbClr val="006600"/>
              </a:buClr>
              <a:buSzPct val="110000"/>
              <a:buFont typeface="Wingdings" pitchFamily="2" charset="2"/>
              <a:buNone/>
            </a:pPr>
            <a:r>
              <a:rPr lang="en-US" altLang="en-US" sz="1800" b="0">
                <a:latin typeface="Arial" panose="020B0604020202020204" pitchFamily="34" charset="0"/>
              </a:rPr>
              <a:t>			II.   </a:t>
            </a:r>
            <a:r>
              <a:rPr lang="en-US" altLang="en-US" sz="1800" b="0">
                <a:latin typeface="Arial" panose="020B0604020202020204" pitchFamily="34" charset="0"/>
                <a:hlinkClick r:id="rId3" action="ppaction://hlinksldjump"/>
              </a:rPr>
              <a:t>I/O devices</a:t>
            </a:r>
            <a:endParaRPr lang="en-US" altLang="en-US" sz="1800" b="0">
              <a:latin typeface="Arial" panose="020B0604020202020204" pitchFamily="34" charset="0"/>
            </a:endParaRPr>
          </a:p>
          <a:p>
            <a:pPr algn="l" rtl="0">
              <a:spcBef>
                <a:spcPct val="100000"/>
              </a:spcBef>
              <a:buClr>
                <a:srgbClr val="006600"/>
              </a:buClr>
              <a:buSzPct val="110000"/>
              <a:buFont typeface="Wingdings" pitchFamily="2" charset="2"/>
              <a:buNone/>
            </a:pPr>
            <a:r>
              <a:rPr lang="en-US" altLang="en-US" sz="1800" b="0">
                <a:latin typeface="Arial" panose="020B0604020202020204" pitchFamily="34" charset="0"/>
              </a:rPr>
              <a:t>			III.  </a:t>
            </a:r>
            <a:r>
              <a:rPr lang="en-US" altLang="en-US" sz="1800" b="0">
                <a:latin typeface="Arial" panose="020B0604020202020204" pitchFamily="34" charset="0"/>
                <a:hlinkClick r:id="rId4" action="ppaction://hlinksldjump"/>
              </a:rPr>
              <a:t>Interactive simulation</a:t>
            </a:r>
            <a:endParaRPr lang="en-US" altLang="en-US" sz="1800" b="0">
              <a:latin typeface="Arial" panose="020B0604020202020204" pitchFamily="34" charset="0"/>
            </a:endParaRPr>
          </a:p>
          <a:p>
            <a:pPr algn="l" rtl="0">
              <a:spcBef>
                <a:spcPct val="100000"/>
              </a:spcBef>
              <a:buClr>
                <a:srgbClr val="006600"/>
              </a:buClr>
              <a:buSzPct val="110000"/>
              <a:buFont typeface="Wingdings" pitchFamily="2" charset="2"/>
              <a:buNone/>
            </a:pPr>
            <a:r>
              <a:rPr lang="en-US" altLang="en-US" sz="1800" b="0">
                <a:latin typeface="Arial" panose="020B0604020202020204" pitchFamily="34" charset="0"/>
              </a:rPr>
              <a:t>			IV.  </a:t>
            </a:r>
            <a:r>
              <a:rPr lang="en-US" altLang="en-US" sz="1800" b="0">
                <a:latin typeface="Arial" panose="020B0604020202020204" pitchFamily="34" charset="0"/>
                <a:hlinkClick r:id="rId5" action="ppaction://hlinksldjump"/>
              </a:rPr>
              <a:t>Script-based simulation</a:t>
            </a:r>
            <a:endParaRPr lang="en-US" altLang="en-US" sz="1800" b="0">
              <a:latin typeface="Arial" panose="020B0604020202020204" pitchFamily="34" charset="0"/>
            </a:endParaRPr>
          </a:p>
          <a:p>
            <a:pPr algn="l" rtl="0">
              <a:spcBef>
                <a:spcPct val="100000"/>
              </a:spcBef>
              <a:buClr>
                <a:srgbClr val="006600"/>
              </a:buClr>
              <a:buSzPct val="110000"/>
              <a:buFont typeface="Wingdings" pitchFamily="2" charset="2"/>
              <a:buNone/>
            </a:pPr>
            <a:r>
              <a:rPr lang="en-US" altLang="en-US" sz="1800" b="0">
                <a:latin typeface="Arial" panose="020B0604020202020204" pitchFamily="34" charset="0"/>
              </a:rPr>
              <a:t>			V.   </a:t>
            </a:r>
            <a:r>
              <a:rPr lang="en-US" altLang="en-US" sz="1800" b="0">
                <a:latin typeface="Arial" panose="020B0604020202020204" pitchFamily="34" charset="0"/>
                <a:hlinkClick r:id="rId6" action="ppaction://hlinksldjump"/>
              </a:rPr>
              <a:t>Debugging</a:t>
            </a:r>
            <a:endParaRPr lang="en-US" altLang="en-US" sz="1800" b="0">
              <a:latin typeface="Arial" panose="020B0604020202020204" pitchFamily="34" charset="0"/>
            </a:endParaRPr>
          </a:p>
          <a:p>
            <a:pPr algn="l" rtl="0">
              <a:spcBef>
                <a:spcPct val="100000"/>
              </a:spcBef>
              <a:buClr>
                <a:srgbClr val="006600"/>
              </a:buClr>
              <a:buSzPct val="110000"/>
              <a:buFont typeface="Wingdings" pitchFamily="2" charset="2"/>
              <a:buChar char="§"/>
            </a:pPr>
            <a:endParaRPr lang="en-US" altLang="en-US" sz="1800" b="0">
              <a:latin typeface="Arial" panose="020B0604020202020204" pitchFamily="34" charset="0"/>
            </a:endParaRPr>
          </a:p>
          <a:p>
            <a:pPr algn="l" rtl="0">
              <a:spcBef>
                <a:spcPct val="100000"/>
              </a:spcBef>
              <a:buClr>
                <a:srgbClr val="006600"/>
              </a:buClr>
              <a:buSzPct val="110000"/>
              <a:buFont typeface="Wingdings" pitchFamily="2" charset="2"/>
              <a:buChar char="§"/>
            </a:pPr>
            <a:endParaRPr lang="en-US" altLang="en-US" sz="1800" b="0">
              <a:solidFill>
                <a:srgbClr val="000099"/>
              </a:solidFill>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1026">
            <a:extLst>
              <a:ext uri="{FF2B5EF4-FFF2-40B4-BE49-F238E27FC236}">
                <a16:creationId xmlns:a16="http://schemas.microsoft.com/office/drawing/2014/main" id="{63A906C1-1BE6-1F41-BB52-8DE91ED3048E}"/>
              </a:ext>
            </a:extLst>
          </p:cNvPr>
          <p:cNvSpPr>
            <a:spLocks noGrp="1" noChangeArrowheads="1"/>
          </p:cNvSpPr>
          <p:nvPr>
            <p:ph type="title"/>
          </p:nvPr>
        </p:nvSpPr>
        <p:spPr/>
        <p:txBody>
          <a:bodyPr/>
          <a:lstStyle/>
          <a:p>
            <a:r>
              <a:rPr lang="en-US" altLang="en-US"/>
              <a:t>CPU Emulator Tutorial</a:t>
            </a:r>
          </a:p>
        </p:txBody>
      </p:sp>
      <p:pic>
        <p:nvPicPr>
          <p:cNvPr id="136195" name="Picture 1027" descr="G:\PPT Presentations\Pres Training\db Prepared Photos\monitor.jpg">
            <a:extLst>
              <a:ext uri="{FF2B5EF4-FFF2-40B4-BE49-F238E27FC236}">
                <a16:creationId xmlns:a16="http://schemas.microsoft.com/office/drawing/2014/main" id="{2A04F2A6-754B-3C48-A3BA-9ECC504FB3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219200"/>
            <a:ext cx="4572000" cy="4724400"/>
          </a:xfrm>
          <a:prstGeom prst="rect">
            <a:avLst/>
          </a:prstGeom>
          <a:noFill/>
          <a:extLst>
            <a:ext uri="{909E8E84-426E-40DD-AFC4-6F175D3DCCD1}">
              <a14:hiddenFill xmlns:a14="http://schemas.microsoft.com/office/drawing/2010/main">
                <a:solidFill>
                  <a:srgbClr val="FFFFFF"/>
                </a:solidFill>
              </a14:hiddenFill>
            </a:ext>
          </a:extLst>
        </p:spPr>
      </p:pic>
      <p:sp>
        <p:nvSpPr>
          <p:cNvPr id="136196" name="Rectangle 1028">
            <a:extLst>
              <a:ext uri="{FF2B5EF4-FFF2-40B4-BE49-F238E27FC236}">
                <a16:creationId xmlns:a16="http://schemas.microsoft.com/office/drawing/2014/main" id="{68889187-6801-B943-9E07-10BCFC29273C}"/>
              </a:ext>
            </a:extLst>
          </p:cNvPr>
          <p:cNvSpPr>
            <a:spLocks noChangeArrowheads="1"/>
          </p:cNvSpPr>
          <p:nvPr/>
        </p:nvSpPr>
        <p:spPr bwMode="auto">
          <a:xfrm>
            <a:off x="3276600" y="2438400"/>
            <a:ext cx="3048000"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0513" indent="-290513">
              <a:spcBef>
                <a:spcPct val="40000"/>
              </a:spcBef>
              <a:buClr>
                <a:srgbClr val="006600"/>
              </a:buClr>
              <a:buSzPct val="110000"/>
              <a:buFont typeface="Wingdings" pitchFamily="2" charset="2"/>
              <a:buChar char="§"/>
              <a:tabLst>
                <a:tab pos="0" algn="l"/>
              </a:tabLst>
              <a:defRPr sz="2000">
                <a:solidFill>
                  <a:schemeClr val="tx1"/>
                </a:solidFill>
                <a:latin typeface="Arial" panose="020B0604020202020204" pitchFamily="34" charset="0"/>
                <a:cs typeface="Times New Roman (Hebrew)" panose="02020603050405020304" pitchFamily="18" charset="0"/>
              </a:defRPr>
            </a:lvl1pPr>
            <a:lvl2pPr marL="481013">
              <a:spcBef>
                <a:spcPct val="40000"/>
              </a:spcBef>
              <a:buClr>
                <a:srgbClr val="00007A"/>
              </a:buClr>
              <a:buSzPct val="125000"/>
              <a:buChar char="•"/>
              <a:tabLst>
                <a:tab pos="0" algn="l"/>
              </a:tabLst>
              <a:defRPr>
                <a:solidFill>
                  <a:schemeClr val="tx1"/>
                </a:solidFill>
                <a:latin typeface="Arial" panose="020B0604020202020204" pitchFamily="34" charset="0"/>
                <a:cs typeface="Times New Roman (Hebrew)" panose="02020603050405020304" pitchFamily="18" charset="0"/>
              </a:defRPr>
            </a:lvl2pPr>
            <a:lvl3pPr>
              <a:spcBef>
                <a:spcPct val="40000"/>
              </a:spcBef>
              <a:buClr>
                <a:srgbClr val="A50021"/>
              </a:buClr>
              <a:buSzPct val="110000"/>
              <a:buChar char="•"/>
              <a:tabLst>
                <a:tab pos="0" algn="l"/>
              </a:tabLst>
              <a:defRPr sz="1600">
                <a:solidFill>
                  <a:schemeClr val="tx1"/>
                </a:solidFill>
                <a:latin typeface="Arial" panose="020B0604020202020204" pitchFamily="34" charset="0"/>
                <a:cs typeface="Times New Roman (Hebrew)" panose="02020603050405020304" pitchFamily="18" charset="0"/>
              </a:defRPr>
            </a:lvl3pPr>
            <a:lvl4pPr>
              <a:spcBef>
                <a:spcPct val="40000"/>
              </a:spcBef>
              <a:buChar char="–"/>
              <a:tabLst>
                <a:tab pos="0" algn="l"/>
              </a:tabLst>
              <a:defRPr sz="1600">
                <a:solidFill>
                  <a:schemeClr val="tx1"/>
                </a:solidFill>
                <a:latin typeface="Arial" panose="020B0604020202020204" pitchFamily="34" charset="0"/>
                <a:cs typeface="Times New Roman (Hebrew)" panose="02020603050405020304" pitchFamily="18" charset="0"/>
              </a:defRPr>
            </a:lvl4pPr>
            <a:lvl5pPr>
              <a:spcBef>
                <a:spcPct val="40000"/>
              </a:spcBef>
              <a:buChar char="»"/>
              <a:tabLst>
                <a:tab pos="0" algn="l"/>
              </a:tabLst>
              <a:defRPr sz="1600">
                <a:solidFill>
                  <a:schemeClr val="tx1"/>
                </a:solidFill>
                <a:latin typeface="Arial" panose="020B0604020202020204" pitchFamily="34" charset="0"/>
                <a:cs typeface="Times New Roman (Hebrew)" panose="02020603050405020304" pitchFamily="18" charset="0"/>
              </a:defRPr>
            </a:lvl5pPr>
            <a:lvl6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6pPr>
            <a:lvl7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7pPr>
            <a:lvl8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8pPr>
            <a:lvl9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9pPr>
          </a:lstStyle>
          <a:p>
            <a:pPr algn="ctr">
              <a:spcBef>
                <a:spcPct val="60000"/>
              </a:spcBef>
              <a:buFont typeface="Wingdings" pitchFamily="2" charset="2"/>
              <a:buNone/>
            </a:pPr>
            <a:r>
              <a:rPr lang="en-US" altLang="he-IL" sz="2400" u="sng">
                <a:solidFill>
                  <a:srgbClr val="000066"/>
                </a:solidFill>
              </a:rPr>
              <a:t>Part I:</a:t>
            </a:r>
          </a:p>
          <a:p>
            <a:pPr algn="ctr">
              <a:spcBef>
                <a:spcPct val="60000"/>
              </a:spcBef>
              <a:buFont typeface="Wingdings" pitchFamily="2" charset="2"/>
              <a:buNone/>
            </a:pPr>
            <a:r>
              <a:rPr lang="en-US" altLang="he-IL" sz="2400">
                <a:solidFill>
                  <a:srgbClr val="000066"/>
                </a:solidFill>
              </a:rPr>
              <a:t>Basic Platform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71" name="Picture 51">
            <a:extLst>
              <a:ext uri="{FF2B5EF4-FFF2-40B4-BE49-F238E27FC236}">
                <a16:creationId xmlns:a16="http://schemas.microsoft.com/office/drawing/2014/main" id="{6E8DE6CB-05E3-AD46-9559-54F2508ACF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708025"/>
            <a:ext cx="8077200" cy="584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1922" name="Rectangle 2">
            <a:extLst>
              <a:ext uri="{FF2B5EF4-FFF2-40B4-BE49-F238E27FC236}">
                <a16:creationId xmlns:a16="http://schemas.microsoft.com/office/drawing/2014/main" id="{A893A75D-68E6-BE46-8B2D-B27BD34387B7}"/>
              </a:ext>
            </a:extLst>
          </p:cNvPr>
          <p:cNvSpPr>
            <a:spLocks noGrp="1" noChangeArrowheads="1"/>
          </p:cNvSpPr>
          <p:nvPr>
            <p:ph type="title"/>
          </p:nvPr>
        </p:nvSpPr>
        <p:spPr/>
        <p:txBody>
          <a:bodyPr/>
          <a:lstStyle/>
          <a:p>
            <a:r>
              <a:rPr lang="en-US" altLang="en-US"/>
              <a:t>The Hack Computer Platform (simulated)</a:t>
            </a:r>
          </a:p>
        </p:txBody>
      </p:sp>
      <p:grpSp>
        <p:nvGrpSpPr>
          <p:cNvPr id="81970" name="Group 50">
            <a:extLst>
              <a:ext uri="{FF2B5EF4-FFF2-40B4-BE49-F238E27FC236}">
                <a16:creationId xmlns:a16="http://schemas.microsoft.com/office/drawing/2014/main" id="{34EFE7C1-CFE6-E245-860E-960E9A331801}"/>
              </a:ext>
            </a:extLst>
          </p:cNvPr>
          <p:cNvGrpSpPr>
            <a:grpSpLocks/>
          </p:cNvGrpSpPr>
          <p:nvPr/>
        </p:nvGrpSpPr>
        <p:grpSpPr bwMode="auto">
          <a:xfrm>
            <a:off x="2514600" y="1524000"/>
            <a:ext cx="5181600" cy="4495800"/>
            <a:chOff x="1584" y="960"/>
            <a:chExt cx="3264" cy="2832"/>
          </a:xfrm>
        </p:grpSpPr>
        <p:pic>
          <p:nvPicPr>
            <p:cNvPr id="81967" name="Picture 47" descr="C:\Documents and Settings\Administrator\Application Data\Microsoft\Media Catalog\Downloaded Clips\cl31\j0123413.wmf">
              <a:extLst>
                <a:ext uri="{FF2B5EF4-FFF2-40B4-BE49-F238E27FC236}">
                  <a16:creationId xmlns:a16="http://schemas.microsoft.com/office/drawing/2014/main" id="{9F01E33B-5D42-9444-9375-C312458A75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4" y="960"/>
              <a:ext cx="3264" cy="2832"/>
            </a:xfrm>
            <a:prstGeom prst="rect">
              <a:avLst/>
            </a:prstGeom>
            <a:noFill/>
            <a:extLst>
              <a:ext uri="{909E8E84-426E-40DD-AFC4-6F175D3DCCD1}">
                <a14:hiddenFill xmlns:a14="http://schemas.microsoft.com/office/drawing/2010/main">
                  <a:solidFill>
                    <a:srgbClr val="FFFFFF"/>
                  </a:solidFill>
                </a14:hiddenFill>
              </a:ext>
            </a:extLst>
          </p:spPr>
        </p:pic>
        <p:sp>
          <p:nvSpPr>
            <p:cNvPr id="81968" name="Text Box 48">
              <a:extLst>
                <a:ext uri="{FF2B5EF4-FFF2-40B4-BE49-F238E27FC236}">
                  <a16:creationId xmlns:a16="http://schemas.microsoft.com/office/drawing/2014/main" id="{907353EF-8597-B04A-AC1A-DD4DB9165D68}"/>
                </a:ext>
              </a:extLst>
            </p:cNvPr>
            <p:cNvSpPr txBox="1">
              <a:spLocks noChangeArrowheads="1"/>
            </p:cNvSpPr>
            <p:nvPr/>
          </p:nvSpPr>
          <p:spPr bwMode="auto">
            <a:xfrm>
              <a:off x="2160" y="1233"/>
              <a:ext cx="2352" cy="2137"/>
            </a:xfrm>
            <a:prstGeom prst="rect">
              <a:avLst/>
            </a:prstGeom>
            <a:noFill/>
            <a:ln>
              <a:noFill/>
            </a:ln>
            <a:effectLst/>
            <a:extLst>
              <a:ext uri="{909E8E84-426E-40DD-AFC4-6F175D3DCCD1}">
                <a14:hiddenFill xmlns:a14="http://schemas.microsoft.com/office/drawing/2010/main">
                  <a:solidFill>
                    <a:srgbClr val="FFFFC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00007A"/>
                  </a:solidFill>
                </a:rPr>
                <a:t>Travel Advice:  </a:t>
              </a:r>
            </a:p>
            <a:p>
              <a:pPr>
                <a:spcBef>
                  <a:spcPct val="50000"/>
                </a:spcBef>
              </a:pPr>
              <a:r>
                <a:rPr lang="en-US" altLang="en-US" b="0"/>
                <a:t>This tutorial includes some examples of programs written in the Hack machine language (chapter 4).</a:t>
              </a:r>
            </a:p>
            <a:p>
              <a:pPr>
                <a:spcBef>
                  <a:spcPct val="50000"/>
                </a:spcBef>
              </a:pPr>
              <a:r>
                <a:rPr lang="en-US" altLang="en-US" b="0"/>
                <a:t>There is no need however to understand either the language or the programs in order to learn how to use the CPU emulator.</a:t>
              </a:r>
            </a:p>
            <a:p>
              <a:pPr>
                <a:spcBef>
                  <a:spcPct val="50000"/>
                </a:spcBef>
              </a:pPr>
              <a:r>
                <a:rPr lang="en-US" altLang="en-US" b="0"/>
                <a:t>Rather, it is only important to grasp the </a:t>
              </a:r>
              <a:r>
                <a:rPr lang="en-US" altLang="en-US" b="0" i="1"/>
                <a:t>general logic</a:t>
              </a:r>
              <a:r>
                <a:rPr lang="en-US" altLang="en-US" b="0"/>
                <a:t> of these programs, </a:t>
              </a:r>
              <a:br>
                <a:rPr lang="en-US" altLang="en-US" b="0"/>
              </a:br>
              <a:r>
                <a:rPr lang="en-US" altLang="en-US" b="0"/>
                <a:t>as explained (when relevant)</a:t>
              </a:r>
              <a:br>
                <a:rPr lang="en-US" altLang="en-US" b="0"/>
              </a:br>
              <a:r>
                <a:rPr lang="en-US" altLang="en-US" b="0"/>
                <a:t>in the tutorial.</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819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2356" name="Picture 20">
            <a:extLst>
              <a:ext uri="{FF2B5EF4-FFF2-40B4-BE49-F238E27FC236}">
                <a16:creationId xmlns:a16="http://schemas.microsoft.com/office/drawing/2014/main" id="{2E17D299-F369-6B49-974F-44FF3DDE54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708025"/>
            <a:ext cx="8077200" cy="584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2340" name="AutoShape 4">
            <a:extLst>
              <a:ext uri="{FF2B5EF4-FFF2-40B4-BE49-F238E27FC236}">
                <a16:creationId xmlns:a16="http://schemas.microsoft.com/office/drawing/2014/main" id="{F9D03FED-410E-0942-8B21-1604108015C1}"/>
              </a:ext>
            </a:extLst>
          </p:cNvPr>
          <p:cNvSpPr>
            <a:spLocks noChangeArrowheads="1"/>
          </p:cNvSpPr>
          <p:nvPr/>
        </p:nvSpPr>
        <p:spPr bwMode="auto">
          <a:xfrm>
            <a:off x="2895600" y="3048000"/>
            <a:ext cx="1371600" cy="685800"/>
          </a:xfrm>
          <a:prstGeom prst="wedgeRoundRectCallout">
            <a:avLst>
              <a:gd name="adj1" fmla="val -142014"/>
              <a:gd name="adj2" fmla="val -50000"/>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a:solidFill>
                  <a:srgbClr val="00007A"/>
                </a:solidFill>
              </a:rPr>
              <a:t>instruction memory</a:t>
            </a:r>
            <a:endParaRPr lang="en-US" altLang="en-US" b="0"/>
          </a:p>
        </p:txBody>
      </p:sp>
      <p:grpSp>
        <p:nvGrpSpPr>
          <p:cNvPr id="142341" name="Group 5">
            <a:extLst>
              <a:ext uri="{FF2B5EF4-FFF2-40B4-BE49-F238E27FC236}">
                <a16:creationId xmlns:a16="http://schemas.microsoft.com/office/drawing/2014/main" id="{25E6F3AF-CB88-A44E-902C-1E8152A4E8FE}"/>
              </a:ext>
            </a:extLst>
          </p:cNvPr>
          <p:cNvGrpSpPr>
            <a:grpSpLocks/>
          </p:cNvGrpSpPr>
          <p:nvPr/>
        </p:nvGrpSpPr>
        <p:grpSpPr bwMode="auto">
          <a:xfrm>
            <a:off x="1508125" y="4038600"/>
            <a:ext cx="4070350" cy="1524000"/>
            <a:chOff x="950" y="2592"/>
            <a:chExt cx="2564" cy="960"/>
          </a:xfrm>
        </p:grpSpPr>
        <p:sp>
          <p:nvSpPr>
            <p:cNvPr id="142342" name="AutoShape 6">
              <a:extLst>
                <a:ext uri="{FF2B5EF4-FFF2-40B4-BE49-F238E27FC236}">
                  <a16:creationId xmlns:a16="http://schemas.microsoft.com/office/drawing/2014/main" id="{F85F43F3-8969-D94B-A6B5-3C6B3FFCE0AE}"/>
                </a:ext>
              </a:extLst>
            </p:cNvPr>
            <p:cNvSpPr>
              <a:spLocks noChangeArrowheads="1"/>
            </p:cNvSpPr>
            <p:nvPr/>
          </p:nvSpPr>
          <p:spPr bwMode="auto">
            <a:xfrm>
              <a:off x="1300" y="2592"/>
              <a:ext cx="764" cy="288"/>
            </a:xfrm>
            <a:prstGeom prst="roundRect">
              <a:avLst>
                <a:gd name="adj" fmla="val 16667"/>
              </a:avLst>
            </a:prstGeom>
            <a:solidFill>
              <a:srgbClr val="FFFFC5"/>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a:solidFill>
                    <a:srgbClr val="00007A"/>
                  </a:solidFill>
                </a:rPr>
                <a:t>registers</a:t>
              </a:r>
            </a:p>
          </p:txBody>
        </p:sp>
        <p:cxnSp>
          <p:nvCxnSpPr>
            <p:cNvPr id="142343" name="AutoShape 7">
              <a:extLst>
                <a:ext uri="{FF2B5EF4-FFF2-40B4-BE49-F238E27FC236}">
                  <a16:creationId xmlns:a16="http://schemas.microsoft.com/office/drawing/2014/main" id="{461F6015-620D-E049-A3C2-BD619A5D76DD}"/>
                </a:ext>
              </a:extLst>
            </p:cNvPr>
            <p:cNvCxnSpPr>
              <a:cxnSpLocks noChangeShapeType="1"/>
              <a:stCxn id="142342" idx="3"/>
              <a:endCxn id="142344" idx="2"/>
            </p:cNvCxnSpPr>
            <p:nvPr/>
          </p:nvCxnSpPr>
          <p:spPr bwMode="auto">
            <a:xfrm>
              <a:off x="2064" y="2736"/>
              <a:ext cx="1349" cy="0"/>
            </a:xfrm>
            <a:prstGeom prst="straightConnector1">
              <a:avLst/>
            </a:prstGeom>
            <a:noFill/>
            <a:ln w="31750">
              <a:solidFill>
                <a:srgbClr val="BD5201"/>
              </a:solidFill>
              <a:round/>
              <a:headEnd/>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2344" name="Rectangle 8">
              <a:extLst>
                <a:ext uri="{FF2B5EF4-FFF2-40B4-BE49-F238E27FC236}">
                  <a16:creationId xmlns:a16="http://schemas.microsoft.com/office/drawing/2014/main" id="{7C6BFC5E-28FB-BD48-9AC5-51F0C0DB9787}"/>
                </a:ext>
              </a:extLst>
            </p:cNvPr>
            <p:cNvSpPr>
              <a:spLocks noChangeArrowheads="1"/>
            </p:cNvSpPr>
            <p:nvPr/>
          </p:nvSpPr>
          <p:spPr bwMode="auto">
            <a:xfrm>
              <a:off x="3312" y="2592"/>
              <a:ext cx="202"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000" b="0">
                <a:solidFill>
                  <a:schemeClr val="tx2"/>
                </a:solidFill>
              </a:endParaRPr>
            </a:p>
          </p:txBody>
        </p:sp>
        <p:cxnSp>
          <p:nvCxnSpPr>
            <p:cNvPr id="142345" name="AutoShape 9">
              <a:extLst>
                <a:ext uri="{FF2B5EF4-FFF2-40B4-BE49-F238E27FC236}">
                  <a16:creationId xmlns:a16="http://schemas.microsoft.com/office/drawing/2014/main" id="{EB038060-CE4F-374F-8AD3-6B11F0D742D0}"/>
                </a:ext>
              </a:extLst>
            </p:cNvPr>
            <p:cNvCxnSpPr>
              <a:cxnSpLocks noChangeShapeType="1"/>
              <a:stCxn id="142342" idx="2"/>
              <a:endCxn id="142346" idx="2"/>
            </p:cNvCxnSpPr>
            <p:nvPr/>
          </p:nvCxnSpPr>
          <p:spPr bwMode="auto">
            <a:xfrm>
              <a:off x="1682" y="2880"/>
              <a:ext cx="473" cy="672"/>
            </a:xfrm>
            <a:prstGeom prst="straightConnector1">
              <a:avLst/>
            </a:prstGeom>
            <a:noFill/>
            <a:ln w="31750">
              <a:solidFill>
                <a:srgbClr val="BD5201"/>
              </a:solidFill>
              <a:round/>
              <a:headEnd/>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2346" name="Rectangle 10">
              <a:extLst>
                <a:ext uri="{FF2B5EF4-FFF2-40B4-BE49-F238E27FC236}">
                  <a16:creationId xmlns:a16="http://schemas.microsoft.com/office/drawing/2014/main" id="{94B5ABC4-8129-2D43-B7D1-EA9543053B29}"/>
                </a:ext>
              </a:extLst>
            </p:cNvPr>
            <p:cNvSpPr>
              <a:spLocks noChangeArrowheads="1"/>
            </p:cNvSpPr>
            <p:nvPr/>
          </p:nvSpPr>
          <p:spPr bwMode="auto">
            <a:xfrm>
              <a:off x="2054" y="3408"/>
              <a:ext cx="202"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000" b="0">
                <a:solidFill>
                  <a:schemeClr val="tx2"/>
                </a:solidFill>
              </a:endParaRPr>
            </a:p>
          </p:txBody>
        </p:sp>
        <p:cxnSp>
          <p:nvCxnSpPr>
            <p:cNvPr id="142347" name="AutoShape 11">
              <a:extLst>
                <a:ext uri="{FF2B5EF4-FFF2-40B4-BE49-F238E27FC236}">
                  <a16:creationId xmlns:a16="http://schemas.microsoft.com/office/drawing/2014/main" id="{95C47A97-B376-F24F-B2C2-42545622DBCA}"/>
                </a:ext>
              </a:extLst>
            </p:cNvPr>
            <p:cNvCxnSpPr>
              <a:cxnSpLocks noChangeShapeType="1"/>
              <a:stCxn id="142342" idx="2"/>
              <a:endCxn id="142348" idx="2"/>
            </p:cNvCxnSpPr>
            <p:nvPr/>
          </p:nvCxnSpPr>
          <p:spPr bwMode="auto">
            <a:xfrm flipH="1">
              <a:off x="1051" y="2880"/>
              <a:ext cx="631" cy="672"/>
            </a:xfrm>
            <a:prstGeom prst="straightConnector1">
              <a:avLst/>
            </a:prstGeom>
            <a:noFill/>
            <a:ln w="31750">
              <a:solidFill>
                <a:srgbClr val="BD5201"/>
              </a:solidFill>
              <a:round/>
              <a:headEnd/>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2348" name="Rectangle 12">
              <a:extLst>
                <a:ext uri="{FF2B5EF4-FFF2-40B4-BE49-F238E27FC236}">
                  <a16:creationId xmlns:a16="http://schemas.microsoft.com/office/drawing/2014/main" id="{81214C63-D249-2B43-98D4-4C011253F536}"/>
                </a:ext>
              </a:extLst>
            </p:cNvPr>
            <p:cNvSpPr>
              <a:spLocks noChangeArrowheads="1"/>
            </p:cNvSpPr>
            <p:nvPr/>
          </p:nvSpPr>
          <p:spPr bwMode="auto">
            <a:xfrm>
              <a:off x="950" y="3408"/>
              <a:ext cx="202"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000" b="0">
                <a:solidFill>
                  <a:schemeClr val="tx2"/>
                </a:solidFill>
              </a:endParaRPr>
            </a:p>
          </p:txBody>
        </p:sp>
      </p:grpSp>
      <p:sp>
        <p:nvSpPr>
          <p:cNvPr id="142349" name="AutoShape 13">
            <a:extLst>
              <a:ext uri="{FF2B5EF4-FFF2-40B4-BE49-F238E27FC236}">
                <a16:creationId xmlns:a16="http://schemas.microsoft.com/office/drawing/2014/main" id="{C8A67C21-79DE-5B49-BF98-E75C485B7ACD}"/>
              </a:ext>
            </a:extLst>
          </p:cNvPr>
          <p:cNvSpPr>
            <a:spLocks noChangeArrowheads="1"/>
          </p:cNvSpPr>
          <p:nvPr/>
        </p:nvSpPr>
        <p:spPr bwMode="auto">
          <a:xfrm>
            <a:off x="6324600" y="2743200"/>
            <a:ext cx="1219200" cy="685800"/>
          </a:xfrm>
          <a:prstGeom prst="wedgeRoundRectCallout">
            <a:avLst>
              <a:gd name="adj1" fmla="val -82944"/>
              <a:gd name="adj2" fmla="val 109722"/>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46800" bIns="118800"/>
          <a:lstStyle/>
          <a:p>
            <a:r>
              <a:rPr lang="en-US" altLang="en-US">
                <a:solidFill>
                  <a:srgbClr val="00007A"/>
                </a:solidFill>
              </a:rPr>
              <a:t>keyboard enabler</a:t>
            </a:r>
            <a:endParaRPr lang="en-US" altLang="en-US" b="0"/>
          </a:p>
        </p:txBody>
      </p:sp>
      <p:sp>
        <p:nvSpPr>
          <p:cNvPr id="142350" name="AutoShape 14">
            <a:extLst>
              <a:ext uri="{FF2B5EF4-FFF2-40B4-BE49-F238E27FC236}">
                <a16:creationId xmlns:a16="http://schemas.microsoft.com/office/drawing/2014/main" id="{7D8C17F1-B984-9646-98EB-499E79DC76F5}"/>
              </a:ext>
            </a:extLst>
          </p:cNvPr>
          <p:cNvSpPr>
            <a:spLocks noChangeArrowheads="1"/>
          </p:cNvSpPr>
          <p:nvPr/>
        </p:nvSpPr>
        <p:spPr bwMode="auto">
          <a:xfrm>
            <a:off x="6858000" y="1295400"/>
            <a:ext cx="1219200" cy="533400"/>
          </a:xfrm>
          <a:prstGeom prst="wedgeRoundRectCallout">
            <a:avLst>
              <a:gd name="adj1" fmla="val -82944"/>
              <a:gd name="adj2" fmla="val 155356"/>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118800" bIns="118800"/>
          <a:lstStyle/>
          <a:p>
            <a:r>
              <a:rPr lang="en-US" altLang="en-US">
                <a:solidFill>
                  <a:srgbClr val="00007A"/>
                </a:solidFill>
              </a:rPr>
              <a:t>screen</a:t>
            </a:r>
            <a:endParaRPr lang="en-US" altLang="en-US" b="0"/>
          </a:p>
        </p:txBody>
      </p:sp>
      <p:sp>
        <p:nvSpPr>
          <p:cNvPr id="142351" name="AutoShape 15">
            <a:extLst>
              <a:ext uri="{FF2B5EF4-FFF2-40B4-BE49-F238E27FC236}">
                <a16:creationId xmlns:a16="http://schemas.microsoft.com/office/drawing/2014/main" id="{16AE819D-7CE0-3541-8E08-68B415F69E4E}"/>
              </a:ext>
            </a:extLst>
          </p:cNvPr>
          <p:cNvSpPr>
            <a:spLocks noChangeArrowheads="1"/>
          </p:cNvSpPr>
          <p:nvPr/>
        </p:nvSpPr>
        <p:spPr bwMode="auto">
          <a:xfrm>
            <a:off x="4572000" y="2286000"/>
            <a:ext cx="1143000" cy="685800"/>
          </a:xfrm>
          <a:prstGeom prst="wedgeRoundRectCallout">
            <a:avLst>
              <a:gd name="adj1" fmla="val -160417"/>
              <a:gd name="adj2" fmla="val -50000"/>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a:solidFill>
                  <a:srgbClr val="00007A"/>
                </a:solidFill>
              </a:rPr>
              <a:t>data</a:t>
            </a:r>
            <a:br>
              <a:rPr lang="en-US" altLang="en-US">
                <a:solidFill>
                  <a:srgbClr val="00007A"/>
                </a:solidFill>
              </a:rPr>
            </a:br>
            <a:r>
              <a:rPr lang="en-US" altLang="en-US">
                <a:solidFill>
                  <a:srgbClr val="00007A"/>
                </a:solidFill>
              </a:rPr>
              <a:t>memory</a:t>
            </a:r>
            <a:endParaRPr lang="en-US" altLang="en-US" b="0"/>
          </a:p>
        </p:txBody>
      </p:sp>
      <p:sp>
        <p:nvSpPr>
          <p:cNvPr id="142352" name="AutoShape 16">
            <a:extLst>
              <a:ext uri="{FF2B5EF4-FFF2-40B4-BE49-F238E27FC236}">
                <a16:creationId xmlns:a16="http://schemas.microsoft.com/office/drawing/2014/main" id="{AE2F6B26-EE6F-4149-A65F-E01EAD0FE75D}"/>
              </a:ext>
            </a:extLst>
          </p:cNvPr>
          <p:cNvSpPr>
            <a:spLocks noChangeArrowheads="1"/>
          </p:cNvSpPr>
          <p:nvPr/>
        </p:nvSpPr>
        <p:spPr bwMode="auto">
          <a:xfrm>
            <a:off x="7315200" y="3886200"/>
            <a:ext cx="762000" cy="533400"/>
          </a:xfrm>
          <a:prstGeom prst="wedgeRoundRectCallout">
            <a:avLst>
              <a:gd name="adj1" fmla="val -102708"/>
              <a:gd name="adj2" fmla="val 155356"/>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118800" bIns="118800"/>
          <a:lstStyle/>
          <a:p>
            <a:r>
              <a:rPr lang="en-US" altLang="en-US">
                <a:solidFill>
                  <a:srgbClr val="00007A"/>
                </a:solidFill>
              </a:rPr>
              <a:t>ALU</a:t>
            </a:r>
            <a:endParaRPr lang="en-US" altLang="en-US" b="0"/>
          </a:p>
        </p:txBody>
      </p:sp>
      <p:sp>
        <p:nvSpPr>
          <p:cNvPr id="142355" name="Rectangle 19">
            <a:extLst>
              <a:ext uri="{FF2B5EF4-FFF2-40B4-BE49-F238E27FC236}">
                <a16:creationId xmlns:a16="http://schemas.microsoft.com/office/drawing/2014/main" id="{4932DE8E-DFD3-684B-804A-D41AB739200F}"/>
              </a:ext>
            </a:extLst>
          </p:cNvPr>
          <p:cNvSpPr>
            <a:spLocks noGrp="1" noChangeArrowheads="1"/>
          </p:cNvSpPr>
          <p:nvPr>
            <p:ph type="title"/>
          </p:nvPr>
        </p:nvSpPr>
        <p:spPr>
          <a:noFill/>
          <a:ln/>
        </p:spPr>
        <p:txBody>
          <a:bodyPr/>
          <a:lstStyle/>
          <a:p>
            <a:r>
              <a:rPr lang="en-US" altLang="en-US"/>
              <a:t>The Hack Computer Platform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234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4235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4234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4235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4235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423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40" grpId="0" animBg="1" autoUpdateAnimBg="0"/>
      <p:bldP spid="142349" grpId="0" animBg="1" autoUpdateAnimBg="0"/>
      <p:bldP spid="142350" grpId="0" animBg="1" autoUpdateAnimBg="0"/>
      <p:bldP spid="142351" grpId="0" animBg="1" autoUpdateAnimBg="0"/>
      <p:bldP spid="142352"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90" name="Picture 1050">
            <a:extLst>
              <a:ext uri="{FF2B5EF4-FFF2-40B4-BE49-F238E27FC236}">
                <a16:creationId xmlns:a16="http://schemas.microsoft.com/office/drawing/2014/main" id="{E183EED9-B06A-B843-B456-DE66FDA46F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708025"/>
            <a:ext cx="8077200" cy="584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8066" name="Rectangle 1026">
            <a:extLst>
              <a:ext uri="{FF2B5EF4-FFF2-40B4-BE49-F238E27FC236}">
                <a16:creationId xmlns:a16="http://schemas.microsoft.com/office/drawing/2014/main" id="{C5866B1D-FFAA-B849-86B5-3A8C35DAE231}"/>
              </a:ext>
            </a:extLst>
          </p:cNvPr>
          <p:cNvSpPr>
            <a:spLocks noGrp="1" noChangeArrowheads="1"/>
          </p:cNvSpPr>
          <p:nvPr>
            <p:ph type="title"/>
          </p:nvPr>
        </p:nvSpPr>
        <p:spPr/>
        <p:txBody>
          <a:bodyPr/>
          <a:lstStyle/>
          <a:p>
            <a:r>
              <a:rPr lang="en-US" altLang="en-US"/>
              <a:t>Instruction memory</a:t>
            </a:r>
          </a:p>
        </p:txBody>
      </p:sp>
      <p:sp>
        <p:nvSpPr>
          <p:cNvPr id="88068" name="AutoShape 1028">
            <a:extLst>
              <a:ext uri="{FF2B5EF4-FFF2-40B4-BE49-F238E27FC236}">
                <a16:creationId xmlns:a16="http://schemas.microsoft.com/office/drawing/2014/main" id="{74AFA439-8CF6-EB4B-B0AD-161BFC1FA607}"/>
              </a:ext>
            </a:extLst>
          </p:cNvPr>
          <p:cNvSpPr>
            <a:spLocks noChangeArrowheads="1"/>
          </p:cNvSpPr>
          <p:nvPr/>
        </p:nvSpPr>
        <p:spPr bwMode="auto">
          <a:xfrm>
            <a:off x="3276600" y="2895600"/>
            <a:ext cx="2514600" cy="914400"/>
          </a:xfrm>
          <a:prstGeom prst="wedgeRoundRectCallout">
            <a:avLst>
              <a:gd name="adj1" fmla="val -114394"/>
              <a:gd name="adj2" fmla="val -56426"/>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a:solidFill>
                  <a:srgbClr val="00007A"/>
                </a:solidFill>
              </a:rPr>
              <a:t>Instruction memory</a:t>
            </a:r>
            <a:r>
              <a:rPr lang="en-US" altLang="en-US" b="0"/>
              <a:t> (32K): Holds a machine language program</a:t>
            </a:r>
          </a:p>
        </p:txBody>
      </p:sp>
      <p:grpSp>
        <p:nvGrpSpPr>
          <p:cNvPr id="88071" name="Group 1031">
            <a:extLst>
              <a:ext uri="{FF2B5EF4-FFF2-40B4-BE49-F238E27FC236}">
                <a16:creationId xmlns:a16="http://schemas.microsoft.com/office/drawing/2014/main" id="{F28B94CA-E0B4-9343-ABF0-B3EEFF37237C}"/>
              </a:ext>
            </a:extLst>
          </p:cNvPr>
          <p:cNvGrpSpPr>
            <a:grpSpLocks/>
          </p:cNvGrpSpPr>
          <p:nvPr/>
        </p:nvGrpSpPr>
        <p:grpSpPr bwMode="auto">
          <a:xfrm>
            <a:off x="962025" y="1600200"/>
            <a:ext cx="4448175" cy="1066800"/>
            <a:chOff x="606" y="1008"/>
            <a:chExt cx="2802" cy="672"/>
          </a:xfrm>
        </p:grpSpPr>
        <p:sp>
          <p:nvSpPr>
            <p:cNvPr id="88072" name="AutoShape 1032">
              <a:extLst>
                <a:ext uri="{FF2B5EF4-FFF2-40B4-BE49-F238E27FC236}">
                  <a16:creationId xmlns:a16="http://schemas.microsoft.com/office/drawing/2014/main" id="{6AF87153-65EF-E74E-80FB-3E996EC743A1}"/>
                </a:ext>
              </a:extLst>
            </p:cNvPr>
            <p:cNvSpPr>
              <a:spLocks noChangeArrowheads="1"/>
            </p:cNvSpPr>
            <p:nvPr/>
          </p:nvSpPr>
          <p:spPr bwMode="auto">
            <a:xfrm>
              <a:off x="1824" y="1152"/>
              <a:ext cx="1584" cy="528"/>
            </a:xfrm>
            <a:prstGeom prst="roundRect">
              <a:avLst>
                <a:gd name="adj" fmla="val 16667"/>
              </a:avLst>
            </a:prstGeom>
            <a:solidFill>
              <a:srgbClr val="FFDDC3"/>
            </a:solidFill>
            <a:ln w="19050">
              <a:solidFill>
                <a:srgbClr val="BD520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0800" rIns="54000" bIns="10800" anchor="ctr"/>
            <a:lstStyle/>
            <a:p>
              <a:pPr eaLnBrk="0" hangingPunct="0"/>
              <a:r>
                <a:rPr lang="en-US" altLang="en-US" sz="1200">
                  <a:solidFill>
                    <a:srgbClr val="800000"/>
                  </a:solidFill>
                  <a:cs typeface="Times New Roman (Hebrew)" panose="02020603050405020304" pitchFamily="18" charset="0"/>
                </a:rPr>
                <a:t>The loaded code can be viewed</a:t>
              </a:r>
              <a:br>
                <a:rPr lang="en-US" altLang="en-US" sz="1200">
                  <a:solidFill>
                    <a:srgbClr val="800000"/>
                  </a:solidFill>
                  <a:cs typeface="Times New Roman (Hebrew)" panose="02020603050405020304" pitchFamily="18" charset="0"/>
                </a:rPr>
              </a:br>
              <a:r>
                <a:rPr lang="en-US" altLang="en-US" sz="1200">
                  <a:solidFill>
                    <a:srgbClr val="800000"/>
                  </a:solidFill>
                  <a:cs typeface="Times New Roman (Hebrew)" panose="02020603050405020304" pitchFamily="18" charset="0"/>
                </a:rPr>
                <a:t>either in binary, or in symbolic notation (present view)</a:t>
              </a:r>
            </a:p>
          </p:txBody>
        </p:sp>
        <p:cxnSp>
          <p:nvCxnSpPr>
            <p:cNvPr id="88073" name="AutoShape 1033">
              <a:extLst>
                <a:ext uri="{FF2B5EF4-FFF2-40B4-BE49-F238E27FC236}">
                  <a16:creationId xmlns:a16="http://schemas.microsoft.com/office/drawing/2014/main" id="{642AB76F-A10C-5648-AE8C-D3F16E4AFB05}"/>
                </a:ext>
              </a:extLst>
            </p:cNvPr>
            <p:cNvCxnSpPr>
              <a:cxnSpLocks noChangeShapeType="1"/>
              <a:stCxn id="88072" idx="1"/>
              <a:endCxn id="88075" idx="5"/>
            </p:cNvCxnSpPr>
            <p:nvPr/>
          </p:nvCxnSpPr>
          <p:spPr bwMode="auto">
            <a:xfrm flipH="1" flipV="1">
              <a:off x="908" y="1224"/>
              <a:ext cx="910" cy="192"/>
            </a:xfrm>
            <a:prstGeom prst="straightConnector1">
              <a:avLst/>
            </a:prstGeom>
            <a:noFill/>
            <a:ln w="19050">
              <a:solidFill>
                <a:srgbClr val="BD520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8074" name="Rectangle 1034">
              <a:extLst>
                <a:ext uri="{FF2B5EF4-FFF2-40B4-BE49-F238E27FC236}">
                  <a16:creationId xmlns:a16="http://schemas.microsoft.com/office/drawing/2014/main" id="{ADAE745B-AA15-9042-B87E-E4A0DBD759A7}"/>
                </a:ext>
              </a:extLst>
            </p:cNvPr>
            <p:cNvSpPr>
              <a:spLocks noChangeArrowheads="1"/>
            </p:cNvSpPr>
            <p:nvPr/>
          </p:nvSpPr>
          <p:spPr bwMode="auto">
            <a:xfrm>
              <a:off x="854" y="1056"/>
              <a:ext cx="202"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000" b="0">
                <a:solidFill>
                  <a:schemeClr val="tx2"/>
                </a:solidFill>
              </a:endParaRPr>
            </a:p>
          </p:txBody>
        </p:sp>
        <p:sp>
          <p:nvSpPr>
            <p:cNvPr id="88075" name="Oval 1035">
              <a:extLst>
                <a:ext uri="{FF2B5EF4-FFF2-40B4-BE49-F238E27FC236}">
                  <a16:creationId xmlns:a16="http://schemas.microsoft.com/office/drawing/2014/main" id="{A514ADFA-9D7C-744A-AFE9-83E902F27AFC}"/>
                </a:ext>
              </a:extLst>
            </p:cNvPr>
            <p:cNvSpPr>
              <a:spLocks noChangeArrowheads="1"/>
            </p:cNvSpPr>
            <p:nvPr/>
          </p:nvSpPr>
          <p:spPr bwMode="auto">
            <a:xfrm>
              <a:off x="606" y="1008"/>
              <a:ext cx="354" cy="240"/>
            </a:xfrm>
            <a:prstGeom prst="ellipse">
              <a:avLst/>
            </a:prstGeom>
            <a:noFill/>
            <a:ln w="34925">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88078" name="Group 1038">
            <a:extLst>
              <a:ext uri="{FF2B5EF4-FFF2-40B4-BE49-F238E27FC236}">
                <a16:creationId xmlns:a16="http://schemas.microsoft.com/office/drawing/2014/main" id="{DD00C0CE-1715-A04E-8E8A-2356D2CA0D34}"/>
              </a:ext>
            </a:extLst>
          </p:cNvPr>
          <p:cNvGrpSpPr>
            <a:grpSpLocks/>
          </p:cNvGrpSpPr>
          <p:nvPr/>
        </p:nvGrpSpPr>
        <p:grpSpPr bwMode="auto">
          <a:xfrm>
            <a:off x="1447800" y="5334000"/>
            <a:ext cx="5029200" cy="762000"/>
            <a:chOff x="912" y="3360"/>
            <a:chExt cx="3168" cy="480"/>
          </a:xfrm>
        </p:grpSpPr>
        <p:sp>
          <p:nvSpPr>
            <p:cNvPr id="88069" name="AutoShape 1029">
              <a:extLst>
                <a:ext uri="{FF2B5EF4-FFF2-40B4-BE49-F238E27FC236}">
                  <a16:creationId xmlns:a16="http://schemas.microsoft.com/office/drawing/2014/main" id="{BE35DBEC-C686-8342-9B87-57F58C48EE1A}"/>
                </a:ext>
              </a:extLst>
            </p:cNvPr>
            <p:cNvSpPr>
              <a:spLocks noChangeArrowheads="1"/>
            </p:cNvSpPr>
            <p:nvPr/>
          </p:nvSpPr>
          <p:spPr bwMode="auto">
            <a:xfrm>
              <a:off x="1968" y="3408"/>
              <a:ext cx="2112" cy="432"/>
            </a:xfrm>
            <a:prstGeom prst="wedgeRoundRectCallout">
              <a:avLst>
                <a:gd name="adj1" fmla="val -78597"/>
                <a:gd name="adj2" fmla="val -14583"/>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a:solidFill>
                    <a:srgbClr val="00007A"/>
                  </a:solidFill>
                </a:rPr>
                <a:t>Program counter</a:t>
              </a:r>
              <a:r>
                <a:rPr lang="en-US" altLang="en-US" b="0"/>
                <a:t> (</a:t>
              </a:r>
              <a:r>
                <a:rPr lang="en-US" altLang="en-US">
                  <a:solidFill>
                    <a:srgbClr val="00007A"/>
                  </a:solidFill>
                </a:rPr>
                <a:t>PC</a:t>
              </a:r>
              <a:r>
                <a:rPr lang="en-US" altLang="en-US" b="0"/>
                <a:t>) (16-bit): </a:t>
              </a:r>
              <a:br>
                <a:rPr lang="en-US" altLang="en-US" b="0"/>
              </a:br>
              <a:r>
                <a:rPr lang="en-US" altLang="en-US" b="0"/>
                <a:t>Selects the next instruction.</a:t>
              </a:r>
            </a:p>
          </p:txBody>
        </p:sp>
        <p:sp>
          <p:nvSpPr>
            <p:cNvPr id="88077" name="AutoShape 1037">
              <a:extLst>
                <a:ext uri="{FF2B5EF4-FFF2-40B4-BE49-F238E27FC236}">
                  <a16:creationId xmlns:a16="http://schemas.microsoft.com/office/drawing/2014/main" id="{C5484B4D-5E27-1B49-96CB-58948DDA7723}"/>
                </a:ext>
              </a:extLst>
            </p:cNvPr>
            <p:cNvSpPr>
              <a:spLocks noChangeArrowheads="1"/>
            </p:cNvSpPr>
            <p:nvPr/>
          </p:nvSpPr>
          <p:spPr bwMode="auto">
            <a:xfrm>
              <a:off x="912" y="3360"/>
              <a:ext cx="144" cy="240"/>
            </a:xfrm>
            <a:prstGeom prst="upArrow">
              <a:avLst>
                <a:gd name="adj1" fmla="val 50000"/>
                <a:gd name="adj2" fmla="val 41667"/>
              </a:avLst>
            </a:prstGeom>
            <a:solidFill>
              <a:srgbClr val="FF7757"/>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88089" name="Group 1049">
            <a:extLst>
              <a:ext uri="{FF2B5EF4-FFF2-40B4-BE49-F238E27FC236}">
                <a16:creationId xmlns:a16="http://schemas.microsoft.com/office/drawing/2014/main" id="{78314934-1C2E-8643-9BE7-209BB56BC23B}"/>
              </a:ext>
            </a:extLst>
          </p:cNvPr>
          <p:cNvGrpSpPr>
            <a:grpSpLocks/>
          </p:cNvGrpSpPr>
          <p:nvPr/>
        </p:nvGrpSpPr>
        <p:grpSpPr bwMode="auto">
          <a:xfrm>
            <a:off x="533400" y="3657600"/>
            <a:ext cx="3629025" cy="1219200"/>
            <a:chOff x="336" y="2064"/>
            <a:chExt cx="2286" cy="768"/>
          </a:xfrm>
        </p:grpSpPr>
        <p:sp>
          <p:nvSpPr>
            <p:cNvPr id="88085" name="AutoShape 1045">
              <a:extLst>
                <a:ext uri="{FF2B5EF4-FFF2-40B4-BE49-F238E27FC236}">
                  <a16:creationId xmlns:a16="http://schemas.microsoft.com/office/drawing/2014/main" id="{AE760DF2-9ABF-DB4E-AEE9-9ADA0AFB38E3}"/>
                </a:ext>
              </a:extLst>
            </p:cNvPr>
            <p:cNvSpPr>
              <a:spLocks noChangeArrowheads="1"/>
            </p:cNvSpPr>
            <p:nvPr/>
          </p:nvSpPr>
          <p:spPr bwMode="auto">
            <a:xfrm>
              <a:off x="1536" y="2496"/>
              <a:ext cx="1086" cy="336"/>
            </a:xfrm>
            <a:prstGeom prst="roundRect">
              <a:avLst>
                <a:gd name="adj" fmla="val 16667"/>
              </a:avLst>
            </a:prstGeom>
            <a:solidFill>
              <a:srgbClr val="FFDDC3"/>
            </a:solidFill>
            <a:ln w="19050">
              <a:solidFill>
                <a:srgbClr val="BD520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0800" rIns="54000" bIns="10800" anchor="ctr"/>
            <a:lstStyle/>
            <a:p>
              <a:pPr eaLnBrk="0" hangingPunct="0"/>
              <a:r>
                <a:rPr lang="en-US" altLang="en-US" sz="1200">
                  <a:solidFill>
                    <a:srgbClr val="800000"/>
                  </a:solidFill>
                  <a:cs typeface="Times New Roman (Hebrew)" panose="02020603050405020304" pitchFamily="18" charset="0"/>
                </a:rPr>
                <a:t>Next instruction</a:t>
              </a:r>
              <a:br>
                <a:rPr lang="en-US" altLang="en-US" sz="1200">
                  <a:solidFill>
                    <a:srgbClr val="800000"/>
                  </a:solidFill>
                  <a:cs typeface="Times New Roman (Hebrew)" panose="02020603050405020304" pitchFamily="18" charset="0"/>
                </a:rPr>
              </a:br>
              <a:r>
                <a:rPr lang="en-US" altLang="en-US" sz="1200">
                  <a:solidFill>
                    <a:srgbClr val="800000"/>
                  </a:solidFill>
                  <a:cs typeface="Times New Roman (Hebrew)" panose="02020603050405020304" pitchFamily="18" charset="0"/>
                </a:rPr>
                <a:t>is highlighted</a:t>
              </a:r>
            </a:p>
          </p:txBody>
        </p:sp>
        <p:cxnSp>
          <p:nvCxnSpPr>
            <p:cNvPr id="88086" name="AutoShape 1046">
              <a:extLst>
                <a:ext uri="{FF2B5EF4-FFF2-40B4-BE49-F238E27FC236}">
                  <a16:creationId xmlns:a16="http://schemas.microsoft.com/office/drawing/2014/main" id="{72A2E9F1-DA00-A042-929A-1E8E64C7D6D7}"/>
                </a:ext>
              </a:extLst>
            </p:cNvPr>
            <p:cNvCxnSpPr>
              <a:cxnSpLocks noChangeShapeType="1"/>
              <a:stCxn id="88085" idx="1"/>
            </p:cNvCxnSpPr>
            <p:nvPr/>
          </p:nvCxnSpPr>
          <p:spPr bwMode="auto">
            <a:xfrm flipH="1" flipV="1">
              <a:off x="768" y="2304"/>
              <a:ext cx="762" cy="360"/>
            </a:xfrm>
            <a:prstGeom prst="straightConnector1">
              <a:avLst/>
            </a:prstGeom>
            <a:noFill/>
            <a:ln w="19050">
              <a:solidFill>
                <a:srgbClr val="BD520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8088" name="Oval 1048">
              <a:extLst>
                <a:ext uri="{FF2B5EF4-FFF2-40B4-BE49-F238E27FC236}">
                  <a16:creationId xmlns:a16="http://schemas.microsoft.com/office/drawing/2014/main" id="{288E5D8F-7B1E-2241-8E59-EAFE8664E6CB}"/>
                </a:ext>
              </a:extLst>
            </p:cNvPr>
            <p:cNvSpPr>
              <a:spLocks noChangeArrowheads="1"/>
            </p:cNvSpPr>
            <p:nvPr/>
          </p:nvSpPr>
          <p:spPr bwMode="auto">
            <a:xfrm>
              <a:off x="336" y="2064"/>
              <a:ext cx="1104" cy="240"/>
            </a:xfrm>
            <a:prstGeom prst="ellipse">
              <a:avLst/>
            </a:prstGeom>
            <a:noFill/>
            <a:ln w="34925">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8807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8808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880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63" name="Picture 19">
            <a:extLst>
              <a:ext uri="{FF2B5EF4-FFF2-40B4-BE49-F238E27FC236}">
                <a16:creationId xmlns:a16="http://schemas.microsoft.com/office/drawing/2014/main" id="{271C458A-918F-9F43-9FAE-3D22AC45B8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708025"/>
            <a:ext cx="8077200" cy="584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946" name="Rectangle 2">
            <a:extLst>
              <a:ext uri="{FF2B5EF4-FFF2-40B4-BE49-F238E27FC236}">
                <a16:creationId xmlns:a16="http://schemas.microsoft.com/office/drawing/2014/main" id="{D6434D87-73F6-AA46-9C9F-30F6EF5A26F2}"/>
              </a:ext>
            </a:extLst>
          </p:cNvPr>
          <p:cNvSpPr>
            <a:spLocks noGrp="1" noChangeArrowheads="1"/>
          </p:cNvSpPr>
          <p:nvPr>
            <p:ph type="title"/>
          </p:nvPr>
        </p:nvSpPr>
        <p:spPr/>
        <p:txBody>
          <a:bodyPr/>
          <a:lstStyle/>
          <a:p>
            <a:r>
              <a:rPr lang="en-US" altLang="en-US"/>
              <a:t>Data memory (RAM)</a:t>
            </a:r>
          </a:p>
        </p:txBody>
      </p:sp>
      <p:sp>
        <p:nvSpPr>
          <p:cNvPr id="82952" name="AutoShape 8">
            <a:extLst>
              <a:ext uri="{FF2B5EF4-FFF2-40B4-BE49-F238E27FC236}">
                <a16:creationId xmlns:a16="http://schemas.microsoft.com/office/drawing/2014/main" id="{85EF9DB8-8D0F-D844-B75A-D80C0C15ABD1}"/>
              </a:ext>
            </a:extLst>
          </p:cNvPr>
          <p:cNvSpPr>
            <a:spLocks noChangeArrowheads="1"/>
          </p:cNvSpPr>
          <p:nvPr/>
        </p:nvSpPr>
        <p:spPr bwMode="auto">
          <a:xfrm>
            <a:off x="4572000" y="1828800"/>
            <a:ext cx="3962400" cy="1676400"/>
          </a:xfrm>
          <a:prstGeom prst="wedgeRoundRectCallout">
            <a:avLst>
              <a:gd name="adj1" fmla="val -77764"/>
              <a:gd name="adj2" fmla="val 63542"/>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a:solidFill>
                  <a:srgbClr val="00007A"/>
                </a:solidFill>
              </a:rPr>
              <a:t>Data memory</a:t>
            </a:r>
            <a:r>
              <a:rPr lang="en-US" altLang="en-US" b="0"/>
              <a:t> (32K RAM), used for:</a:t>
            </a:r>
          </a:p>
          <a:p>
            <a:pPr>
              <a:spcBef>
                <a:spcPct val="25000"/>
              </a:spcBef>
              <a:buClr>
                <a:srgbClr val="006600"/>
              </a:buClr>
              <a:buFont typeface="Wingdings" pitchFamily="2" charset="2"/>
              <a:buChar char="§"/>
            </a:pPr>
            <a:r>
              <a:rPr lang="en-US" altLang="en-US" b="0"/>
              <a:t> General-purpose data storage</a:t>
            </a:r>
            <a:br>
              <a:rPr lang="en-US" altLang="en-US" b="0"/>
            </a:br>
            <a:r>
              <a:rPr lang="en-US" altLang="en-US" b="0"/>
              <a:t>  (variables, arrays, objects, etc.)</a:t>
            </a:r>
          </a:p>
          <a:p>
            <a:pPr>
              <a:spcBef>
                <a:spcPct val="25000"/>
              </a:spcBef>
              <a:buClr>
                <a:srgbClr val="006600"/>
              </a:buClr>
              <a:buFont typeface="Wingdings" pitchFamily="2" charset="2"/>
              <a:buChar char="§"/>
            </a:pPr>
            <a:r>
              <a:rPr lang="en-US" altLang="en-US" b="0"/>
              <a:t> Screen memory map</a:t>
            </a:r>
          </a:p>
          <a:p>
            <a:pPr>
              <a:spcBef>
                <a:spcPct val="25000"/>
              </a:spcBef>
              <a:buClr>
                <a:srgbClr val="006600"/>
              </a:buClr>
              <a:buFont typeface="Wingdings" pitchFamily="2" charset="2"/>
              <a:buChar char="§"/>
            </a:pPr>
            <a:r>
              <a:rPr lang="en-US" altLang="en-US" b="0"/>
              <a:t> Keyboard memory map</a:t>
            </a:r>
          </a:p>
        </p:txBody>
      </p:sp>
      <p:grpSp>
        <p:nvGrpSpPr>
          <p:cNvPr id="82964" name="Group 20">
            <a:extLst>
              <a:ext uri="{FF2B5EF4-FFF2-40B4-BE49-F238E27FC236}">
                <a16:creationId xmlns:a16="http://schemas.microsoft.com/office/drawing/2014/main" id="{BF3F16AE-6A23-E241-9858-BBE2B45BFEDD}"/>
              </a:ext>
            </a:extLst>
          </p:cNvPr>
          <p:cNvGrpSpPr>
            <a:grpSpLocks/>
          </p:cNvGrpSpPr>
          <p:nvPr/>
        </p:nvGrpSpPr>
        <p:grpSpPr bwMode="auto">
          <a:xfrm>
            <a:off x="2209800" y="4114800"/>
            <a:ext cx="6553200" cy="2057400"/>
            <a:chOff x="1392" y="2592"/>
            <a:chExt cx="4128" cy="1296"/>
          </a:xfrm>
        </p:grpSpPr>
        <p:sp>
          <p:nvSpPr>
            <p:cNvPr id="82953" name="AutoShape 9">
              <a:extLst>
                <a:ext uri="{FF2B5EF4-FFF2-40B4-BE49-F238E27FC236}">
                  <a16:creationId xmlns:a16="http://schemas.microsoft.com/office/drawing/2014/main" id="{99B54A38-58F0-954E-B190-A896C820D5F8}"/>
                </a:ext>
              </a:extLst>
            </p:cNvPr>
            <p:cNvSpPr>
              <a:spLocks noChangeArrowheads="1"/>
            </p:cNvSpPr>
            <p:nvPr/>
          </p:nvSpPr>
          <p:spPr bwMode="auto">
            <a:xfrm>
              <a:off x="2880" y="2592"/>
              <a:ext cx="2640" cy="1296"/>
            </a:xfrm>
            <a:prstGeom prst="wedgeRoundRectCallout">
              <a:avLst>
                <a:gd name="adj1" fmla="val -63296"/>
                <a:gd name="adj2" fmla="val 21759"/>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93675" indent="-193675" algn="r" rtl="1">
                <a:defRPr sz="2400">
                  <a:solidFill>
                    <a:schemeClr val="tx1"/>
                  </a:solidFill>
                  <a:latin typeface="Times New Roman" panose="02020603050405020304" pitchFamily="18" charset="0"/>
                  <a:cs typeface="Times New Roman (Hebrew)" panose="02020603050405020304" pitchFamily="18" charset="0"/>
                </a:defRPr>
              </a:lvl1pPr>
              <a:lvl2pPr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r>
                <a:rPr lang="en-US" altLang="en-US" sz="1600">
                  <a:solidFill>
                    <a:srgbClr val="00007A"/>
                  </a:solidFill>
                  <a:latin typeface="Arial" panose="020B0604020202020204" pitchFamily="34" charset="0"/>
                  <a:cs typeface="Arial" panose="020B0604020202020204" pitchFamily="34" charset="0"/>
                </a:rPr>
                <a:t>Address (A) register</a:t>
              </a:r>
              <a:r>
                <a:rPr lang="en-US" altLang="en-US" sz="1600" b="0">
                  <a:latin typeface="Arial" panose="020B0604020202020204" pitchFamily="34" charset="0"/>
                  <a:cs typeface="Arial" panose="020B0604020202020204" pitchFamily="34" charset="0"/>
                </a:rPr>
                <a:t>, used to:</a:t>
              </a:r>
            </a:p>
            <a:p>
              <a:pPr algn="l" rtl="0">
                <a:spcBef>
                  <a:spcPct val="25000"/>
                </a:spcBef>
                <a:buClr>
                  <a:srgbClr val="006600"/>
                </a:buClr>
                <a:buFont typeface="Wingdings" pitchFamily="2" charset="2"/>
                <a:buChar char="§"/>
              </a:pPr>
              <a:r>
                <a:rPr lang="en-US" altLang="en-US" sz="1600" b="0">
                  <a:latin typeface="Arial" panose="020B0604020202020204" pitchFamily="34" charset="0"/>
                  <a:cs typeface="Arial" panose="020B0604020202020204" pitchFamily="34" charset="0"/>
                </a:rPr>
                <a:t>Select the current RAM location</a:t>
              </a:r>
            </a:p>
            <a:p>
              <a:pPr algn="l" rtl="0">
                <a:spcBef>
                  <a:spcPct val="30000"/>
                </a:spcBef>
                <a:spcAft>
                  <a:spcPct val="30000"/>
                </a:spcAft>
                <a:buClr>
                  <a:srgbClr val="006600"/>
                </a:buClr>
                <a:buFont typeface="Wingdings" pitchFamily="2" charset="2"/>
                <a:buNone/>
              </a:pPr>
              <a:r>
                <a:rPr lang="en-US" altLang="en-US" sz="1600" b="0">
                  <a:latin typeface="Arial" panose="020B0604020202020204" pitchFamily="34" charset="0"/>
                  <a:cs typeface="Arial" panose="020B0604020202020204" pitchFamily="34" charset="0"/>
                </a:rPr>
                <a:t>OR</a:t>
              </a:r>
            </a:p>
            <a:p>
              <a:pPr algn="l" rtl="0">
                <a:spcBef>
                  <a:spcPct val="25000"/>
                </a:spcBef>
                <a:buClr>
                  <a:srgbClr val="006600"/>
                </a:buClr>
                <a:buFont typeface="Wingdings" pitchFamily="2" charset="2"/>
                <a:buChar char="§"/>
              </a:pPr>
              <a:r>
                <a:rPr lang="en-US" altLang="en-US" sz="1600" b="0">
                  <a:latin typeface="Arial" panose="020B0604020202020204" pitchFamily="34" charset="0"/>
                  <a:cs typeface="Arial" panose="020B0604020202020204" pitchFamily="34" charset="0"/>
                </a:rPr>
                <a:t>Set the Program Counter (PC) for  jumps (relevant only if the current instruction includes a jump directive).</a:t>
              </a:r>
            </a:p>
          </p:txBody>
        </p:sp>
        <p:sp>
          <p:nvSpPr>
            <p:cNvPr id="82955" name="AutoShape 11">
              <a:extLst>
                <a:ext uri="{FF2B5EF4-FFF2-40B4-BE49-F238E27FC236}">
                  <a16:creationId xmlns:a16="http://schemas.microsoft.com/office/drawing/2014/main" id="{049EE057-7826-594E-81C3-60789DEDC0E5}"/>
                </a:ext>
              </a:extLst>
            </p:cNvPr>
            <p:cNvSpPr>
              <a:spLocks noChangeArrowheads="1"/>
            </p:cNvSpPr>
            <p:nvPr/>
          </p:nvSpPr>
          <p:spPr bwMode="auto">
            <a:xfrm>
              <a:off x="2112" y="3346"/>
              <a:ext cx="144" cy="252"/>
            </a:xfrm>
            <a:prstGeom prst="upArrow">
              <a:avLst>
                <a:gd name="adj1" fmla="val 50000"/>
                <a:gd name="adj2" fmla="val 43750"/>
              </a:avLst>
            </a:prstGeom>
            <a:solidFill>
              <a:srgbClr val="FF7757"/>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957" name="AutoShape 13">
              <a:extLst>
                <a:ext uri="{FF2B5EF4-FFF2-40B4-BE49-F238E27FC236}">
                  <a16:creationId xmlns:a16="http://schemas.microsoft.com/office/drawing/2014/main" id="{F430143D-370C-0E47-A277-92DF60D97037}"/>
                </a:ext>
              </a:extLst>
            </p:cNvPr>
            <p:cNvSpPr>
              <a:spLocks noChangeArrowheads="1"/>
            </p:cNvSpPr>
            <p:nvPr/>
          </p:nvSpPr>
          <p:spPr bwMode="auto">
            <a:xfrm>
              <a:off x="1392" y="3497"/>
              <a:ext cx="288" cy="151"/>
            </a:xfrm>
            <a:prstGeom prst="leftArrow">
              <a:avLst>
                <a:gd name="adj1" fmla="val 50000"/>
                <a:gd name="adj2" fmla="val 47682"/>
              </a:avLst>
            </a:prstGeom>
            <a:solidFill>
              <a:srgbClr val="FF7757"/>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829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023" name="Picture 55">
            <a:extLst>
              <a:ext uri="{FF2B5EF4-FFF2-40B4-BE49-F238E27FC236}">
                <a16:creationId xmlns:a16="http://schemas.microsoft.com/office/drawing/2014/main" id="{3FD2A373-46C4-E64B-8F2C-0154EAA7A6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708025"/>
            <a:ext cx="8077200" cy="584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3970" name="Rectangle 2">
            <a:extLst>
              <a:ext uri="{FF2B5EF4-FFF2-40B4-BE49-F238E27FC236}">
                <a16:creationId xmlns:a16="http://schemas.microsoft.com/office/drawing/2014/main" id="{D4293113-9ADE-E344-9546-88A7FDE5768E}"/>
              </a:ext>
            </a:extLst>
          </p:cNvPr>
          <p:cNvSpPr>
            <a:spLocks noGrp="1" noChangeArrowheads="1"/>
          </p:cNvSpPr>
          <p:nvPr>
            <p:ph type="title"/>
          </p:nvPr>
        </p:nvSpPr>
        <p:spPr/>
        <p:txBody>
          <a:bodyPr/>
          <a:lstStyle/>
          <a:p>
            <a:r>
              <a:rPr lang="en-US" altLang="en-US"/>
              <a:t>Registers</a:t>
            </a:r>
          </a:p>
        </p:txBody>
      </p:sp>
      <p:sp>
        <p:nvSpPr>
          <p:cNvPr id="84007" name="AutoShape 39">
            <a:extLst>
              <a:ext uri="{FF2B5EF4-FFF2-40B4-BE49-F238E27FC236}">
                <a16:creationId xmlns:a16="http://schemas.microsoft.com/office/drawing/2014/main" id="{9B4B972B-7771-C649-B7BF-0765E96E3F8E}"/>
              </a:ext>
            </a:extLst>
          </p:cNvPr>
          <p:cNvSpPr>
            <a:spLocks noChangeArrowheads="1"/>
          </p:cNvSpPr>
          <p:nvPr/>
        </p:nvSpPr>
        <p:spPr bwMode="auto">
          <a:xfrm>
            <a:off x="4267200" y="990600"/>
            <a:ext cx="3352800" cy="1905000"/>
          </a:xfrm>
          <a:prstGeom prst="wedgeRoundRectCallout">
            <a:avLst>
              <a:gd name="adj1" fmla="val 24384"/>
              <a:gd name="adj2" fmla="val 33500"/>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118800"/>
          <a:lstStyle>
            <a:lvl1pPr marL="185738" indent="-185738" algn="r" rtl="1">
              <a:defRPr sz="2400">
                <a:solidFill>
                  <a:schemeClr val="tx1"/>
                </a:solidFill>
                <a:latin typeface="Times New Roman" panose="02020603050405020304" pitchFamily="18" charset="0"/>
                <a:cs typeface="Times New Roman (Hebrew)" panose="02020603050405020304" pitchFamily="18" charset="0"/>
              </a:defRPr>
            </a:lvl1pPr>
            <a:lvl2pPr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r>
              <a:rPr lang="en-US" altLang="en-US" sz="1600">
                <a:latin typeface="Arial Unicode MS" panose="020B0604020202020204" pitchFamily="34" charset="-128"/>
                <a:ea typeface="Arial Unicode MS" panose="020B0604020202020204" pitchFamily="34" charset="-128"/>
                <a:cs typeface="Arial Unicode MS" panose="020B0604020202020204" pitchFamily="34" charset="-128"/>
              </a:rPr>
              <a:t>Registers </a:t>
            </a:r>
            <a:r>
              <a:rPr lang="en-US" altLang="en-US" sz="1400" b="0">
                <a:latin typeface="Arial" panose="020B0604020202020204" pitchFamily="34" charset="0"/>
                <a:cs typeface="Arial" panose="020B0604020202020204" pitchFamily="34" charset="0"/>
              </a:rPr>
              <a:t>(all 16-bit):</a:t>
            </a:r>
          </a:p>
          <a:p>
            <a:pPr algn="l" rtl="0">
              <a:spcBef>
                <a:spcPct val="25000"/>
              </a:spcBef>
              <a:buClr>
                <a:srgbClr val="006600"/>
              </a:buClr>
              <a:buFont typeface="Wingdings" pitchFamily="2" charset="2"/>
              <a:buChar char="§"/>
            </a:pPr>
            <a:r>
              <a:rPr lang="en-US" altLang="en-US" sz="1600">
                <a:solidFill>
                  <a:srgbClr val="00007A"/>
                </a:solidFill>
                <a:latin typeface="Arial" panose="020B0604020202020204" pitchFamily="34" charset="0"/>
                <a:cs typeface="Arial" panose="020B0604020202020204" pitchFamily="34" charset="0"/>
              </a:rPr>
              <a:t>D</a:t>
            </a:r>
            <a:r>
              <a:rPr lang="en-US" altLang="en-US" sz="1400" b="0">
                <a:latin typeface="Arial" panose="020B0604020202020204" pitchFamily="34" charset="0"/>
                <a:cs typeface="Arial" panose="020B0604020202020204" pitchFamily="34" charset="0"/>
              </a:rPr>
              <a:t>:  Data register</a:t>
            </a:r>
          </a:p>
          <a:p>
            <a:pPr algn="l" rtl="0">
              <a:spcBef>
                <a:spcPct val="25000"/>
              </a:spcBef>
              <a:buClr>
                <a:srgbClr val="006600"/>
              </a:buClr>
              <a:buFont typeface="Wingdings" pitchFamily="2" charset="2"/>
              <a:buChar char="§"/>
            </a:pPr>
            <a:r>
              <a:rPr lang="en-US" altLang="en-US" sz="1600">
                <a:solidFill>
                  <a:srgbClr val="00007A"/>
                </a:solidFill>
                <a:latin typeface="Arial" panose="020B0604020202020204" pitchFamily="34" charset="0"/>
                <a:cs typeface="Arial" panose="020B0604020202020204" pitchFamily="34" charset="0"/>
              </a:rPr>
              <a:t>A</a:t>
            </a:r>
            <a:r>
              <a:rPr lang="en-US" altLang="en-US" sz="1400" b="0">
                <a:latin typeface="Arial" panose="020B0604020202020204" pitchFamily="34" charset="0"/>
                <a:cs typeface="Arial" panose="020B0604020202020204" pitchFamily="34" charset="0"/>
              </a:rPr>
              <a:t>:  Address register</a:t>
            </a:r>
          </a:p>
          <a:p>
            <a:pPr algn="l" rtl="0">
              <a:spcBef>
                <a:spcPct val="25000"/>
              </a:spcBef>
              <a:buClr>
                <a:srgbClr val="006600"/>
              </a:buClr>
              <a:buFont typeface="Wingdings" pitchFamily="2" charset="2"/>
              <a:buChar char="§"/>
            </a:pPr>
            <a:r>
              <a:rPr lang="en-US" altLang="en-US" sz="1600">
                <a:solidFill>
                  <a:srgbClr val="00007A"/>
                </a:solidFill>
                <a:latin typeface="Arial" panose="020B0604020202020204" pitchFamily="34" charset="0"/>
                <a:cs typeface="Arial" panose="020B0604020202020204" pitchFamily="34" charset="0"/>
              </a:rPr>
              <a:t>M</a:t>
            </a:r>
            <a:r>
              <a:rPr lang="en-US" altLang="en-US" sz="1400" b="0">
                <a:latin typeface="Arial" panose="020B0604020202020204" pitchFamily="34" charset="0"/>
                <a:cs typeface="Arial" panose="020B0604020202020204" pitchFamily="34" charset="0"/>
              </a:rPr>
              <a:t>: Stands for the memory register</a:t>
            </a:r>
            <a:br>
              <a:rPr lang="en-US" altLang="en-US" sz="1400" b="0">
                <a:latin typeface="Arial" panose="020B0604020202020204" pitchFamily="34" charset="0"/>
                <a:cs typeface="Arial" panose="020B0604020202020204" pitchFamily="34" charset="0"/>
              </a:rPr>
            </a:br>
            <a:r>
              <a:rPr lang="en-US" altLang="en-US" sz="1400" b="0">
                <a:latin typeface="Arial" panose="020B0604020202020204" pitchFamily="34" charset="0"/>
                <a:cs typeface="Arial" panose="020B0604020202020204" pitchFamily="34" charset="0"/>
              </a:rPr>
              <a:t>      whose address is the current </a:t>
            </a:r>
            <a:br>
              <a:rPr lang="en-US" altLang="en-US" sz="1400" b="0">
                <a:latin typeface="Arial" panose="020B0604020202020204" pitchFamily="34" charset="0"/>
                <a:cs typeface="Arial" panose="020B0604020202020204" pitchFamily="34" charset="0"/>
              </a:rPr>
            </a:br>
            <a:r>
              <a:rPr lang="en-US" altLang="en-US" sz="1400" b="0">
                <a:latin typeface="Arial" panose="020B0604020202020204" pitchFamily="34" charset="0"/>
                <a:cs typeface="Arial" panose="020B0604020202020204" pitchFamily="34" charset="0"/>
              </a:rPr>
              <a:t>      value of the Address register</a:t>
            </a:r>
            <a:endParaRPr lang="en-US" altLang="en-US" sz="1600" b="0">
              <a:latin typeface="Arial Unicode MS" panose="020B0604020202020204" pitchFamily="34" charset="-128"/>
              <a:ea typeface="Arial Unicode MS" panose="020B0604020202020204" pitchFamily="34" charset="-128"/>
              <a:cs typeface="Arial Unicode MS" panose="020B0604020202020204" pitchFamily="34" charset="-128"/>
            </a:endParaRPr>
          </a:p>
        </p:txBody>
      </p:sp>
      <p:grpSp>
        <p:nvGrpSpPr>
          <p:cNvPr id="84026" name="Group 58">
            <a:extLst>
              <a:ext uri="{FF2B5EF4-FFF2-40B4-BE49-F238E27FC236}">
                <a16:creationId xmlns:a16="http://schemas.microsoft.com/office/drawing/2014/main" id="{4E040C67-9796-AD4B-B094-D8B3FE16E39D}"/>
              </a:ext>
            </a:extLst>
          </p:cNvPr>
          <p:cNvGrpSpPr>
            <a:grpSpLocks/>
          </p:cNvGrpSpPr>
          <p:nvPr/>
        </p:nvGrpSpPr>
        <p:grpSpPr bwMode="auto">
          <a:xfrm>
            <a:off x="2819400" y="3048000"/>
            <a:ext cx="1524000" cy="990600"/>
            <a:chOff x="1776" y="1920"/>
            <a:chExt cx="960" cy="624"/>
          </a:xfrm>
        </p:grpSpPr>
        <p:sp>
          <p:nvSpPr>
            <p:cNvPr id="84027" name="AutoShape 59">
              <a:extLst>
                <a:ext uri="{FF2B5EF4-FFF2-40B4-BE49-F238E27FC236}">
                  <a16:creationId xmlns:a16="http://schemas.microsoft.com/office/drawing/2014/main" id="{1D367DDC-5AED-7A4A-8E62-DE5363102106}"/>
                </a:ext>
              </a:extLst>
            </p:cNvPr>
            <p:cNvSpPr>
              <a:spLocks noChangeArrowheads="1"/>
            </p:cNvSpPr>
            <p:nvPr/>
          </p:nvSpPr>
          <p:spPr bwMode="auto">
            <a:xfrm>
              <a:off x="1776" y="1920"/>
              <a:ext cx="960" cy="288"/>
            </a:xfrm>
            <a:prstGeom prst="roundRect">
              <a:avLst>
                <a:gd name="adj" fmla="val 16667"/>
              </a:avLst>
            </a:prstGeom>
            <a:solidFill>
              <a:srgbClr val="FFDDC3"/>
            </a:solidFill>
            <a:ln w="19050">
              <a:solidFill>
                <a:srgbClr val="BD520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26000" tIns="118800" rIns="126000" bIns="118800" anchor="ctr"/>
            <a:lstStyle/>
            <a:p>
              <a:pPr eaLnBrk="0" hangingPunct="0"/>
              <a:r>
                <a:rPr lang="en-US" altLang="en-US" sz="1400">
                  <a:solidFill>
                    <a:srgbClr val="00007A"/>
                  </a:solidFill>
                  <a:cs typeface="Times New Roman (Hebrew)" panose="02020603050405020304" pitchFamily="18" charset="0"/>
                </a:rPr>
                <a:t>M  </a:t>
              </a:r>
              <a:r>
                <a:rPr lang="en-US" altLang="en-US" sz="1400" b="0"/>
                <a:t>(=RAM[A])</a:t>
              </a:r>
            </a:p>
          </p:txBody>
        </p:sp>
        <p:sp>
          <p:nvSpPr>
            <p:cNvPr id="84028" name="Line 60">
              <a:extLst>
                <a:ext uri="{FF2B5EF4-FFF2-40B4-BE49-F238E27FC236}">
                  <a16:creationId xmlns:a16="http://schemas.microsoft.com/office/drawing/2014/main" id="{0AE9085F-0D64-9048-8149-FF3765AB842C}"/>
                </a:ext>
              </a:extLst>
            </p:cNvPr>
            <p:cNvSpPr>
              <a:spLocks noChangeShapeType="1"/>
            </p:cNvSpPr>
            <p:nvPr/>
          </p:nvSpPr>
          <p:spPr bwMode="auto">
            <a:xfrm>
              <a:off x="2256" y="2208"/>
              <a:ext cx="0" cy="336"/>
            </a:xfrm>
            <a:prstGeom prst="line">
              <a:avLst/>
            </a:prstGeom>
            <a:noFill/>
            <a:ln w="19050">
              <a:solidFill>
                <a:srgbClr val="BD5201"/>
              </a:solidFill>
              <a:round/>
              <a:headEnd/>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grpSp>
        <p:nvGrpSpPr>
          <p:cNvPr id="84029" name="Group 61">
            <a:extLst>
              <a:ext uri="{FF2B5EF4-FFF2-40B4-BE49-F238E27FC236}">
                <a16:creationId xmlns:a16="http://schemas.microsoft.com/office/drawing/2014/main" id="{8361036A-E786-7E44-82AA-F5E937210CEB}"/>
              </a:ext>
            </a:extLst>
          </p:cNvPr>
          <p:cNvGrpSpPr>
            <a:grpSpLocks/>
          </p:cNvGrpSpPr>
          <p:nvPr/>
        </p:nvGrpSpPr>
        <p:grpSpPr bwMode="auto">
          <a:xfrm>
            <a:off x="6172200" y="3429000"/>
            <a:ext cx="609600" cy="838200"/>
            <a:chOff x="3888" y="2160"/>
            <a:chExt cx="384" cy="528"/>
          </a:xfrm>
        </p:grpSpPr>
        <p:sp>
          <p:nvSpPr>
            <p:cNvPr id="84030" name="Line 62">
              <a:extLst>
                <a:ext uri="{FF2B5EF4-FFF2-40B4-BE49-F238E27FC236}">
                  <a16:creationId xmlns:a16="http://schemas.microsoft.com/office/drawing/2014/main" id="{0DB2307A-8BC2-A849-B20B-4FF7F2B2C933}"/>
                </a:ext>
              </a:extLst>
            </p:cNvPr>
            <p:cNvSpPr>
              <a:spLocks noChangeShapeType="1"/>
            </p:cNvSpPr>
            <p:nvPr/>
          </p:nvSpPr>
          <p:spPr bwMode="auto">
            <a:xfrm>
              <a:off x="4080" y="2352"/>
              <a:ext cx="0" cy="336"/>
            </a:xfrm>
            <a:prstGeom prst="line">
              <a:avLst/>
            </a:prstGeom>
            <a:noFill/>
            <a:ln w="19050">
              <a:solidFill>
                <a:srgbClr val="BD5201"/>
              </a:solidFill>
              <a:round/>
              <a:headEnd/>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4031" name="AutoShape 63">
              <a:extLst>
                <a:ext uri="{FF2B5EF4-FFF2-40B4-BE49-F238E27FC236}">
                  <a16:creationId xmlns:a16="http://schemas.microsoft.com/office/drawing/2014/main" id="{769D73A6-24CF-9E4E-81D9-B596493A60A4}"/>
                </a:ext>
              </a:extLst>
            </p:cNvPr>
            <p:cNvSpPr>
              <a:spLocks noChangeArrowheads="1"/>
            </p:cNvSpPr>
            <p:nvPr/>
          </p:nvSpPr>
          <p:spPr bwMode="auto">
            <a:xfrm>
              <a:off x="3888" y="2160"/>
              <a:ext cx="384" cy="288"/>
            </a:xfrm>
            <a:prstGeom prst="roundRect">
              <a:avLst>
                <a:gd name="adj" fmla="val 16667"/>
              </a:avLst>
            </a:prstGeom>
            <a:solidFill>
              <a:srgbClr val="FFDDC3"/>
            </a:solidFill>
            <a:ln w="19050">
              <a:solidFill>
                <a:srgbClr val="BD520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26000" tIns="118800" rIns="126000" bIns="118800" anchor="ctr"/>
            <a:lstStyle/>
            <a:p>
              <a:pPr algn="ctr" eaLnBrk="0" hangingPunct="0"/>
              <a:r>
                <a:rPr lang="en-US" altLang="en-US" sz="1400">
                  <a:solidFill>
                    <a:srgbClr val="00007A"/>
                  </a:solidFill>
                  <a:cs typeface="Times New Roman (Hebrew)" panose="02020603050405020304" pitchFamily="18" charset="0"/>
                </a:rPr>
                <a:t>D</a:t>
              </a:r>
              <a:endParaRPr lang="en-US" altLang="en-US" sz="1400">
                <a:solidFill>
                  <a:srgbClr val="800000"/>
                </a:solidFill>
                <a:cs typeface="Times New Roman (Hebrew)" panose="02020603050405020304" pitchFamily="18" charset="0"/>
              </a:endParaRPr>
            </a:p>
          </p:txBody>
        </p:sp>
      </p:grpSp>
      <p:grpSp>
        <p:nvGrpSpPr>
          <p:cNvPr id="84032" name="Group 64">
            <a:extLst>
              <a:ext uri="{FF2B5EF4-FFF2-40B4-BE49-F238E27FC236}">
                <a16:creationId xmlns:a16="http://schemas.microsoft.com/office/drawing/2014/main" id="{0F63DB1C-3856-474A-B76F-7CF8C224F504}"/>
              </a:ext>
            </a:extLst>
          </p:cNvPr>
          <p:cNvGrpSpPr>
            <a:grpSpLocks/>
          </p:cNvGrpSpPr>
          <p:nvPr/>
        </p:nvGrpSpPr>
        <p:grpSpPr bwMode="auto">
          <a:xfrm>
            <a:off x="3200400" y="4800600"/>
            <a:ext cx="609600" cy="838200"/>
            <a:chOff x="2016" y="3024"/>
            <a:chExt cx="384" cy="528"/>
          </a:xfrm>
        </p:grpSpPr>
        <p:sp>
          <p:nvSpPr>
            <p:cNvPr id="84033" name="Line 65">
              <a:extLst>
                <a:ext uri="{FF2B5EF4-FFF2-40B4-BE49-F238E27FC236}">
                  <a16:creationId xmlns:a16="http://schemas.microsoft.com/office/drawing/2014/main" id="{66F17B8C-2DDA-6C40-BC55-597D3FAB94DF}"/>
                </a:ext>
              </a:extLst>
            </p:cNvPr>
            <p:cNvSpPr>
              <a:spLocks noChangeShapeType="1"/>
            </p:cNvSpPr>
            <p:nvPr/>
          </p:nvSpPr>
          <p:spPr bwMode="auto">
            <a:xfrm>
              <a:off x="2208" y="3216"/>
              <a:ext cx="0" cy="336"/>
            </a:xfrm>
            <a:prstGeom prst="line">
              <a:avLst/>
            </a:prstGeom>
            <a:noFill/>
            <a:ln w="19050">
              <a:solidFill>
                <a:srgbClr val="BD5201"/>
              </a:solidFill>
              <a:round/>
              <a:headEnd/>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4034" name="AutoShape 66">
              <a:extLst>
                <a:ext uri="{FF2B5EF4-FFF2-40B4-BE49-F238E27FC236}">
                  <a16:creationId xmlns:a16="http://schemas.microsoft.com/office/drawing/2014/main" id="{C6619A8A-F896-2D41-8013-623F6E98E7FD}"/>
                </a:ext>
              </a:extLst>
            </p:cNvPr>
            <p:cNvSpPr>
              <a:spLocks noChangeArrowheads="1"/>
            </p:cNvSpPr>
            <p:nvPr/>
          </p:nvSpPr>
          <p:spPr bwMode="auto">
            <a:xfrm>
              <a:off x="2016" y="3024"/>
              <a:ext cx="384" cy="288"/>
            </a:xfrm>
            <a:prstGeom prst="roundRect">
              <a:avLst>
                <a:gd name="adj" fmla="val 16667"/>
              </a:avLst>
            </a:prstGeom>
            <a:solidFill>
              <a:srgbClr val="FFDDC3"/>
            </a:solidFill>
            <a:ln w="19050">
              <a:solidFill>
                <a:srgbClr val="BD520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26000" tIns="118800" rIns="126000" bIns="118800" anchor="ctr"/>
            <a:lstStyle/>
            <a:p>
              <a:pPr algn="ctr" eaLnBrk="0" hangingPunct="0"/>
              <a:r>
                <a:rPr lang="en-US" altLang="en-US" sz="1400">
                  <a:solidFill>
                    <a:srgbClr val="00007A"/>
                  </a:solidFill>
                  <a:cs typeface="Times New Roman (Hebrew)" panose="02020603050405020304" pitchFamily="18" charset="0"/>
                </a:rPr>
                <a:t>A</a:t>
              </a:r>
              <a:endParaRPr lang="en-US" altLang="en-US" sz="1400">
                <a:solidFill>
                  <a:srgbClr val="800000"/>
                </a:solidFill>
                <a:cs typeface="Times New Roman (Hebrew)" panose="02020603050405020304" pitchFamily="18" charset="0"/>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052" name="Picture 28">
            <a:extLst>
              <a:ext uri="{FF2B5EF4-FFF2-40B4-BE49-F238E27FC236}">
                <a16:creationId xmlns:a16="http://schemas.microsoft.com/office/drawing/2014/main" id="{550F48C7-920A-A648-819E-60CD4D050B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708025"/>
            <a:ext cx="8077200" cy="584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9027" name="Rectangle 3">
            <a:extLst>
              <a:ext uri="{FF2B5EF4-FFF2-40B4-BE49-F238E27FC236}">
                <a16:creationId xmlns:a16="http://schemas.microsoft.com/office/drawing/2014/main" id="{B4118EBC-FA50-B64B-BB36-5FBBEB477AE0}"/>
              </a:ext>
            </a:extLst>
          </p:cNvPr>
          <p:cNvSpPr>
            <a:spLocks noGrp="1" noChangeArrowheads="1"/>
          </p:cNvSpPr>
          <p:nvPr>
            <p:ph type="title"/>
          </p:nvPr>
        </p:nvSpPr>
        <p:spPr/>
        <p:txBody>
          <a:bodyPr/>
          <a:lstStyle/>
          <a:p>
            <a:r>
              <a:rPr lang="en-US" altLang="en-US"/>
              <a:t>Arithmetic/Logic Unit</a:t>
            </a:r>
          </a:p>
        </p:txBody>
      </p:sp>
      <p:sp>
        <p:nvSpPr>
          <p:cNvPr id="129041" name="AutoShape 17">
            <a:extLst>
              <a:ext uri="{FF2B5EF4-FFF2-40B4-BE49-F238E27FC236}">
                <a16:creationId xmlns:a16="http://schemas.microsoft.com/office/drawing/2014/main" id="{B201F7B6-BF2C-B842-966D-9A603A12059E}"/>
              </a:ext>
            </a:extLst>
          </p:cNvPr>
          <p:cNvSpPr>
            <a:spLocks noChangeArrowheads="1"/>
          </p:cNvSpPr>
          <p:nvPr/>
        </p:nvSpPr>
        <p:spPr bwMode="auto">
          <a:xfrm>
            <a:off x="4876800" y="838200"/>
            <a:ext cx="4038600" cy="2514600"/>
          </a:xfrm>
          <a:prstGeom prst="wedgeRoundRectCallout">
            <a:avLst>
              <a:gd name="adj1" fmla="val 7468"/>
              <a:gd name="adj2" fmla="val 111426"/>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46800"/>
          <a:lstStyle>
            <a:lvl1pPr marL="185738" indent="-185738" algn="r" rtl="1">
              <a:defRPr sz="2400">
                <a:solidFill>
                  <a:schemeClr val="tx1"/>
                </a:solidFill>
                <a:latin typeface="Times New Roman" panose="02020603050405020304" pitchFamily="18" charset="0"/>
                <a:cs typeface="Times New Roman (Hebrew)" panose="02020603050405020304" pitchFamily="18" charset="0"/>
              </a:defRPr>
            </a:lvl1pPr>
            <a:lvl2pPr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r>
              <a:rPr lang="en-US" altLang="en-US" sz="1600">
                <a:solidFill>
                  <a:srgbClr val="00007A"/>
                </a:solidFill>
                <a:latin typeface="Arial" panose="020B0604020202020204" pitchFamily="34" charset="0"/>
                <a:cs typeface="Arial" panose="020B0604020202020204" pitchFamily="34" charset="0"/>
              </a:rPr>
              <a:t>Arithmetic logic unit</a:t>
            </a:r>
            <a:r>
              <a:rPr lang="en-US" altLang="en-US" sz="1600" b="0">
                <a:latin typeface="Arial" panose="020B0604020202020204" pitchFamily="34" charset="0"/>
                <a:cs typeface="Arial" panose="020B0604020202020204" pitchFamily="34" charset="0"/>
              </a:rPr>
              <a:t> (</a:t>
            </a:r>
            <a:r>
              <a:rPr lang="en-US" altLang="en-US" sz="1600">
                <a:solidFill>
                  <a:srgbClr val="00007A"/>
                </a:solidFill>
                <a:latin typeface="Arial" panose="020B0604020202020204" pitchFamily="34" charset="0"/>
                <a:cs typeface="Arial" panose="020B0604020202020204" pitchFamily="34" charset="0"/>
              </a:rPr>
              <a:t>ALU</a:t>
            </a:r>
            <a:r>
              <a:rPr lang="en-US" altLang="en-US" sz="1600" b="0">
                <a:latin typeface="Arial" panose="020B0604020202020204" pitchFamily="34" charset="0"/>
                <a:cs typeface="Arial" panose="020B0604020202020204" pitchFamily="34" charset="0"/>
              </a:rPr>
              <a:t>)</a:t>
            </a:r>
          </a:p>
          <a:p>
            <a:pPr algn="l" rtl="0">
              <a:spcBef>
                <a:spcPct val="25000"/>
              </a:spcBef>
              <a:buClr>
                <a:srgbClr val="006600"/>
              </a:buClr>
              <a:buFont typeface="Wingdings" pitchFamily="2" charset="2"/>
              <a:buChar char="§"/>
            </a:pPr>
            <a:r>
              <a:rPr lang="en-US" altLang="en-US" sz="1400" b="0">
                <a:latin typeface="Arial" panose="020B0604020202020204" pitchFamily="34" charset="0"/>
                <a:cs typeface="Arial" panose="020B0604020202020204" pitchFamily="34" charset="0"/>
              </a:rPr>
              <a:t>The ALU can compute various arithmetic and logical functions (let’s call them f) on subsets of the three registers {M,A,D}</a:t>
            </a:r>
          </a:p>
          <a:p>
            <a:pPr algn="l" rtl="0">
              <a:spcBef>
                <a:spcPct val="25000"/>
              </a:spcBef>
              <a:buClr>
                <a:srgbClr val="006600"/>
              </a:buClr>
              <a:buFont typeface="Wingdings" pitchFamily="2" charset="2"/>
              <a:buChar char="§"/>
            </a:pPr>
            <a:r>
              <a:rPr lang="en-US" altLang="en-US" sz="1400" b="0">
                <a:latin typeface="Arial" panose="020B0604020202020204" pitchFamily="34" charset="0"/>
                <a:cs typeface="Arial" panose="020B0604020202020204" pitchFamily="34" charset="0"/>
              </a:rPr>
              <a:t>All ALU instructions are of the form </a:t>
            </a:r>
            <a:br>
              <a:rPr lang="en-US" altLang="en-US" sz="1400" b="0">
                <a:latin typeface="Arial" panose="020B0604020202020204" pitchFamily="34" charset="0"/>
                <a:cs typeface="Arial" panose="020B0604020202020204" pitchFamily="34" charset="0"/>
              </a:rPr>
            </a:br>
            <a:r>
              <a:rPr lang="en-US" altLang="en-US" sz="1400" b="0">
                <a:latin typeface="Arial" panose="020B0604020202020204" pitchFamily="34" charset="0"/>
                <a:cs typeface="Arial" panose="020B0604020202020204" pitchFamily="34" charset="0"/>
              </a:rPr>
              <a:t>{M,A,D} = f ({M,A,D})</a:t>
            </a:r>
            <a:br>
              <a:rPr lang="en-US" altLang="en-US" sz="1400" b="0">
                <a:latin typeface="Arial" panose="020B0604020202020204" pitchFamily="34" charset="0"/>
                <a:cs typeface="Arial" panose="020B0604020202020204" pitchFamily="34" charset="0"/>
              </a:rPr>
            </a:br>
            <a:r>
              <a:rPr lang="en-US" altLang="en-US" sz="1400" b="0">
                <a:latin typeface="Arial" panose="020B0604020202020204" pitchFamily="34" charset="0"/>
                <a:cs typeface="Arial" panose="020B0604020202020204" pitchFamily="34" charset="0"/>
              </a:rPr>
              <a:t>(e.g. M=M-1, MD=D+A , A=0, etc.)</a:t>
            </a:r>
          </a:p>
          <a:p>
            <a:pPr algn="l" rtl="0">
              <a:spcBef>
                <a:spcPct val="25000"/>
              </a:spcBef>
              <a:buClr>
                <a:srgbClr val="006600"/>
              </a:buClr>
              <a:buFont typeface="Wingdings" pitchFamily="2" charset="2"/>
              <a:buChar char="§"/>
            </a:pPr>
            <a:r>
              <a:rPr lang="en-US" altLang="en-US" sz="1400" b="0">
                <a:latin typeface="Arial" panose="020B0604020202020204" pitchFamily="34" charset="0"/>
                <a:cs typeface="Arial" panose="020B0604020202020204" pitchFamily="34" charset="0"/>
              </a:rPr>
              <a:t>The ALU operation (LHS destination, function, RHS operands) is specified by the current instruction.</a:t>
            </a:r>
          </a:p>
        </p:txBody>
      </p:sp>
      <p:grpSp>
        <p:nvGrpSpPr>
          <p:cNvPr id="129072" name="Group 48">
            <a:extLst>
              <a:ext uri="{FF2B5EF4-FFF2-40B4-BE49-F238E27FC236}">
                <a16:creationId xmlns:a16="http://schemas.microsoft.com/office/drawing/2014/main" id="{C8D2A583-18DC-C940-8A2D-6E1A4ACA9346}"/>
              </a:ext>
            </a:extLst>
          </p:cNvPr>
          <p:cNvGrpSpPr>
            <a:grpSpLocks/>
          </p:cNvGrpSpPr>
          <p:nvPr/>
        </p:nvGrpSpPr>
        <p:grpSpPr bwMode="auto">
          <a:xfrm>
            <a:off x="685800" y="2667000"/>
            <a:ext cx="1828800" cy="1143000"/>
            <a:chOff x="432" y="1680"/>
            <a:chExt cx="1152" cy="720"/>
          </a:xfrm>
        </p:grpSpPr>
        <p:sp>
          <p:nvSpPr>
            <p:cNvPr id="129060" name="Rectangle 36">
              <a:extLst>
                <a:ext uri="{FF2B5EF4-FFF2-40B4-BE49-F238E27FC236}">
                  <a16:creationId xmlns:a16="http://schemas.microsoft.com/office/drawing/2014/main" id="{1BB3D300-C4E0-0F40-890B-39FFBDB5E390}"/>
                </a:ext>
              </a:extLst>
            </p:cNvPr>
            <p:cNvSpPr>
              <a:spLocks noChangeArrowheads="1"/>
            </p:cNvSpPr>
            <p:nvPr/>
          </p:nvSpPr>
          <p:spPr bwMode="auto">
            <a:xfrm>
              <a:off x="432" y="2304"/>
              <a:ext cx="912" cy="96"/>
            </a:xfrm>
            <a:prstGeom prst="rect">
              <a:avLst/>
            </a:prstGeom>
            <a:noFill/>
            <a:ln w="34925">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9057" name="AutoShape 33">
              <a:extLst>
                <a:ext uri="{FF2B5EF4-FFF2-40B4-BE49-F238E27FC236}">
                  <a16:creationId xmlns:a16="http://schemas.microsoft.com/office/drawing/2014/main" id="{7D3F243C-F00D-C841-A71C-FE6FA091AE8E}"/>
                </a:ext>
              </a:extLst>
            </p:cNvPr>
            <p:cNvSpPr>
              <a:spLocks noChangeArrowheads="1"/>
            </p:cNvSpPr>
            <p:nvPr/>
          </p:nvSpPr>
          <p:spPr bwMode="auto">
            <a:xfrm>
              <a:off x="960" y="1680"/>
              <a:ext cx="624" cy="336"/>
            </a:xfrm>
            <a:prstGeom prst="roundRect">
              <a:avLst>
                <a:gd name="adj" fmla="val 16667"/>
              </a:avLst>
            </a:prstGeom>
            <a:solidFill>
              <a:srgbClr val="FFDDC3"/>
            </a:solidFill>
            <a:ln w="19050">
              <a:solidFill>
                <a:srgbClr val="BD520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0800" rIns="54000" bIns="10800" anchor="ctr"/>
            <a:lstStyle/>
            <a:p>
              <a:pPr algn="ctr" eaLnBrk="0" hangingPunct="0"/>
              <a:r>
                <a:rPr lang="en-US" altLang="en-US" sz="1200">
                  <a:solidFill>
                    <a:srgbClr val="800000"/>
                  </a:solidFill>
                  <a:cs typeface="Times New Roman (Hebrew)" panose="02020603050405020304" pitchFamily="18" charset="0"/>
                </a:rPr>
                <a:t>Current instruction</a:t>
              </a:r>
            </a:p>
          </p:txBody>
        </p:sp>
        <p:sp>
          <p:nvSpPr>
            <p:cNvPr id="129065" name="Line 41">
              <a:extLst>
                <a:ext uri="{FF2B5EF4-FFF2-40B4-BE49-F238E27FC236}">
                  <a16:creationId xmlns:a16="http://schemas.microsoft.com/office/drawing/2014/main" id="{8EB57446-94C9-C345-B5EF-E9A7A21A247B}"/>
                </a:ext>
              </a:extLst>
            </p:cNvPr>
            <p:cNvSpPr>
              <a:spLocks noChangeShapeType="1"/>
            </p:cNvSpPr>
            <p:nvPr/>
          </p:nvSpPr>
          <p:spPr bwMode="auto">
            <a:xfrm>
              <a:off x="1248" y="2016"/>
              <a:ext cx="0" cy="288"/>
            </a:xfrm>
            <a:prstGeom prst="line">
              <a:avLst/>
            </a:prstGeom>
            <a:noFill/>
            <a:ln w="19050">
              <a:solidFill>
                <a:srgbClr val="BD5201"/>
              </a:solidFill>
              <a:round/>
              <a:headEnd/>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grpSp>
        <p:nvGrpSpPr>
          <p:cNvPr id="129071" name="Group 47">
            <a:extLst>
              <a:ext uri="{FF2B5EF4-FFF2-40B4-BE49-F238E27FC236}">
                <a16:creationId xmlns:a16="http://schemas.microsoft.com/office/drawing/2014/main" id="{67B50111-7DB3-C14D-8296-3C9F8F578440}"/>
              </a:ext>
            </a:extLst>
          </p:cNvPr>
          <p:cNvGrpSpPr>
            <a:grpSpLocks/>
          </p:cNvGrpSpPr>
          <p:nvPr/>
        </p:nvGrpSpPr>
        <p:grpSpPr bwMode="auto">
          <a:xfrm>
            <a:off x="2819400" y="3048000"/>
            <a:ext cx="1524000" cy="990600"/>
            <a:chOff x="1776" y="1920"/>
            <a:chExt cx="960" cy="624"/>
          </a:xfrm>
        </p:grpSpPr>
        <p:sp>
          <p:nvSpPr>
            <p:cNvPr id="129043" name="AutoShape 19">
              <a:extLst>
                <a:ext uri="{FF2B5EF4-FFF2-40B4-BE49-F238E27FC236}">
                  <a16:creationId xmlns:a16="http://schemas.microsoft.com/office/drawing/2014/main" id="{91D6638C-C59B-D648-8FDB-6826C93AE42E}"/>
                </a:ext>
              </a:extLst>
            </p:cNvPr>
            <p:cNvSpPr>
              <a:spLocks noChangeArrowheads="1"/>
            </p:cNvSpPr>
            <p:nvPr/>
          </p:nvSpPr>
          <p:spPr bwMode="auto">
            <a:xfrm>
              <a:off x="1776" y="1920"/>
              <a:ext cx="960" cy="288"/>
            </a:xfrm>
            <a:prstGeom prst="roundRect">
              <a:avLst>
                <a:gd name="adj" fmla="val 16667"/>
              </a:avLst>
            </a:prstGeom>
            <a:solidFill>
              <a:srgbClr val="FFDDC3"/>
            </a:solidFill>
            <a:ln w="19050">
              <a:solidFill>
                <a:srgbClr val="BD520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26000" tIns="118800" rIns="126000" bIns="118800" anchor="ctr"/>
            <a:lstStyle/>
            <a:p>
              <a:pPr eaLnBrk="0" hangingPunct="0"/>
              <a:r>
                <a:rPr lang="en-US" altLang="en-US" sz="1400">
                  <a:solidFill>
                    <a:srgbClr val="00007A"/>
                  </a:solidFill>
                  <a:cs typeface="Times New Roman (Hebrew)" panose="02020603050405020304" pitchFamily="18" charset="0"/>
                </a:rPr>
                <a:t>M  </a:t>
              </a:r>
              <a:r>
                <a:rPr lang="en-US" altLang="en-US" sz="1400" b="0"/>
                <a:t>(=RAM[A])</a:t>
              </a:r>
            </a:p>
          </p:txBody>
        </p:sp>
        <p:sp>
          <p:nvSpPr>
            <p:cNvPr id="129066" name="Line 42">
              <a:extLst>
                <a:ext uri="{FF2B5EF4-FFF2-40B4-BE49-F238E27FC236}">
                  <a16:creationId xmlns:a16="http://schemas.microsoft.com/office/drawing/2014/main" id="{07AFCCBB-38FC-6446-B663-4683919FC5EA}"/>
                </a:ext>
              </a:extLst>
            </p:cNvPr>
            <p:cNvSpPr>
              <a:spLocks noChangeShapeType="1"/>
            </p:cNvSpPr>
            <p:nvPr/>
          </p:nvSpPr>
          <p:spPr bwMode="auto">
            <a:xfrm>
              <a:off x="2256" y="2208"/>
              <a:ext cx="0" cy="336"/>
            </a:xfrm>
            <a:prstGeom prst="line">
              <a:avLst/>
            </a:prstGeom>
            <a:noFill/>
            <a:ln w="19050">
              <a:solidFill>
                <a:srgbClr val="BD5201"/>
              </a:solidFill>
              <a:round/>
              <a:headEnd/>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grpSp>
        <p:nvGrpSpPr>
          <p:cNvPr id="129069" name="Group 45">
            <a:extLst>
              <a:ext uri="{FF2B5EF4-FFF2-40B4-BE49-F238E27FC236}">
                <a16:creationId xmlns:a16="http://schemas.microsoft.com/office/drawing/2014/main" id="{596E8A9F-7794-3441-BB76-FB8BAE6C37FC}"/>
              </a:ext>
            </a:extLst>
          </p:cNvPr>
          <p:cNvGrpSpPr>
            <a:grpSpLocks/>
          </p:cNvGrpSpPr>
          <p:nvPr/>
        </p:nvGrpSpPr>
        <p:grpSpPr bwMode="auto">
          <a:xfrm>
            <a:off x="6172200" y="3429000"/>
            <a:ext cx="609600" cy="838200"/>
            <a:chOff x="3888" y="2160"/>
            <a:chExt cx="384" cy="528"/>
          </a:xfrm>
        </p:grpSpPr>
        <p:sp>
          <p:nvSpPr>
            <p:cNvPr id="129067" name="Line 43">
              <a:extLst>
                <a:ext uri="{FF2B5EF4-FFF2-40B4-BE49-F238E27FC236}">
                  <a16:creationId xmlns:a16="http://schemas.microsoft.com/office/drawing/2014/main" id="{9F690482-5F36-F84F-997D-6463C7D86A5F}"/>
                </a:ext>
              </a:extLst>
            </p:cNvPr>
            <p:cNvSpPr>
              <a:spLocks noChangeShapeType="1"/>
            </p:cNvSpPr>
            <p:nvPr/>
          </p:nvSpPr>
          <p:spPr bwMode="auto">
            <a:xfrm>
              <a:off x="4080" y="2352"/>
              <a:ext cx="0" cy="336"/>
            </a:xfrm>
            <a:prstGeom prst="line">
              <a:avLst/>
            </a:prstGeom>
            <a:noFill/>
            <a:ln w="19050">
              <a:solidFill>
                <a:srgbClr val="BD5201"/>
              </a:solidFill>
              <a:round/>
              <a:headEnd/>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29049" name="AutoShape 25">
              <a:extLst>
                <a:ext uri="{FF2B5EF4-FFF2-40B4-BE49-F238E27FC236}">
                  <a16:creationId xmlns:a16="http://schemas.microsoft.com/office/drawing/2014/main" id="{312AE3C5-2669-0643-AD55-5DA52812A5EE}"/>
                </a:ext>
              </a:extLst>
            </p:cNvPr>
            <p:cNvSpPr>
              <a:spLocks noChangeArrowheads="1"/>
            </p:cNvSpPr>
            <p:nvPr/>
          </p:nvSpPr>
          <p:spPr bwMode="auto">
            <a:xfrm>
              <a:off x="3888" y="2160"/>
              <a:ext cx="384" cy="288"/>
            </a:xfrm>
            <a:prstGeom prst="roundRect">
              <a:avLst>
                <a:gd name="adj" fmla="val 16667"/>
              </a:avLst>
            </a:prstGeom>
            <a:solidFill>
              <a:srgbClr val="FFDDC3"/>
            </a:solidFill>
            <a:ln w="19050">
              <a:solidFill>
                <a:srgbClr val="BD520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26000" tIns="118800" rIns="126000" bIns="118800" anchor="ctr"/>
            <a:lstStyle/>
            <a:p>
              <a:pPr algn="ctr" eaLnBrk="0" hangingPunct="0"/>
              <a:r>
                <a:rPr lang="en-US" altLang="en-US" sz="1400">
                  <a:solidFill>
                    <a:srgbClr val="00007A"/>
                  </a:solidFill>
                  <a:cs typeface="Times New Roman (Hebrew)" panose="02020603050405020304" pitchFamily="18" charset="0"/>
                </a:rPr>
                <a:t>D</a:t>
              </a:r>
              <a:endParaRPr lang="en-US" altLang="en-US" sz="1400">
                <a:solidFill>
                  <a:srgbClr val="800000"/>
                </a:solidFill>
                <a:cs typeface="Times New Roman (Hebrew)" panose="02020603050405020304" pitchFamily="18" charset="0"/>
              </a:endParaRPr>
            </a:p>
          </p:txBody>
        </p:sp>
      </p:grpSp>
      <p:grpSp>
        <p:nvGrpSpPr>
          <p:cNvPr id="129070" name="Group 46">
            <a:extLst>
              <a:ext uri="{FF2B5EF4-FFF2-40B4-BE49-F238E27FC236}">
                <a16:creationId xmlns:a16="http://schemas.microsoft.com/office/drawing/2014/main" id="{AC3C2C1D-F014-1746-A97E-6A16EFB0FF58}"/>
              </a:ext>
            </a:extLst>
          </p:cNvPr>
          <p:cNvGrpSpPr>
            <a:grpSpLocks/>
          </p:cNvGrpSpPr>
          <p:nvPr/>
        </p:nvGrpSpPr>
        <p:grpSpPr bwMode="auto">
          <a:xfrm>
            <a:off x="3200400" y="4800600"/>
            <a:ext cx="609600" cy="838200"/>
            <a:chOff x="2016" y="3024"/>
            <a:chExt cx="384" cy="528"/>
          </a:xfrm>
        </p:grpSpPr>
        <p:sp>
          <p:nvSpPr>
            <p:cNvPr id="129068" name="Line 44">
              <a:extLst>
                <a:ext uri="{FF2B5EF4-FFF2-40B4-BE49-F238E27FC236}">
                  <a16:creationId xmlns:a16="http://schemas.microsoft.com/office/drawing/2014/main" id="{90AEC5FA-E530-324B-A608-5D9094B6CE98}"/>
                </a:ext>
              </a:extLst>
            </p:cNvPr>
            <p:cNvSpPr>
              <a:spLocks noChangeShapeType="1"/>
            </p:cNvSpPr>
            <p:nvPr/>
          </p:nvSpPr>
          <p:spPr bwMode="auto">
            <a:xfrm>
              <a:off x="2208" y="3216"/>
              <a:ext cx="0" cy="336"/>
            </a:xfrm>
            <a:prstGeom prst="line">
              <a:avLst/>
            </a:prstGeom>
            <a:noFill/>
            <a:ln w="19050">
              <a:solidFill>
                <a:srgbClr val="BD5201"/>
              </a:solidFill>
              <a:round/>
              <a:headEnd/>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29046" name="AutoShape 22">
              <a:extLst>
                <a:ext uri="{FF2B5EF4-FFF2-40B4-BE49-F238E27FC236}">
                  <a16:creationId xmlns:a16="http://schemas.microsoft.com/office/drawing/2014/main" id="{7DFACF58-02D6-884D-A1EC-9130099BFEE7}"/>
                </a:ext>
              </a:extLst>
            </p:cNvPr>
            <p:cNvSpPr>
              <a:spLocks noChangeArrowheads="1"/>
            </p:cNvSpPr>
            <p:nvPr/>
          </p:nvSpPr>
          <p:spPr bwMode="auto">
            <a:xfrm>
              <a:off x="2016" y="3024"/>
              <a:ext cx="384" cy="288"/>
            </a:xfrm>
            <a:prstGeom prst="roundRect">
              <a:avLst>
                <a:gd name="adj" fmla="val 16667"/>
              </a:avLst>
            </a:prstGeom>
            <a:solidFill>
              <a:srgbClr val="FFDDC3"/>
            </a:solidFill>
            <a:ln w="19050">
              <a:solidFill>
                <a:srgbClr val="BD520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26000" tIns="118800" rIns="126000" bIns="118800" anchor="ctr"/>
            <a:lstStyle/>
            <a:p>
              <a:pPr algn="ctr" eaLnBrk="0" hangingPunct="0"/>
              <a:r>
                <a:rPr lang="en-US" altLang="en-US" sz="1400">
                  <a:solidFill>
                    <a:srgbClr val="00007A"/>
                  </a:solidFill>
                  <a:cs typeface="Times New Roman (Hebrew)" panose="02020603050405020304" pitchFamily="18" charset="0"/>
                </a:rPr>
                <a:t>A</a:t>
              </a:r>
              <a:endParaRPr lang="en-US" altLang="en-US" sz="1400">
                <a:solidFill>
                  <a:srgbClr val="800000"/>
                </a:solidFill>
                <a:cs typeface="Times New Roman (Hebrew)"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2907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90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41"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a:extLst>
              <a:ext uri="{FF2B5EF4-FFF2-40B4-BE49-F238E27FC236}">
                <a16:creationId xmlns:a16="http://schemas.microsoft.com/office/drawing/2014/main" id="{AF30D57C-11D2-BD49-A328-D8DD40CAB818}"/>
              </a:ext>
            </a:extLst>
          </p:cNvPr>
          <p:cNvSpPr>
            <a:spLocks noGrp="1" noChangeArrowheads="1"/>
          </p:cNvSpPr>
          <p:nvPr>
            <p:ph type="title"/>
          </p:nvPr>
        </p:nvSpPr>
        <p:spPr/>
        <p:txBody>
          <a:bodyPr/>
          <a:lstStyle/>
          <a:p>
            <a:r>
              <a:rPr lang="en-US" altLang="en-US"/>
              <a:t>CPU Emulator Tutorial</a:t>
            </a:r>
          </a:p>
        </p:txBody>
      </p:sp>
      <p:pic>
        <p:nvPicPr>
          <p:cNvPr id="137219" name="Picture 3" descr="G:\PPT Presentations\Pres Training\db Prepared Photos\monitor.jpg">
            <a:extLst>
              <a:ext uri="{FF2B5EF4-FFF2-40B4-BE49-F238E27FC236}">
                <a16:creationId xmlns:a16="http://schemas.microsoft.com/office/drawing/2014/main" id="{9E742EFB-7552-954F-AC8A-6741AC8EE0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219200"/>
            <a:ext cx="4572000" cy="4724400"/>
          </a:xfrm>
          <a:prstGeom prst="rect">
            <a:avLst/>
          </a:prstGeom>
          <a:noFill/>
          <a:extLst>
            <a:ext uri="{909E8E84-426E-40DD-AFC4-6F175D3DCCD1}">
              <a14:hiddenFill xmlns:a14="http://schemas.microsoft.com/office/drawing/2010/main">
                <a:solidFill>
                  <a:srgbClr val="FFFFFF"/>
                </a:solidFill>
              </a14:hiddenFill>
            </a:ext>
          </a:extLst>
        </p:spPr>
      </p:pic>
      <p:sp>
        <p:nvSpPr>
          <p:cNvPr id="137220" name="Rectangle 4">
            <a:extLst>
              <a:ext uri="{FF2B5EF4-FFF2-40B4-BE49-F238E27FC236}">
                <a16:creationId xmlns:a16="http://schemas.microsoft.com/office/drawing/2014/main" id="{A0D4033F-6693-7C46-B208-A2CEA294EC31}"/>
              </a:ext>
            </a:extLst>
          </p:cNvPr>
          <p:cNvSpPr>
            <a:spLocks noChangeArrowheads="1"/>
          </p:cNvSpPr>
          <p:nvPr/>
        </p:nvSpPr>
        <p:spPr bwMode="auto">
          <a:xfrm>
            <a:off x="3276600" y="2438400"/>
            <a:ext cx="3048000"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0513" indent="-290513">
              <a:spcBef>
                <a:spcPct val="40000"/>
              </a:spcBef>
              <a:buClr>
                <a:srgbClr val="006600"/>
              </a:buClr>
              <a:buSzPct val="110000"/>
              <a:buFont typeface="Wingdings" pitchFamily="2" charset="2"/>
              <a:buChar char="§"/>
              <a:tabLst>
                <a:tab pos="0" algn="l"/>
              </a:tabLst>
              <a:defRPr sz="2000">
                <a:solidFill>
                  <a:schemeClr val="tx1"/>
                </a:solidFill>
                <a:latin typeface="Arial" panose="020B0604020202020204" pitchFamily="34" charset="0"/>
                <a:cs typeface="Times New Roman (Hebrew)" panose="02020603050405020304" pitchFamily="18" charset="0"/>
              </a:defRPr>
            </a:lvl1pPr>
            <a:lvl2pPr marL="481013">
              <a:spcBef>
                <a:spcPct val="40000"/>
              </a:spcBef>
              <a:buClr>
                <a:srgbClr val="00007A"/>
              </a:buClr>
              <a:buSzPct val="125000"/>
              <a:buChar char="•"/>
              <a:tabLst>
                <a:tab pos="0" algn="l"/>
              </a:tabLst>
              <a:defRPr>
                <a:solidFill>
                  <a:schemeClr val="tx1"/>
                </a:solidFill>
                <a:latin typeface="Arial" panose="020B0604020202020204" pitchFamily="34" charset="0"/>
                <a:cs typeface="Times New Roman (Hebrew)" panose="02020603050405020304" pitchFamily="18" charset="0"/>
              </a:defRPr>
            </a:lvl2pPr>
            <a:lvl3pPr>
              <a:spcBef>
                <a:spcPct val="40000"/>
              </a:spcBef>
              <a:buClr>
                <a:srgbClr val="A50021"/>
              </a:buClr>
              <a:buSzPct val="110000"/>
              <a:buChar char="•"/>
              <a:tabLst>
                <a:tab pos="0" algn="l"/>
              </a:tabLst>
              <a:defRPr sz="1600">
                <a:solidFill>
                  <a:schemeClr val="tx1"/>
                </a:solidFill>
                <a:latin typeface="Arial" panose="020B0604020202020204" pitchFamily="34" charset="0"/>
                <a:cs typeface="Times New Roman (Hebrew)" panose="02020603050405020304" pitchFamily="18" charset="0"/>
              </a:defRPr>
            </a:lvl3pPr>
            <a:lvl4pPr>
              <a:spcBef>
                <a:spcPct val="40000"/>
              </a:spcBef>
              <a:buChar char="–"/>
              <a:tabLst>
                <a:tab pos="0" algn="l"/>
              </a:tabLst>
              <a:defRPr sz="1600">
                <a:solidFill>
                  <a:schemeClr val="tx1"/>
                </a:solidFill>
                <a:latin typeface="Arial" panose="020B0604020202020204" pitchFamily="34" charset="0"/>
                <a:cs typeface="Times New Roman (Hebrew)" panose="02020603050405020304" pitchFamily="18" charset="0"/>
              </a:defRPr>
            </a:lvl4pPr>
            <a:lvl5pPr>
              <a:spcBef>
                <a:spcPct val="40000"/>
              </a:spcBef>
              <a:buChar char="»"/>
              <a:tabLst>
                <a:tab pos="0" algn="l"/>
              </a:tabLst>
              <a:defRPr sz="1600">
                <a:solidFill>
                  <a:schemeClr val="tx1"/>
                </a:solidFill>
                <a:latin typeface="Arial" panose="020B0604020202020204" pitchFamily="34" charset="0"/>
                <a:cs typeface="Times New Roman (Hebrew)" panose="02020603050405020304" pitchFamily="18" charset="0"/>
              </a:defRPr>
            </a:lvl5pPr>
            <a:lvl6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6pPr>
            <a:lvl7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7pPr>
            <a:lvl8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8pPr>
            <a:lvl9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9pPr>
          </a:lstStyle>
          <a:p>
            <a:pPr algn="ctr">
              <a:spcBef>
                <a:spcPct val="60000"/>
              </a:spcBef>
              <a:buFont typeface="Wingdings" pitchFamily="2" charset="2"/>
              <a:buNone/>
            </a:pPr>
            <a:r>
              <a:rPr lang="en-US" altLang="he-IL" sz="2400" u="sng">
                <a:solidFill>
                  <a:srgbClr val="000066"/>
                </a:solidFill>
              </a:rPr>
              <a:t>Part II:</a:t>
            </a:r>
          </a:p>
          <a:p>
            <a:pPr algn="ctr">
              <a:spcBef>
                <a:spcPct val="60000"/>
              </a:spcBef>
              <a:buFont typeface="Wingdings" pitchFamily="2" charset="2"/>
              <a:buNone/>
            </a:pPr>
            <a:r>
              <a:rPr lang="en-US" altLang="he-IL" sz="2400">
                <a:solidFill>
                  <a:srgbClr val="000066"/>
                </a:solidFill>
              </a:rPr>
              <a:t>I/O Devices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5022" name="Picture 30">
            <a:extLst>
              <a:ext uri="{FF2B5EF4-FFF2-40B4-BE49-F238E27FC236}">
                <a16:creationId xmlns:a16="http://schemas.microsoft.com/office/drawing/2014/main" id="{4C31AAE4-5582-B64B-9EEE-BA31F0E70E74}"/>
              </a:ext>
            </a:extLst>
          </p:cNvPr>
          <p:cNvPicPr>
            <a:picLocks noChangeAspect="1" noChangeArrowheads="1"/>
          </p:cNvPicPr>
          <p:nvPr/>
        </p:nvPicPr>
        <p:blipFill>
          <a:blip r:embed="rId2">
            <a:lum contrast="-6000"/>
            <a:extLst>
              <a:ext uri="{28A0092B-C50C-407E-A947-70E740481C1C}">
                <a14:useLocalDpi xmlns:a14="http://schemas.microsoft.com/office/drawing/2010/main" val="0"/>
              </a:ext>
            </a:extLst>
          </a:blip>
          <a:srcRect/>
          <a:stretch>
            <a:fillRect/>
          </a:stretch>
        </p:blipFill>
        <p:spPr bwMode="auto">
          <a:xfrm>
            <a:off x="533400" y="708025"/>
            <a:ext cx="8077200" cy="584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4994" name="Rectangle 2">
            <a:extLst>
              <a:ext uri="{FF2B5EF4-FFF2-40B4-BE49-F238E27FC236}">
                <a16:creationId xmlns:a16="http://schemas.microsoft.com/office/drawing/2014/main" id="{2816E1A8-B934-4E45-890D-BE556A7688B0}"/>
              </a:ext>
            </a:extLst>
          </p:cNvPr>
          <p:cNvSpPr>
            <a:spLocks noGrp="1" noChangeArrowheads="1"/>
          </p:cNvSpPr>
          <p:nvPr>
            <p:ph type="title"/>
          </p:nvPr>
        </p:nvSpPr>
        <p:spPr/>
        <p:txBody>
          <a:bodyPr/>
          <a:lstStyle/>
          <a:p>
            <a:r>
              <a:rPr lang="en-US" altLang="en-US"/>
              <a:t>I/O devices: screen and keyboard</a:t>
            </a:r>
          </a:p>
        </p:txBody>
      </p:sp>
      <p:sp>
        <p:nvSpPr>
          <p:cNvPr id="85019" name="AutoShape 27">
            <a:extLst>
              <a:ext uri="{FF2B5EF4-FFF2-40B4-BE49-F238E27FC236}">
                <a16:creationId xmlns:a16="http://schemas.microsoft.com/office/drawing/2014/main" id="{BDDA6431-E12D-9D49-A15F-6A55B5329C3F}"/>
              </a:ext>
            </a:extLst>
          </p:cNvPr>
          <p:cNvSpPr>
            <a:spLocks noChangeArrowheads="1"/>
          </p:cNvSpPr>
          <p:nvPr/>
        </p:nvSpPr>
        <p:spPr bwMode="auto">
          <a:xfrm>
            <a:off x="5410200" y="1066800"/>
            <a:ext cx="3505200" cy="1524000"/>
          </a:xfrm>
          <a:prstGeom prst="wedgeRoundRectCallout">
            <a:avLst>
              <a:gd name="adj1" fmla="val -36958"/>
              <a:gd name="adj2" fmla="val 71250"/>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a:solidFill>
                  <a:srgbClr val="00007A"/>
                </a:solidFill>
              </a:rPr>
              <a:t>Simulated screen</a:t>
            </a:r>
            <a:r>
              <a:rPr lang="en-US" altLang="en-US" b="0"/>
              <a:t>: </a:t>
            </a:r>
            <a:r>
              <a:rPr lang="en-US" altLang="en-US" sz="1400" b="0"/>
              <a:t>256 columns by 512 rows, black &amp; white memory-mapped device.  The pixels are continuously refreshed from respective bits in an 8K memory-map, located at RAM[16384] - RAM[24575].</a:t>
            </a:r>
          </a:p>
        </p:txBody>
      </p:sp>
      <p:sp>
        <p:nvSpPr>
          <p:cNvPr id="85020" name="AutoShape 28">
            <a:extLst>
              <a:ext uri="{FF2B5EF4-FFF2-40B4-BE49-F238E27FC236}">
                <a16:creationId xmlns:a16="http://schemas.microsoft.com/office/drawing/2014/main" id="{3DC5418A-51F3-B64C-A4E6-793ECBFC91F4}"/>
              </a:ext>
            </a:extLst>
          </p:cNvPr>
          <p:cNvSpPr>
            <a:spLocks noChangeArrowheads="1"/>
          </p:cNvSpPr>
          <p:nvPr/>
        </p:nvSpPr>
        <p:spPr bwMode="auto">
          <a:xfrm>
            <a:off x="990600" y="4191000"/>
            <a:ext cx="3200400" cy="1828800"/>
          </a:xfrm>
          <a:prstGeom prst="wedgeRoundRectCallout">
            <a:avLst>
              <a:gd name="adj1" fmla="val 73708"/>
              <a:gd name="adj2" fmla="val -67968"/>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a:solidFill>
                  <a:srgbClr val="00007A"/>
                </a:solidFill>
              </a:rPr>
              <a:t>Simulated keyboard</a:t>
            </a:r>
            <a:r>
              <a:rPr lang="en-US" altLang="en-US" b="0"/>
              <a:t>:</a:t>
            </a:r>
            <a:br>
              <a:rPr lang="en-US" altLang="en-US" b="0"/>
            </a:br>
            <a:r>
              <a:rPr lang="en-US" altLang="en-US" b="0"/>
              <a:t>O</a:t>
            </a:r>
            <a:r>
              <a:rPr lang="en-US" altLang="en-US" sz="1400" b="0"/>
              <a:t>ne click on this button causes the CPU emulator to intercept all the keys subsequently pressed on the real computer’s keyboard; another click disengages the real keyboard from the emulator.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501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50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19" grpId="0" animBg="1" autoUpdateAnimBg="0"/>
      <p:bldP spid="85020"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51" name="Picture 43">
            <a:extLst>
              <a:ext uri="{FF2B5EF4-FFF2-40B4-BE49-F238E27FC236}">
                <a16:creationId xmlns:a16="http://schemas.microsoft.com/office/drawing/2014/main" id="{114D6E97-EA55-5442-A224-3749FCAA6D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708025"/>
            <a:ext cx="8077200" cy="584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4210" name="Rectangle 2">
            <a:extLst>
              <a:ext uri="{FF2B5EF4-FFF2-40B4-BE49-F238E27FC236}">
                <a16:creationId xmlns:a16="http://schemas.microsoft.com/office/drawing/2014/main" id="{8F599CAE-73E6-9C4F-99DD-4467091E6BB1}"/>
              </a:ext>
            </a:extLst>
          </p:cNvPr>
          <p:cNvSpPr>
            <a:spLocks noGrp="1" noChangeArrowheads="1"/>
          </p:cNvSpPr>
          <p:nvPr>
            <p:ph type="title"/>
          </p:nvPr>
        </p:nvSpPr>
        <p:spPr/>
        <p:txBody>
          <a:bodyPr/>
          <a:lstStyle/>
          <a:p>
            <a:r>
              <a:rPr lang="en-US" altLang="en-US"/>
              <a:t>Screen action demo</a:t>
            </a:r>
          </a:p>
        </p:txBody>
      </p:sp>
      <p:sp>
        <p:nvSpPr>
          <p:cNvPr id="94231" name="AutoShape 23">
            <a:extLst>
              <a:ext uri="{FF2B5EF4-FFF2-40B4-BE49-F238E27FC236}">
                <a16:creationId xmlns:a16="http://schemas.microsoft.com/office/drawing/2014/main" id="{86D6B975-FC14-CE43-AA1B-9A83959A2977}"/>
              </a:ext>
            </a:extLst>
          </p:cNvPr>
          <p:cNvSpPr>
            <a:spLocks noChangeArrowheads="1"/>
          </p:cNvSpPr>
          <p:nvPr/>
        </p:nvSpPr>
        <p:spPr bwMode="auto">
          <a:xfrm>
            <a:off x="4876800" y="4114800"/>
            <a:ext cx="3429000" cy="1676400"/>
          </a:xfrm>
          <a:prstGeom prst="wedgeRoundRectCallout">
            <a:avLst>
              <a:gd name="adj1" fmla="val -68194"/>
              <a:gd name="adj2" fmla="val -19884"/>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154800"/>
          <a:lstStyle>
            <a:lvl1pPr marL="288925" indent="-288925" algn="r" rtl="1">
              <a:defRPr sz="2400">
                <a:solidFill>
                  <a:schemeClr val="tx1"/>
                </a:solidFill>
                <a:latin typeface="Times New Roman" panose="02020603050405020304" pitchFamily="18" charset="0"/>
                <a:cs typeface="Times New Roman (Hebrew)" panose="02020603050405020304" pitchFamily="18" charset="0"/>
              </a:defRPr>
            </a:lvl1pPr>
            <a:lvl2pPr marL="1123950" indent="-457200" algn="r" rtl="1">
              <a:defRPr sz="2400">
                <a:solidFill>
                  <a:schemeClr val="tx1"/>
                </a:solidFill>
                <a:latin typeface="Times New Roman" panose="02020603050405020304" pitchFamily="18" charset="0"/>
                <a:cs typeface="Times New Roman (Hebrew)" panose="02020603050405020304" pitchFamily="18" charset="0"/>
              </a:defRPr>
            </a:lvl2pPr>
            <a:lvl3pPr marL="1771650" indent="-457200" algn="r" rtl="1">
              <a:defRPr sz="2400">
                <a:solidFill>
                  <a:schemeClr val="tx1"/>
                </a:solidFill>
                <a:latin typeface="Times New Roman" panose="02020603050405020304" pitchFamily="18" charset="0"/>
                <a:cs typeface="Times New Roman (Hebrew)" panose="02020603050405020304" pitchFamily="18" charset="0"/>
              </a:defRPr>
            </a:lvl3pPr>
            <a:lvl4pPr marL="2419350" indent="-457200" algn="r" rtl="1">
              <a:defRPr sz="2400">
                <a:solidFill>
                  <a:schemeClr val="tx1"/>
                </a:solidFill>
                <a:latin typeface="Times New Roman" panose="02020603050405020304" pitchFamily="18" charset="0"/>
                <a:cs typeface="Times New Roman (Hebrew)" panose="02020603050405020304" pitchFamily="18" charset="0"/>
              </a:defRPr>
            </a:lvl4pPr>
            <a:lvl5pPr marL="3067050" indent="-457200" algn="r" rtl="1">
              <a:defRPr sz="2400">
                <a:solidFill>
                  <a:schemeClr val="tx1"/>
                </a:solidFill>
                <a:latin typeface="Times New Roman" panose="02020603050405020304" pitchFamily="18" charset="0"/>
                <a:cs typeface="Times New Roman (Hebrew)" panose="02020603050405020304" pitchFamily="18" charset="0"/>
              </a:defRPr>
            </a:lvl5pPr>
            <a:lvl6pPr marL="352425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398145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443865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489585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buFontTx/>
              <a:buAutoNum type="arabicPeriod"/>
            </a:pPr>
            <a:r>
              <a:rPr lang="en-US" altLang="en-US" sz="1400" b="0">
                <a:latin typeface="Arial" panose="020B0604020202020204" pitchFamily="34" charset="0"/>
                <a:cs typeface="Arial" panose="020B0604020202020204" pitchFamily="34" charset="0"/>
              </a:rPr>
              <a:t>Select a word in the RAM region that serves as the screen memory map, e.g. address 16384 (the first word in the screen memory map).</a:t>
            </a:r>
          </a:p>
          <a:p>
            <a:pPr algn="l" rtl="0">
              <a:spcBef>
                <a:spcPct val="40000"/>
              </a:spcBef>
              <a:buFontTx/>
              <a:buAutoNum type="arabicPeriod"/>
            </a:pPr>
            <a:r>
              <a:rPr lang="en-US" altLang="en-US" sz="1400" b="0">
                <a:latin typeface="Arial" panose="020B0604020202020204" pitchFamily="34" charset="0"/>
                <a:cs typeface="Arial" panose="020B0604020202020204" pitchFamily="34" charset="0"/>
              </a:rPr>
              <a:t>Enter a value, say –1 (1111111111111111 in binary)</a:t>
            </a:r>
          </a:p>
        </p:txBody>
      </p:sp>
      <p:sp>
        <p:nvSpPr>
          <p:cNvPr id="94235" name="Oval 27">
            <a:extLst>
              <a:ext uri="{FF2B5EF4-FFF2-40B4-BE49-F238E27FC236}">
                <a16:creationId xmlns:a16="http://schemas.microsoft.com/office/drawing/2014/main" id="{207C196F-190D-4A4D-9CF3-8C62467FB42F}"/>
              </a:ext>
            </a:extLst>
          </p:cNvPr>
          <p:cNvSpPr>
            <a:spLocks noChangeArrowheads="1"/>
          </p:cNvSpPr>
          <p:nvPr/>
        </p:nvSpPr>
        <p:spPr bwMode="auto">
          <a:xfrm>
            <a:off x="4086225" y="1524000"/>
            <a:ext cx="561975" cy="609600"/>
          </a:xfrm>
          <a:prstGeom prst="ellipse">
            <a:avLst/>
          </a:prstGeom>
          <a:noFill/>
          <a:ln w="34925">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94242" name="Group 34">
            <a:extLst>
              <a:ext uri="{FF2B5EF4-FFF2-40B4-BE49-F238E27FC236}">
                <a16:creationId xmlns:a16="http://schemas.microsoft.com/office/drawing/2014/main" id="{14EFBC10-6262-504A-8AEB-798D5D28EFF0}"/>
              </a:ext>
            </a:extLst>
          </p:cNvPr>
          <p:cNvGrpSpPr>
            <a:grpSpLocks/>
          </p:cNvGrpSpPr>
          <p:nvPr/>
        </p:nvGrpSpPr>
        <p:grpSpPr bwMode="auto">
          <a:xfrm>
            <a:off x="2438400" y="1752600"/>
            <a:ext cx="5791200" cy="3124200"/>
            <a:chOff x="1536" y="1104"/>
            <a:chExt cx="3648" cy="1968"/>
          </a:xfrm>
        </p:grpSpPr>
        <p:sp>
          <p:nvSpPr>
            <p:cNvPr id="94234" name="AutoShape 26">
              <a:extLst>
                <a:ext uri="{FF2B5EF4-FFF2-40B4-BE49-F238E27FC236}">
                  <a16:creationId xmlns:a16="http://schemas.microsoft.com/office/drawing/2014/main" id="{5680E03C-C859-5842-892E-5B5CF7B5558F}"/>
                </a:ext>
              </a:extLst>
            </p:cNvPr>
            <p:cNvSpPr>
              <a:spLocks noChangeArrowheads="1"/>
            </p:cNvSpPr>
            <p:nvPr/>
          </p:nvSpPr>
          <p:spPr bwMode="auto">
            <a:xfrm>
              <a:off x="3364" y="1200"/>
              <a:ext cx="1820" cy="864"/>
            </a:xfrm>
            <a:prstGeom prst="roundRect">
              <a:avLst>
                <a:gd name="adj" fmla="val 16667"/>
              </a:avLst>
            </a:prstGeom>
            <a:solidFill>
              <a:srgbClr val="FFDDC3"/>
            </a:solidFill>
            <a:ln w="19050">
              <a:solidFill>
                <a:srgbClr val="BD520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nchor="ctr"/>
            <a:lstStyle/>
            <a:p>
              <a:pPr eaLnBrk="0" hangingPunct="0"/>
              <a:r>
                <a:rPr lang="en-US" altLang="en-US" sz="1400">
                  <a:solidFill>
                    <a:srgbClr val="00007A"/>
                  </a:solidFill>
                  <a:cs typeface="Times New Roman (Hebrew)" panose="02020603050405020304" pitchFamily="18" charset="0"/>
                </a:rPr>
                <a:t>3. Built-in Refresh action:</a:t>
              </a:r>
              <a:br>
                <a:rPr lang="en-US" altLang="en-US" sz="1400">
                  <a:solidFill>
                    <a:srgbClr val="00007A"/>
                  </a:solidFill>
                  <a:cs typeface="Times New Roman (Hebrew)" panose="02020603050405020304" pitchFamily="18" charset="0"/>
                </a:rPr>
              </a:br>
              <a:r>
                <a:rPr lang="en-US" altLang="en-US" sz="1400" b="0">
                  <a:solidFill>
                    <a:srgbClr val="800000"/>
                  </a:solidFill>
                  <a:cs typeface="Times New Roman (Hebrew)" panose="02020603050405020304" pitchFamily="18" charset="0"/>
                </a:rPr>
                <a:t>The emulator draws the corresponding pixels on the screen.  In this case, 16 black pixels, one for each binary 1.</a:t>
              </a:r>
            </a:p>
          </p:txBody>
        </p:sp>
        <p:cxnSp>
          <p:nvCxnSpPr>
            <p:cNvPr id="94236" name="AutoShape 28">
              <a:extLst>
                <a:ext uri="{FF2B5EF4-FFF2-40B4-BE49-F238E27FC236}">
                  <a16:creationId xmlns:a16="http://schemas.microsoft.com/office/drawing/2014/main" id="{B4D1689A-DD52-4E4E-9C43-82CE8ABFD76B}"/>
                </a:ext>
              </a:extLst>
            </p:cNvPr>
            <p:cNvCxnSpPr>
              <a:cxnSpLocks noChangeShapeType="1"/>
              <a:stCxn id="94234" idx="1"/>
              <a:endCxn id="94237" idx="2"/>
            </p:cNvCxnSpPr>
            <p:nvPr/>
          </p:nvCxnSpPr>
          <p:spPr bwMode="auto">
            <a:xfrm flipH="1" flipV="1">
              <a:off x="2897" y="1248"/>
              <a:ext cx="461" cy="384"/>
            </a:xfrm>
            <a:prstGeom prst="straightConnector1">
              <a:avLst/>
            </a:prstGeom>
            <a:noFill/>
            <a:ln w="31750">
              <a:solidFill>
                <a:srgbClr val="BD520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4237" name="Rectangle 29">
              <a:extLst>
                <a:ext uri="{FF2B5EF4-FFF2-40B4-BE49-F238E27FC236}">
                  <a16:creationId xmlns:a16="http://schemas.microsoft.com/office/drawing/2014/main" id="{FF018482-7CE3-FF46-80D9-FB28F605833E}"/>
                </a:ext>
              </a:extLst>
            </p:cNvPr>
            <p:cNvSpPr>
              <a:spLocks noChangeArrowheads="1"/>
            </p:cNvSpPr>
            <p:nvPr/>
          </p:nvSpPr>
          <p:spPr bwMode="auto">
            <a:xfrm>
              <a:off x="2796" y="1104"/>
              <a:ext cx="202"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0">
                <a:solidFill>
                  <a:schemeClr val="tx2"/>
                </a:solidFill>
              </a:endParaRPr>
            </a:p>
          </p:txBody>
        </p:sp>
        <p:cxnSp>
          <p:nvCxnSpPr>
            <p:cNvPr id="94238" name="AutoShape 30">
              <a:extLst>
                <a:ext uri="{FF2B5EF4-FFF2-40B4-BE49-F238E27FC236}">
                  <a16:creationId xmlns:a16="http://schemas.microsoft.com/office/drawing/2014/main" id="{F8DBA6CD-5BA7-0445-9D2C-87470B02EBE9}"/>
                </a:ext>
              </a:extLst>
            </p:cNvPr>
            <p:cNvCxnSpPr>
              <a:cxnSpLocks noChangeShapeType="1"/>
              <a:stCxn id="94234" idx="1"/>
              <a:endCxn id="94240" idx="7"/>
            </p:cNvCxnSpPr>
            <p:nvPr/>
          </p:nvCxnSpPr>
          <p:spPr bwMode="auto">
            <a:xfrm flipH="1">
              <a:off x="2478" y="1632"/>
              <a:ext cx="880" cy="1142"/>
            </a:xfrm>
            <a:prstGeom prst="straightConnector1">
              <a:avLst/>
            </a:prstGeom>
            <a:noFill/>
            <a:ln w="31750">
              <a:solidFill>
                <a:srgbClr val="BD520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4239" name="Rectangle 31">
              <a:extLst>
                <a:ext uri="{FF2B5EF4-FFF2-40B4-BE49-F238E27FC236}">
                  <a16:creationId xmlns:a16="http://schemas.microsoft.com/office/drawing/2014/main" id="{2089B493-B5EF-4D43-9312-B549957FA5E9}"/>
                </a:ext>
              </a:extLst>
            </p:cNvPr>
            <p:cNvSpPr>
              <a:spLocks noChangeArrowheads="1"/>
            </p:cNvSpPr>
            <p:nvPr/>
          </p:nvSpPr>
          <p:spPr bwMode="auto">
            <a:xfrm>
              <a:off x="2438" y="2688"/>
              <a:ext cx="202"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0">
                <a:solidFill>
                  <a:schemeClr val="tx2"/>
                </a:solidFill>
              </a:endParaRPr>
            </a:p>
          </p:txBody>
        </p:sp>
        <p:sp>
          <p:nvSpPr>
            <p:cNvPr id="94240" name="Oval 32">
              <a:extLst>
                <a:ext uri="{FF2B5EF4-FFF2-40B4-BE49-F238E27FC236}">
                  <a16:creationId xmlns:a16="http://schemas.microsoft.com/office/drawing/2014/main" id="{D6458C0F-59ED-1547-A7D5-3929939C5540}"/>
                </a:ext>
              </a:extLst>
            </p:cNvPr>
            <p:cNvSpPr>
              <a:spLocks noChangeArrowheads="1"/>
            </p:cNvSpPr>
            <p:nvPr/>
          </p:nvSpPr>
          <p:spPr bwMode="auto">
            <a:xfrm>
              <a:off x="1536" y="2736"/>
              <a:ext cx="1104" cy="336"/>
            </a:xfrm>
            <a:prstGeom prst="ellipse">
              <a:avLst/>
            </a:prstGeom>
            <a:noFill/>
            <a:ln w="34925">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94246" name="AutoShape 38">
            <a:extLst>
              <a:ext uri="{FF2B5EF4-FFF2-40B4-BE49-F238E27FC236}">
                <a16:creationId xmlns:a16="http://schemas.microsoft.com/office/drawing/2014/main" id="{5082C563-D9EE-2048-8C31-A14EB18246CE}"/>
              </a:ext>
            </a:extLst>
          </p:cNvPr>
          <p:cNvSpPr>
            <a:spLocks noChangeArrowheads="1"/>
          </p:cNvSpPr>
          <p:nvPr/>
        </p:nvSpPr>
        <p:spPr bwMode="auto">
          <a:xfrm>
            <a:off x="381000" y="762000"/>
            <a:ext cx="3657600" cy="3505200"/>
          </a:xfrm>
          <a:prstGeom prst="wedgeRoundRectCallout">
            <a:avLst>
              <a:gd name="adj1" fmla="val 18185"/>
              <a:gd name="adj2" fmla="val -273"/>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46800" rIns="18000"/>
          <a:lstStyle>
            <a:lvl1pPr marL="103188" indent="7938" algn="r" rtl="1">
              <a:defRPr sz="2400">
                <a:solidFill>
                  <a:schemeClr val="tx1"/>
                </a:solidFill>
                <a:latin typeface="Times New Roman" panose="02020603050405020304" pitchFamily="18" charset="0"/>
                <a:cs typeface="Times New Roman (Hebrew)" panose="02020603050405020304" pitchFamily="18" charset="0"/>
              </a:defRPr>
            </a:lvl1pPr>
            <a:lvl2pPr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pPr>
            <a:r>
              <a:rPr lang="en-US" altLang="en-US" sz="1400">
                <a:solidFill>
                  <a:srgbClr val="00007A"/>
                </a:solidFill>
                <a:latin typeface="Arial" panose="020B0604020202020204" pitchFamily="34" charset="0"/>
                <a:cs typeface="Arial" panose="020B0604020202020204" pitchFamily="34" charset="0"/>
              </a:rPr>
              <a:t>Perspective:</a:t>
            </a:r>
            <a:r>
              <a:rPr lang="en-US" altLang="en-US" sz="1400" b="0">
                <a:latin typeface="Arial" panose="020B0604020202020204" pitchFamily="34" charset="0"/>
                <a:cs typeface="Arial" panose="020B0604020202020204" pitchFamily="34" charset="0"/>
              </a:rPr>
              <a:t> That’s how computer programs put images (text, pictures, video) on the screen: they write bits into some display-oriented memory device.</a:t>
            </a:r>
          </a:p>
          <a:p>
            <a:pPr algn="l" rtl="0">
              <a:spcBef>
                <a:spcPct val="40000"/>
              </a:spcBef>
            </a:pPr>
            <a:r>
              <a:rPr lang="en-US" altLang="en-US" sz="1400" b="0">
                <a:latin typeface="Arial" panose="020B0604020202020204" pitchFamily="34" charset="0"/>
                <a:cs typeface="Arial" panose="020B0604020202020204" pitchFamily="34" charset="0"/>
              </a:rPr>
              <a:t>This is rather hard to do in machine language programming, but quite easy in high-level languages that write to the screen indirectly, using OS routines like </a:t>
            </a:r>
            <a:r>
              <a:rPr lang="en-US" altLang="en-US" sz="1300">
                <a:latin typeface="Courier New" panose="02070309020205020404" pitchFamily="49" charset="0"/>
                <a:cs typeface="Courier New" panose="02070309020205020404" pitchFamily="49" charset="0"/>
              </a:rPr>
              <a:t>printString</a:t>
            </a:r>
            <a:r>
              <a:rPr lang="en-US" altLang="en-US" sz="1400" b="0">
                <a:latin typeface="Arial" panose="020B0604020202020204" pitchFamily="34" charset="0"/>
                <a:cs typeface="Arial" panose="020B0604020202020204" pitchFamily="34" charset="0"/>
              </a:rPr>
              <a:t> or </a:t>
            </a:r>
            <a:r>
              <a:rPr lang="en-US" altLang="en-US" sz="1300">
                <a:latin typeface="Courier New" panose="02070309020205020404" pitchFamily="49" charset="0"/>
                <a:cs typeface="Courier New" panose="02070309020205020404" pitchFamily="49" charset="0"/>
              </a:rPr>
              <a:t>drawCircle</a:t>
            </a:r>
            <a:r>
              <a:rPr lang="en-US" altLang="en-US" sz="1400" b="0">
                <a:latin typeface="Arial" panose="020B0604020202020204" pitchFamily="34" charset="0"/>
                <a:cs typeface="Arial" panose="020B0604020202020204" pitchFamily="34" charset="0"/>
              </a:rPr>
              <a:t>, as we will see in chapters 9 and 12.</a:t>
            </a:r>
          </a:p>
          <a:p>
            <a:pPr algn="l" rtl="0">
              <a:spcBef>
                <a:spcPct val="40000"/>
              </a:spcBef>
            </a:pPr>
            <a:r>
              <a:rPr lang="en-US" altLang="en-US" sz="1400" b="0">
                <a:latin typeface="Arial" panose="020B0604020202020204" pitchFamily="34" charset="0"/>
                <a:cs typeface="Arial" panose="020B0604020202020204" pitchFamily="34" charset="0"/>
              </a:rPr>
              <a:t>Since all high level programs and OS routines are eventually translated into machine language, they all end up doing something like this example.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423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9" presetClass="entr" presetSubtype="10" fill="hold" nodeType="clickEffect">
                                  <p:stCondLst>
                                    <p:cond delay="0"/>
                                  </p:stCondLst>
                                  <p:childTnLst>
                                    <p:set>
                                      <p:cBhvr>
                                        <p:cTn id="10" dur="1" fill="hold">
                                          <p:stCondLst>
                                            <p:cond delay="0"/>
                                          </p:stCondLst>
                                        </p:cTn>
                                        <p:tgtEl>
                                          <p:spTgt spid="94235"/>
                                        </p:tgtEl>
                                        <p:attrNameLst>
                                          <p:attrName>style.visibility</p:attrName>
                                        </p:attrNameLst>
                                      </p:cBhvr>
                                      <p:to>
                                        <p:strVal val="visible"/>
                                      </p:to>
                                    </p:set>
                                    <p:anim calcmode="lin" valueType="num">
                                      <p:cBhvr>
                                        <p:cTn id="11" dur="5000" fill="hold"/>
                                        <p:tgtEl>
                                          <p:spTgt spid="94235"/>
                                        </p:tgtEl>
                                        <p:attrNameLst>
                                          <p:attrName>ppt_w</p:attrName>
                                        </p:attrNameLst>
                                      </p:cBhvr>
                                      <p:tavLst>
                                        <p:tav tm="0" fmla="#ppt_w*sin(2.5*pi*$)">
                                          <p:val>
                                            <p:fltVal val="0"/>
                                          </p:val>
                                        </p:tav>
                                        <p:tav tm="100000">
                                          <p:val>
                                            <p:fltVal val="1"/>
                                          </p:val>
                                        </p:tav>
                                      </p:tavLst>
                                    </p:anim>
                                    <p:anim calcmode="lin" valueType="num">
                                      <p:cBhvr>
                                        <p:cTn id="12" dur="5000" fill="hold"/>
                                        <p:tgtEl>
                                          <p:spTgt spid="94235"/>
                                        </p:tgtEl>
                                        <p:attrNameLst>
                                          <p:attrName>ppt_h</p:attrName>
                                        </p:attrNameLst>
                                      </p:cBhvr>
                                      <p:tavLst>
                                        <p:tav tm="0">
                                          <p:val>
                                            <p:strVal val="#ppt_h"/>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94242"/>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942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31" grpId="0" animBg="1" autoUpdateAnimBg="0"/>
      <p:bldP spid="94246"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0000" name="Picture 1040">
            <a:extLst>
              <a:ext uri="{FF2B5EF4-FFF2-40B4-BE49-F238E27FC236}">
                <a16:creationId xmlns:a16="http://schemas.microsoft.com/office/drawing/2014/main" id="{CA3E9888-5467-4A43-B429-4A4CC3C77A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708025"/>
            <a:ext cx="8077200" cy="584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9986" name="Rectangle 1026">
            <a:extLst>
              <a:ext uri="{FF2B5EF4-FFF2-40B4-BE49-F238E27FC236}">
                <a16:creationId xmlns:a16="http://schemas.microsoft.com/office/drawing/2014/main" id="{A594A275-FF6C-6E4E-9740-A2E4C1531EE0}"/>
              </a:ext>
            </a:extLst>
          </p:cNvPr>
          <p:cNvSpPr>
            <a:spLocks noGrp="1" noChangeArrowheads="1"/>
          </p:cNvSpPr>
          <p:nvPr>
            <p:ph type="title"/>
          </p:nvPr>
        </p:nvSpPr>
        <p:spPr/>
        <p:txBody>
          <a:bodyPr/>
          <a:lstStyle/>
          <a:p>
            <a:r>
              <a:rPr lang="en-US" altLang="en-US"/>
              <a:t>Keyboard action demo</a:t>
            </a:r>
          </a:p>
        </p:txBody>
      </p:sp>
      <p:sp>
        <p:nvSpPr>
          <p:cNvPr id="169990" name="AutoShape 1030">
            <a:extLst>
              <a:ext uri="{FF2B5EF4-FFF2-40B4-BE49-F238E27FC236}">
                <a16:creationId xmlns:a16="http://schemas.microsoft.com/office/drawing/2014/main" id="{9B85CE2B-0FA9-024C-82EE-58A690A0B584}"/>
              </a:ext>
            </a:extLst>
          </p:cNvPr>
          <p:cNvSpPr>
            <a:spLocks noChangeArrowheads="1"/>
          </p:cNvSpPr>
          <p:nvPr/>
        </p:nvSpPr>
        <p:spPr bwMode="auto">
          <a:xfrm>
            <a:off x="4648200" y="1676400"/>
            <a:ext cx="2819400" cy="1066800"/>
          </a:xfrm>
          <a:prstGeom prst="wedgeRoundRectCallout">
            <a:avLst>
              <a:gd name="adj1" fmla="val -7491"/>
              <a:gd name="adj2" fmla="val 153870"/>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154800"/>
          <a:lstStyle>
            <a:lvl1pPr marL="288925" indent="-288925" algn="r" rtl="1">
              <a:defRPr sz="2400">
                <a:solidFill>
                  <a:schemeClr val="tx1"/>
                </a:solidFill>
                <a:latin typeface="Times New Roman" panose="02020603050405020304" pitchFamily="18" charset="0"/>
                <a:cs typeface="Times New Roman (Hebrew)" panose="02020603050405020304" pitchFamily="18" charset="0"/>
              </a:defRPr>
            </a:lvl1pPr>
            <a:lvl2pPr marL="1123950" indent="-457200" algn="r" rtl="1">
              <a:defRPr sz="2400">
                <a:solidFill>
                  <a:schemeClr val="tx1"/>
                </a:solidFill>
                <a:latin typeface="Times New Roman" panose="02020603050405020304" pitchFamily="18" charset="0"/>
                <a:cs typeface="Times New Roman (Hebrew)" panose="02020603050405020304" pitchFamily="18" charset="0"/>
              </a:defRPr>
            </a:lvl2pPr>
            <a:lvl3pPr marL="1771650" indent="-457200" algn="r" rtl="1">
              <a:defRPr sz="2400">
                <a:solidFill>
                  <a:schemeClr val="tx1"/>
                </a:solidFill>
                <a:latin typeface="Times New Roman" panose="02020603050405020304" pitchFamily="18" charset="0"/>
                <a:cs typeface="Times New Roman (Hebrew)" panose="02020603050405020304" pitchFamily="18" charset="0"/>
              </a:defRPr>
            </a:lvl3pPr>
            <a:lvl4pPr marL="2419350" indent="-457200" algn="r" rtl="1">
              <a:defRPr sz="2400">
                <a:solidFill>
                  <a:schemeClr val="tx1"/>
                </a:solidFill>
                <a:latin typeface="Times New Roman" panose="02020603050405020304" pitchFamily="18" charset="0"/>
                <a:cs typeface="Times New Roman (Hebrew)" panose="02020603050405020304" pitchFamily="18" charset="0"/>
              </a:defRPr>
            </a:lvl4pPr>
            <a:lvl5pPr marL="3067050" indent="-457200" algn="r" rtl="1">
              <a:defRPr sz="2400">
                <a:solidFill>
                  <a:schemeClr val="tx1"/>
                </a:solidFill>
                <a:latin typeface="Times New Roman" panose="02020603050405020304" pitchFamily="18" charset="0"/>
                <a:cs typeface="Times New Roman (Hebrew)" panose="02020603050405020304" pitchFamily="18" charset="0"/>
              </a:defRPr>
            </a:lvl5pPr>
            <a:lvl6pPr marL="352425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398145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443865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489585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buFontTx/>
              <a:buAutoNum type="arabicPeriod"/>
            </a:pPr>
            <a:r>
              <a:rPr lang="en-US" altLang="en-US" sz="1400" b="0">
                <a:latin typeface="Arial" panose="020B0604020202020204" pitchFamily="34" charset="0"/>
                <a:cs typeface="Arial" panose="020B0604020202020204" pitchFamily="34" charset="0"/>
              </a:rPr>
              <a:t>Click the keyboard enabler</a:t>
            </a:r>
          </a:p>
          <a:p>
            <a:pPr algn="l" rtl="0">
              <a:spcBef>
                <a:spcPct val="40000"/>
              </a:spcBef>
              <a:buFontTx/>
              <a:buAutoNum type="arabicPeriod"/>
            </a:pPr>
            <a:r>
              <a:rPr lang="en-US" altLang="en-US" sz="1400" b="0">
                <a:latin typeface="Arial" panose="020B0604020202020204" pitchFamily="34" charset="0"/>
                <a:cs typeface="Arial" panose="020B0604020202020204" pitchFamily="34" charset="0"/>
              </a:rPr>
              <a:t>Press some key on the real keyboard, say “S”</a:t>
            </a:r>
          </a:p>
        </p:txBody>
      </p:sp>
      <p:sp>
        <p:nvSpPr>
          <p:cNvPr id="169991" name="AutoShape 1031">
            <a:extLst>
              <a:ext uri="{FF2B5EF4-FFF2-40B4-BE49-F238E27FC236}">
                <a16:creationId xmlns:a16="http://schemas.microsoft.com/office/drawing/2014/main" id="{EC65DCEA-8AFA-6B4A-9E6D-BBF6FB998F22}"/>
              </a:ext>
            </a:extLst>
          </p:cNvPr>
          <p:cNvSpPr>
            <a:spLocks noChangeArrowheads="1"/>
          </p:cNvSpPr>
          <p:nvPr/>
        </p:nvSpPr>
        <p:spPr bwMode="auto">
          <a:xfrm>
            <a:off x="2971800" y="4572000"/>
            <a:ext cx="1447800" cy="381000"/>
          </a:xfrm>
          <a:prstGeom prst="wedgeRoundRectCallout">
            <a:avLst>
              <a:gd name="adj1" fmla="val -16338"/>
              <a:gd name="adj2" fmla="val 195000"/>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46800"/>
          <a:lstStyle>
            <a:lvl1pPr marL="288925" indent="-288925" algn="r" rtl="1">
              <a:defRPr sz="2400">
                <a:solidFill>
                  <a:schemeClr val="tx1"/>
                </a:solidFill>
                <a:latin typeface="Times New Roman" panose="02020603050405020304" pitchFamily="18" charset="0"/>
                <a:cs typeface="Times New Roman (Hebrew)" panose="02020603050405020304" pitchFamily="18" charset="0"/>
              </a:defRPr>
            </a:lvl1pPr>
            <a:lvl2pPr marL="1123950" indent="-457200" algn="r" rtl="1">
              <a:defRPr sz="2400">
                <a:solidFill>
                  <a:schemeClr val="tx1"/>
                </a:solidFill>
                <a:latin typeface="Times New Roman" panose="02020603050405020304" pitchFamily="18" charset="0"/>
                <a:cs typeface="Times New Roman (Hebrew)" panose="02020603050405020304" pitchFamily="18" charset="0"/>
              </a:defRPr>
            </a:lvl2pPr>
            <a:lvl3pPr marL="1771650" indent="-457200" algn="r" rtl="1">
              <a:defRPr sz="2400">
                <a:solidFill>
                  <a:schemeClr val="tx1"/>
                </a:solidFill>
                <a:latin typeface="Times New Roman" panose="02020603050405020304" pitchFamily="18" charset="0"/>
                <a:cs typeface="Times New Roman (Hebrew)" panose="02020603050405020304" pitchFamily="18" charset="0"/>
              </a:defRPr>
            </a:lvl3pPr>
            <a:lvl4pPr marL="2419350" indent="-457200" algn="r" rtl="1">
              <a:defRPr sz="2400">
                <a:solidFill>
                  <a:schemeClr val="tx1"/>
                </a:solidFill>
                <a:latin typeface="Times New Roman" panose="02020603050405020304" pitchFamily="18" charset="0"/>
                <a:cs typeface="Times New Roman (Hebrew)" panose="02020603050405020304" pitchFamily="18" charset="0"/>
              </a:defRPr>
            </a:lvl4pPr>
            <a:lvl5pPr marL="3067050" indent="-457200" algn="r" rtl="1">
              <a:defRPr sz="2400">
                <a:solidFill>
                  <a:schemeClr val="tx1"/>
                </a:solidFill>
                <a:latin typeface="Times New Roman" panose="02020603050405020304" pitchFamily="18" charset="0"/>
                <a:cs typeface="Times New Roman (Hebrew)" panose="02020603050405020304" pitchFamily="18" charset="0"/>
              </a:defRPr>
            </a:lvl5pPr>
            <a:lvl6pPr marL="352425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398145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443865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489585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pPr>
            <a:r>
              <a:rPr lang="en-US" altLang="en-US" sz="1400" b="0">
                <a:latin typeface="Arial" panose="020B0604020202020204" pitchFamily="34" charset="0"/>
                <a:cs typeface="Arial" panose="020B0604020202020204" pitchFamily="34" charset="0"/>
              </a:rPr>
              <a:t>3. Watch here:</a:t>
            </a:r>
          </a:p>
        </p:txBody>
      </p:sp>
      <p:grpSp>
        <p:nvGrpSpPr>
          <p:cNvPr id="169998" name="Group 1038">
            <a:extLst>
              <a:ext uri="{FF2B5EF4-FFF2-40B4-BE49-F238E27FC236}">
                <a16:creationId xmlns:a16="http://schemas.microsoft.com/office/drawing/2014/main" id="{AC3C3CC1-6E38-A34E-83D6-1BFD5EAFD2D6}"/>
              </a:ext>
            </a:extLst>
          </p:cNvPr>
          <p:cNvGrpSpPr>
            <a:grpSpLocks/>
          </p:cNvGrpSpPr>
          <p:nvPr/>
        </p:nvGrpSpPr>
        <p:grpSpPr bwMode="auto">
          <a:xfrm>
            <a:off x="533400" y="5029200"/>
            <a:ext cx="2149475" cy="914400"/>
            <a:chOff x="336" y="3168"/>
            <a:chExt cx="1354" cy="576"/>
          </a:xfrm>
        </p:grpSpPr>
        <p:sp>
          <p:nvSpPr>
            <p:cNvPr id="169995" name="AutoShape 1035">
              <a:extLst>
                <a:ext uri="{FF2B5EF4-FFF2-40B4-BE49-F238E27FC236}">
                  <a16:creationId xmlns:a16="http://schemas.microsoft.com/office/drawing/2014/main" id="{EEECDFF0-B7CE-1B47-9CB4-87360CA1F3A4}"/>
                </a:ext>
              </a:extLst>
            </p:cNvPr>
            <p:cNvSpPr>
              <a:spLocks noChangeArrowheads="1"/>
            </p:cNvSpPr>
            <p:nvPr/>
          </p:nvSpPr>
          <p:spPr bwMode="auto">
            <a:xfrm>
              <a:off x="336" y="3168"/>
              <a:ext cx="1104" cy="576"/>
            </a:xfrm>
            <a:prstGeom prst="roundRect">
              <a:avLst>
                <a:gd name="adj" fmla="val 16667"/>
              </a:avLst>
            </a:prstGeom>
            <a:solidFill>
              <a:srgbClr val="FFDDC3"/>
            </a:solidFill>
            <a:ln w="19050">
              <a:solidFill>
                <a:srgbClr val="BD520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18800" rIns="54000" bIns="118800" anchor="ctr"/>
            <a:lstStyle/>
            <a:p>
              <a:pPr eaLnBrk="0" hangingPunct="0"/>
              <a:r>
                <a:rPr lang="en-US" altLang="en-US" sz="1400">
                  <a:solidFill>
                    <a:srgbClr val="00007A"/>
                  </a:solidFill>
                  <a:cs typeface="Times New Roman (Hebrew)" panose="02020603050405020304" pitchFamily="18" charset="0"/>
                </a:rPr>
                <a:t>Keyboard memory map</a:t>
              </a:r>
              <a:br>
                <a:rPr lang="en-US" altLang="en-US" sz="1400">
                  <a:solidFill>
                    <a:srgbClr val="00007A"/>
                  </a:solidFill>
                  <a:cs typeface="Times New Roman (Hebrew)" panose="02020603050405020304" pitchFamily="18" charset="0"/>
                </a:rPr>
              </a:br>
              <a:r>
                <a:rPr lang="en-US" altLang="en-US" sz="1400">
                  <a:cs typeface="Times New Roman (Hebrew)" panose="02020603050405020304" pitchFamily="18" charset="0"/>
                </a:rPr>
                <a:t>(a single 16-bit memory location)</a:t>
              </a:r>
            </a:p>
          </p:txBody>
        </p:sp>
        <p:cxnSp>
          <p:nvCxnSpPr>
            <p:cNvPr id="169996" name="AutoShape 1036">
              <a:extLst>
                <a:ext uri="{FF2B5EF4-FFF2-40B4-BE49-F238E27FC236}">
                  <a16:creationId xmlns:a16="http://schemas.microsoft.com/office/drawing/2014/main" id="{4272AB5D-1DC4-434B-9C25-9268BA188243}"/>
                </a:ext>
              </a:extLst>
            </p:cNvPr>
            <p:cNvCxnSpPr>
              <a:cxnSpLocks noChangeShapeType="1"/>
              <a:stCxn id="169995" idx="3"/>
              <a:endCxn id="169997" idx="2"/>
            </p:cNvCxnSpPr>
            <p:nvPr/>
          </p:nvCxnSpPr>
          <p:spPr bwMode="auto">
            <a:xfrm>
              <a:off x="1446" y="3456"/>
              <a:ext cx="143" cy="0"/>
            </a:xfrm>
            <a:prstGeom prst="straightConnector1">
              <a:avLst/>
            </a:prstGeom>
            <a:noFill/>
            <a:ln w="19050">
              <a:solidFill>
                <a:srgbClr val="BD5201"/>
              </a:solidFill>
              <a:round/>
              <a:headEnd/>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997" name="Rectangle 1037">
              <a:extLst>
                <a:ext uri="{FF2B5EF4-FFF2-40B4-BE49-F238E27FC236}">
                  <a16:creationId xmlns:a16="http://schemas.microsoft.com/office/drawing/2014/main" id="{B54C0B56-FBDA-CE4A-864E-6FEB3C1842AC}"/>
                </a:ext>
              </a:extLst>
            </p:cNvPr>
            <p:cNvSpPr>
              <a:spLocks noChangeArrowheads="1"/>
            </p:cNvSpPr>
            <p:nvPr/>
          </p:nvSpPr>
          <p:spPr bwMode="auto">
            <a:xfrm>
              <a:off x="1488" y="3312"/>
              <a:ext cx="202"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000" b="0">
                <a:solidFill>
                  <a:schemeClr val="tx2"/>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999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699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90" grpId="0" animBg="1" autoUpdateAnimBg="0"/>
      <p:bldP spid="169991"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1029" name="Picture 1045">
            <a:extLst>
              <a:ext uri="{FF2B5EF4-FFF2-40B4-BE49-F238E27FC236}">
                <a16:creationId xmlns:a16="http://schemas.microsoft.com/office/drawing/2014/main" id="{87FBF45C-16C8-9F48-9863-00E69EA283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708025"/>
            <a:ext cx="8077200" cy="584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1014" name="Rectangle 1030">
            <a:extLst>
              <a:ext uri="{FF2B5EF4-FFF2-40B4-BE49-F238E27FC236}">
                <a16:creationId xmlns:a16="http://schemas.microsoft.com/office/drawing/2014/main" id="{5DBD9EF7-108B-8E44-9DD5-6B75268DB018}"/>
              </a:ext>
            </a:extLst>
          </p:cNvPr>
          <p:cNvSpPr>
            <a:spLocks noGrp="1" noChangeArrowheads="1"/>
          </p:cNvSpPr>
          <p:nvPr>
            <p:ph type="title"/>
          </p:nvPr>
        </p:nvSpPr>
        <p:spPr>
          <a:noFill/>
          <a:ln/>
        </p:spPr>
        <p:txBody>
          <a:bodyPr/>
          <a:lstStyle/>
          <a:p>
            <a:r>
              <a:rPr lang="en-US" altLang="en-US"/>
              <a:t>Keyboard action demo</a:t>
            </a:r>
          </a:p>
        </p:txBody>
      </p:sp>
      <p:grpSp>
        <p:nvGrpSpPr>
          <p:cNvPr id="171016" name="Group 1032">
            <a:extLst>
              <a:ext uri="{FF2B5EF4-FFF2-40B4-BE49-F238E27FC236}">
                <a16:creationId xmlns:a16="http://schemas.microsoft.com/office/drawing/2014/main" id="{BE74088E-C1EF-B140-B03B-652BF4022A9A}"/>
              </a:ext>
            </a:extLst>
          </p:cNvPr>
          <p:cNvGrpSpPr>
            <a:grpSpLocks/>
          </p:cNvGrpSpPr>
          <p:nvPr/>
        </p:nvGrpSpPr>
        <p:grpSpPr bwMode="auto">
          <a:xfrm>
            <a:off x="533400" y="5029200"/>
            <a:ext cx="2149475" cy="914400"/>
            <a:chOff x="336" y="3168"/>
            <a:chExt cx="1354" cy="576"/>
          </a:xfrm>
        </p:grpSpPr>
        <p:sp>
          <p:nvSpPr>
            <p:cNvPr id="171017" name="AutoShape 1033">
              <a:extLst>
                <a:ext uri="{FF2B5EF4-FFF2-40B4-BE49-F238E27FC236}">
                  <a16:creationId xmlns:a16="http://schemas.microsoft.com/office/drawing/2014/main" id="{4A435C45-D7ED-414D-92F6-7BBD1AE45683}"/>
                </a:ext>
              </a:extLst>
            </p:cNvPr>
            <p:cNvSpPr>
              <a:spLocks noChangeArrowheads="1"/>
            </p:cNvSpPr>
            <p:nvPr/>
          </p:nvSpPr>
          <p:spPr bwMode="auto">
            <a:xfrm>
              <a:off x="336" y="3168"/>
              <a:ext cx="1104" cy="576"/>
            </a:xfrm>
            <a:prstGeom prst="roundRect">
              <a:avLst>
                <a:gd name="adj" fmla="val 16667"/>
              </a:avLst>
            </a:prstGeom>
            <a:solidFill>
              <a:srgbClr val="FFDDC3"/>
            </a:solidFill>
            <a:ln w="19050">
              <a:solidFill>
                <a:srgbClr val="BD520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18800" rIns="54000" bIns="118800" anchor="ctr"/>
            <a:lstStyle/>
            <a:p>
              <a:pPr eaLnBrk="0" hangingPunct="0"/>
              <a:r>
                <a:rPr lang="en-US" altLang="en-US" sz="1400">
                  <a:solidFill>
                    <a:srgbClr val="00007A"/>
                  </a:solidFill>
                  <a:cs typeface="Times New Roman (Hebrew)" panose="02020603050405020304" pitchFamily="18" charset="0"/>
                </a:rPr>
                <a:t>Keyboard memory map</a:t>
              </a:r>
              <a:br>
                <a:rPr lang="en-US" altLang="en-US" sz="1400">
                  <a:solidFill>
                    <a:srgbClr val="00007A"/>
                  </a:solidFill>
                  <a:cs typeface="Times New Roman (Hebrew)" panose="02020603050405020304" pitchFamily="18" charset="0"/>
                </a:rPr>
              </a:br>
              <a:r>
                <a:rPr lang="en-US" altLang="en-US" sz="1400">
                  <a:cs typeface="Times New Roman (Hebrew)" panose="02020603050405020304" pitchFamily="18" charset="0"/>
                </a:rPr>
                <a:t>(a single 16-bit memory location</a:t>
              </a:r>
              <a:r>
                <a:rPr lang="en-US" altLang="en-US" sz="1400">
                  <a:solidFill>
                    <a:srgbClr val="00007A"/>
                  </a:solidFill>
                  <a:cs typeface="Times New Roman (Hebrew)" panose="02020603050405020304" pitchFamily="18" charset="0"/>
                </a:rPr>
                <a:t>)</a:t>
              </a:r>
              <a:endParaRPr lang="en-US" altLang="en-US" sz="1400">
                <a:solidFill>
                  <a:srgbClr val="800000"/>
                </a:solidFill>
                <a:cs typeface="Times New Roman (Hebrew)" panose="02020603050405020304" pitchFamily="18" charset="0"/>
              </a:endParaRPr>
            </a:p>
          </p:txBody>
        </p:sp>
        <p:cxnSp>
          <p:nvCxnSpPr>
            <p:cNvPr id="171018" name="AutoShape 1034">
              <a:extLst>
                <a:ext uri="{FF2B5EF4-FFF2-40B4-BE49-F238E27FC236}">
                  <a16:creationId xmlns:a16="http://schemas.microsoft.com/office/drawing/2014/main" id="{090AE80E-12D1-6146-893B-C2B40B8FBC2C}"/>
                </a:ext>
              </a:extLst>
            </p:cNvPr>
            <p:cNvCxnSpPr>
              <a:cxnSpLocks noChangeShapeType="1"/>
              <a:stCxn id="171017" idx="3"/>
              <a:endCxn id="171019" idx="2"/>
            </p:cNvCxnSpPr>
            <p:nvPr/>
          </p:nvCxnSpPr>
          <p:spPr bwMode="auto">
            <a:xfrm>
              <a:off x="1446" y="3456"/>
              <a:ext cx="143" cy="0"/>
            </a:xfrm>
            <a:prstGeom prst="straightConnector1">
              <a:avLst/>
            </a:prstGeom>
            <a:noFill/>
            <a:ln w="19050">
              <a:solidFill>
                <a:srgbClr val="BD5201"/>
              </a:solidFill>
              <a:round/>
              <a:headEnd/>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1019" name="Rectangle 1035">
              <a:extLst>
                <a:ext uri="{FF2B5EF4-FFF2-40B4-BE49-F238E27FC236}">
                  <a16:creationId xmlns:a16="http://schemas.microsoft.com/office/drawing/2014/main" id="{1F41CD75-2478-834A-90D0-C419F291E5EC}"/>
                </a:ext>
              </a:extLst>
            </p:cNvPr>
            <p:cNvSpPr>
              <a:spLocks noChangeArrowheads="1"/>
            </p:cNvSpPr>
            <p:nvPr/>
          </p:nvSpPr>
          <p:spPr bwMode="auto">
            <a:xfrm>
              <a:off x="1488" y="3312"/>
              <a:ext cx="202"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000" b="0">
                <a:solidFill>
                  <a:schemeClr val="tx2"/>
                </a:solidFill>
              </a:endParaRPr>
            </a:p>
          </p:txBody>
        </p:sp>
      </p:grpSp>
      <p:sp>
        <p:nvSpPr>
          <p:cNvPr id="171020" name="Oval 1036">
            <a:extLst>
              <a:ext uri="{FF2B5EF4-FFF2-40B4-BE49-F238E27FC236}">
                <a16:creationId xmlns:a16="http://schemas.microsoft.com/office/drawing/2014/main" id="{E7AA325B-DD3A-BF41-B45D-F9958FD324D9}"/>
              </a:ext>
            </a:extLst>
          </p:cNvPr>
          <p:cNvSpPr>
            <a:spLocks noChangeArrowheads="1"/>
          </p:cNvSpPr>
          <p:nvPr/>
        </p:nvSpPr>
        <p:spPr bwMode="auto">
          <a:xfrm>
            <a:off x="7086600" y="3505200"/>
            <a:ext cx="561975" cy="609600"/>
          </a:xfrm>
          <a:prstGeom prst="ellipse">
            <a:avLst/>
          </a:prstGeom>
          <a:noFill/>
          <a:ln w="34925">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1021" name="Oval 1037">
            <a:extLst>
              <a:ext uri="{FF2B5EF4-FFF2-40B4-BE49-F238E27FC236}">
                <a16:creationId xmlns:a16="http://schemas.microsoft.com/office/drawing/2014/main" id="{797B1B70-A91F-A44E-AD3C-82F7EC5F65DD}"/>
              </a:ext>
            </a:extLst>
          </p:cNvPr>
          <p:cNvSpPr>
            <a:spLocks noChangeArrowheads="1"/>
          </p:cNvSpPr>
          <p:nvPr/>
        </p:nvSpPr>
        <p:spPr bwMode="auto">
          <a:xfrm>
            <a:off x="3705225" y="5257800"/>
            <a:ext cx="561975" cy="457200"/>
          </a:xfrm>
          <a:prstGeom prst="ellipse">
            <a:avLst/>
          </a:prstGeom>
          <a:noFill/>
          <a:ln w="34925">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71027" name="Group 1043">
            <a:extLst>
              <a:ext uri="{FF2B5EF4-FFF2-40B4-BE49-F238E27FC236}">
                <a16:creationId xmlns:a16="http://schemas.microsoft.com/office/drawing/2014/main" id="{7171883B-EADF-5A46-A14F-C6B9C89478A8}"/>
              </a:ext>
            </a:extLst>
          </p:cNvPr>
          <p:cNvGrpSpPr>
            <a:grpSpLocks/>
          </p:cNvGrpSpPr>
          <p:nvPr/>
        </p:nvGrpSpPr>
        <p:grpSpPr bwMode="auto">
          <a:xfrm>
            <a:off x="4876800" y="2209800"/>
            <a:ext cx="3429000" cy="3505200"/>
            <a:chOff x="3072" y="1392"/>
            <a:chExt cx="2160" cy="2208"/>
          </a:xfrm>
        </p:grpSpPr>
        <p:sp>
          <p:nvSpPr>
            <p:cNvPr id="171023" name="AutoShape 1039">
              <a:extLst>
                <a:ext uri="{FF2B5EF4-FFF2-40B4-BE49-F238E27FC236}">
                  <a16:creationId xmlns:a16="http://schemas.microsoft.com/office/drawing/2014/main" id="{852E3E27-EA4D-8646-A80B-B1787152B85C}"/>
                </a:ext>
              </a:extLst>
            </p:cNvPr>
            <p:cNvSpPr>
              <a:spLocks noChangeArrowheads="1"/>
            </p:cNvSpPr>
            <p:nvPr/>
          </p:nvSpPr>
          <p:spPr bwMode="auto">
            <a:xfrm>
              <a:off x="4320" y="1392"/>
              <a:ext cx="912" cy="384"/>
            </a:xfrm>
            <a:prstGeom prst="wedgeRoundRectCallout">
              <a:avLst>
                <a:gd name="adj1" fmla="val -11074"/>
                <a:gd name="adj2" fmla="val 140625"/>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46800"/>
            <a:lstStyle>
              <a:lvl1pPr marL="95250" indent="1588" algn="r" rtl="1">
                <a:defRPr sz="2400">
                  <a:solidFill>
                    <a:schemeClr val="tx1"/>
                  </a:solidFill>
                  <a:latin typeface="Times New Roman" panose="02020603050405020304" pitchFamily="18" charset="0"/>
                  <a:cs typeface="Times New Roman (Hebrew)" panose="02020603050405020304" pitchFamily="18" charset="0"/>
                </a:defRPr>
              </a:lvl1pPr>
              <a:lvl2pPr marL="1123950" indent="-457200" algn="r" rtl="1">
                <a:defRPr sz="2400">
                  <a:solidFill>
                    <a:schemeClr val="tx1"/>
                  </a:solidFill>
                  <a:latin typeface="Times New Roman" panose="02020603050405020304" pitchFamily="18" charset="0"/>
                  <a:cs typeface="Times New Roman (Hebrew)" panose="02020603050405020304" pitchFamily="18" charset="0"/>
                </a:defRPr>
              </a:lvl2pPr>
              <a:lvl3pPr marL="1771650" indent="-457200" algn="r" rtl="1">
                <a:defRPr sz="2400">
                  <a:solidFill>
                    <a:schemeClr val="tx1"/>
                  </a:solidFill>
                  <a:latin typeface="Times New Roman" panose="02020603050405020304" pitchFamily="18" charset="0"/>
                  <a:cs typeface="Times New Roman (Hebrew)" panose="02020603050405020304" pitchFamily="18" charset="0"/>
                </a:defRPr>
              </a:lvl3pPr>
              <a:lvl4pPr marL="2419350" indent="-457200" algn="r" rtl="1">
                <a:defRPr sz="2400">
                  <a:solidFill>
                    <a:schemeClr val="tx1"/>
                  </a:solidFill>
                  <a:latin typeface="Times New Roman" panose="02020603050405020304" pitchFamily="18" charset="0"/>
                  <a:cs typeface="Times New Roman (Hebrew)" panose="02020603050405020304" pitchFamily="18" charset="0"/>
                </a:defRPr>
              </a:lvl4pPr>
              <a:lvl5pPr marL="3067050" indent="-457200" algn="r" rtl="1">
                <a:defRPr sz="2400">
                  <a:solidFill>
                    <a:schemeClr val="tx1"/>
                  </a:solidFill>
                  <a:latin typeface="Times New Roman" panose="02020603050405020304" pitchFamily="18" charset="0"/>
                  <a:cs typeface="Times New Roman (Hebrew)" panose="02020603050405020304" pitchFamily="18" charset="0"/>
                </a:defRPr>
              </a:lvl5pPr>
              <a:lvl6pPr marL="352425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398145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443865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489585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pPr>
              <a:r>
                <a:rPr lang="en-US" altLang="en-US" sz="1400" b="0">
                  <a:latin typeface="Arial" panose="020B0604020202020204" pitchFamily="34" charset="0"/>
                  <a:cs typeface="Arial" panose="020B0604020202020204" pitchFamily="34" charset="0"/>
                </a:rPr>
                <a:t>As long a key is pressed,</a:t>
              </a:r>
            </a:p>
          </p:txBody>
        </p:sp>
        <p:sp>
          <p:nvSpPr>
            <p:cNvPr id="171024" name="AutoShape 1040">
              <a:extLst>
                <a:ext uri="{FF2B5EF4-FFF2-40B4-BE49-F238E27FC236}">
                  <a16:creationId xmlns:a16="http://schemas.microsoft.com/office/drawing/2014/main" id="{2A297AB9-7372-B047-BD67-CE22D66ECA93}"/>
                </a:ext>
              </a:extLst>
            </p:cNvPr>
            <p:cNvSpPr>
              <a:spLocks noChangeArrowheads="1"/>
            </p:cNvSpPr>
            <p:nvPr/>
          </p:nvSpPr>
          <p:spPr bwMode="auto">
            <a:xfrm>
              <a:off x="3072" y="2928"/>
              <a:ext cx="1488" cy="672"/>
            </a:xfrm>
            <a:prstGeom prst="wedgeRoundRectCallout">
              <a:avLst>
                <a:gd name="adj1" fmla="val -73389"/>
                <a:gd name="adj2" fmla="val 33037"/>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46800" anchor="ctr"/>
            <a:lstStyle>
              <a:lvl1pPr marL="95250" indent="1588" algn="r" rtl="1">
                <a:defRPr sz="2400">
                  <a:solidFill>
                    <a:schemeClr val="tx1"/>
                  </a:solidFill>
                  <a:latin typeface="Times New Roman" panose="02020603050405020304" pitchFamily="18" charset="0"/>
                  <a:cs typeface="Times New Roman (Hebrew)" panose="02020603050405020304" pitchFamily="18" charset="0"/>
                </a:defRPr>
              </a:lvl1pPr>
              <a:lvl2pPr marL="1123950" indent="-457200" algn="r" rtl="1">
                <a:defRPr sz="2400">
                  <a:solidFill>
                    <a:schemeClr val="tx1"/>
                  </a:solidFill>
                  <a:latin typeface="Times New Roman" panose="02020603050405020304" pitchFamily="18" charset="0"/>
                  <a:cs typeface="Times New Roman (Hebrew)" panose="02020603050405020304" pitchFamily="18" charset="0"/>
                </a:defRPr>
              </a:lvl2pPr>
              <a:lvl3pPr marL="1771650" indent="-457200" algn="r" rtl="1">
                <a:defRPr sz="2400">
                  <a:solidFill>
                    <a:schemeClr val="tx1"/>
                  </a:solidFill>
                  <a:latin typeface="Times New Roman" panose="02020603050405020304" pitchFamily="18" charset="0"/>
                  <a:cs typeface="Times New Roman (Hebrew)" panose="02020603050405020304" pitchFamily="18" charset="0"/>
                </a:defRPr>
              </a:lvl3pPr>
              <a:lvl4pPr marL="2419350" indent="-457200" algn="r" rtl="1">
                <a:defRPr sz="2400">
                  <a:solidFill>
                    <a:schemeClr val="tx1"/>
                  </a:solidFill>
                  <a:latin typeface="Times New Roman" panose="02020603050405020304" pitchFamily="18" charset="0"/>
                  <a:cs typeface="Times New Roman (Hebrew)" panose="02020603050405020304" pitchFamily="18" charset="0"/>
                </a:defRPr>
              </a:lvl4pPr>
              <a:lvl5pPr marL="3067050" indent="-457200" algn="r" rtl="1">
                <a:defRPr sz="2400">
                  <a:solidFill>
                    <a:schemeClr val="tx1"/>
                  </a:solidFill>
                  <a:latin typeface="Times New Roman" panose="02020603050405020304" pitchFamily="18" charset="0"/>
                  <a:cs typeface="Times New Roman (Hebrew)" panose="02020603050405020304" pitchFamily="18" charset="0"/>
                </a:defRPr>
              </a:lvl5pPr>
              <a:lvl6pPr marL="352425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398145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443865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489585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pPr>
              <a:r>
                <a:rPr lang="en-US" altLang="en-US" sz="1400" b="0">
                  <a:latin typeface="Arial" panose="020B0604020202020204" pitchFamily="34" charset="0"/>
                  <a:cs typeface="Arial" panose="020B0604020202020204" pitchFamily="34" charset="0"/>
                </a:rPr>
                <a:t>The emulator displays Its character code in the keyboard memory map</a:t>
              </a:r>
            </a:p>
          </p:txBody>
        </p:sp>
      </p:grpSp>
      <p:sp>
        <p:nvSpPr>
          <p:cNvPr id="171026" name="AutoShape 1042">
            <a:extLst>
              <a:ext uri="{FF2B5EF4-FFF2-40B4-BE49-F238E27FC236}">
                <a16:creationId xmlns:a16="http://schemas.microsoft.com/office/drawing/2014/main" id="{4413EBC8-CABC-BA4E-AAD2-D87562F9C4AA}"/>
              </a:ext>
            </a:extLst>
          </p:cNvPr>
          <p:cNvSpPr>
            <a:spLocks noChangeArrowheads="1"/>
          </p:cNvSpPr>
          <p:nvPr/>
        </p:nvSpPr>
        <p:spPr bwMode="auto">
          <a:xfrm>
            <a:off x="304800" y="990600"/>
            <a:ext cx="3810000" cy="3429000"/>
          </a:xfrm>
          <a:prstGeom prst="wedgeRoundRectCallout">
            <a:avLst>
              <a:gd name="adj1" fmla="val 15458"/>
              <a:gd name="adj2" fmla="val -5833"/>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46800"/>
          <a:lstStyle>
            <a:lvl1pPr marL="103188" indent="7938" algn="r" rtl="1">
              <a:defRPr sz="2400">
                <a:solidFill>
                  <a:schemeClr val="tx1"/>
                </a:solidFill>
                <a:latin typeface="Times New Roman" panose="02020603050405020304" pitchFamily="18" charset="0"/>
                <a:cs typeface="Times New Roman (Hebrew)" panose="02020603050405020304" pitchFamily="18" charset="0"/>
              </a:defRPr>
            </a:lvl1pPr>
            <a:lvl2pPr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pPr>
            <a:r>
              <a:rPr lang="en-US" altLang="en-US" sz="1400">
                <a:solidFill>
                  <a:srgbClr val="00007A"/>
                </a:solidFill>
                <a:latin typeface="Arial" panose="020B0604020202020204" pitchFamily="34" charset="0"/>
                <a:cs typeface="Arial" panose="020B0604020202020204" pitchFamily="34" charset="0"/>
              </a:rPr>
              <a:t>Perspective:</a:t>
            </a:r>
            <a:r>
              <a:rPr lang="en-US" altLang="en-US" sz="1400" b="0">
                <a:latin typeface="Arial" panose="020B0604020202020204" pitchFamily="34" charset="0"/>
                <a:cs typeface="Arial" panose="020B0604020202020204" pitchFamily="34" charset="0"/>
              </a:rPr>
              <a:t> That’s how computer programs read from the keyboard: they peek some keyboard-oriented memory device, one character at a time.</a:t>
            </a:r>
          </a:p>
          <a:p>
            <a:pPr algn="l" rtl="0">
              <a:spcBef>
                <a:spcPct val="40000"/>
              </a:spcBef>
            </a:pPr>
            <a:r>
              <a:rPr lang="en-US" altLang="en-US" sz="1400" b="0">
                <a:latin typeface="Arial" panose="020B0604020202020204" pitchFamily="34" charset="0"/>
                <a:cs typeface="Arial" panose="020B0604020202020204" pitchFamily="34" charset="0"/>
              </a:rPr>
              <a:t>This is rather tedious in machine language programming, but quite easy in high-level languages that handle the keyboard indirectly, using OS routines like </a:t>
            </a:r>
            <a:r>
              <a:rPr lang="en-US" altLang="en-US" sz="1300">
                <a:latin typeface="Courier New" panose="02070309020205020404" pitchFamily="49" charset="0"/>
                <a:cs typeface="Courier New" panose="02070309020205020404" pitchFamily="49" charset="0"/>
              </a:rPr>
              <a:t>readLine</a:t>
            </a:r>
            <a:r>
              <a:rPr lang="en-US" altLang="en-US" sz="1400" b="0">
                <a:latin typeface="Arial" panose="020B0604020202020204" pitchFamily="34" charset="0"/>
                <a:cs typeface="Arial" panose="020B0604020202020204" pitchFamily="34" charset="0"/>
              </a:rPr>
              <a:t> or </a:t>
            </a:r>
            <a:r>
              <a:rPr lang="en-US" altLang="en-US" sz="1300">
                <a:latin typeface="Courier New" panose="02070309020205020404" pitchFamily="49" charset="0"/>
                <a:cs typeface="Courier New" panose="02070309020205020404" pitchFamily="49" charset="0"/>
              </a:rPr>
              <a:t>readInt</a:t>
            </a:r>
            <a:r>
              <a:rPr lang="en-US" altLang="en-US" sz="1400" b="0">
                <a:latin typeface="Arial" panose="020B0604020202020204" pitchFamily="34" charset="0"/>
                <a:cs typeface="Arial" panose="020B0604020202020204" pitchFamily="34" charset="0"/>
              </a:rPr>
              <a:t>, as we will see in Chapters 9 and 12.</a:t>
            </a:r>
          </a:p>
          <a:p>
            <a:pPr algn="l" rtl="0">
              <a:spcBef>
                <a:spcPct val="40000"/>
              </a:spcBef>
            </a:pPr>
            <a:r>
              <a:rPr lang="en-US" altLang="en-US" sz="1400" b="0">
                <a:latin typeface="Arial" panose="020B0604020202020204" pitchFamily="34" charset="0"/>
                <a:cs typeface="Arial" panose="020B0604020202020204" pitchFamily="34" charset="0"/>
              </a:rPr>
              <a:t>Since all high level programs and OS routines are eventually translated into machine language, they all end up doing something like this example.</a:t>
            </a:r>
          </a:p>
        </p:txBody>
      </p:sp>
      <p:sp>
        <p:nvSpPr>
          <p:cNvPr id="171028" name="AutoShape 1044">
            <a:extLst>
              <a:ext uri="{FF2B5EF4-FFF2-40B4-BE49-F238E27FC236}">
                <a16:creationId xmlns:a16="http://schemas.microsoft.com/office/drawing/2014/main" id="{395F99CA-54A3-B544-9BB3-0113DDA8C06F}"/>
              </a:ext>
            </a:extLst>
          </p:cNvPr>
          <p:cNvSpPr>
            <a:spLocks noChangeArrowheads="1"/>
          </p:cNvSpPr>
          <p:nvPr/>
        </p:nvSpPr>
        <p:spPr bwMode="auto">
          <a:xfrm>
            <a:off x="6019800" y="1981200"/>
            <a:ext cx="2057400" cy="1066800"/>
          </a:xfrm>
          <a:prstGeom prst="wedgeRoundRectCallout">
            <a:avLst>
              <a:gd name="adj1" fmla="val -384"/>
              <a:gd name="adj2" fmla="val 101787"/>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46800"/>
          <a:lstStyle>
            <a:lvl1pPr marL="95250" indent="1588" algn="r" rtl="1">
              <a:defRPr sz="2400">
                <a:solidFill>
                  <a:schemeClr val="tx1"/>
                </a:solidFill>
                <a:latin typeface="Times New Roman" panose="02020603050405020304" pitchFamily="18" charset="0"/>
                <a:cs typeface="Times New Roman (Hebrew)" panose="02020603050405020304" pitchFamily="18" charset="0"/>
              </a:defRPr>
            </a:lvl1pPr>
            <a:lvl2pPr marL="1123950" indent="-457200" algn="r" rtl="1">
              <a:defRPr sz="2400">
                <a:solidFill>
                  <a:schemeClr val="tx1"/>
                </a:solidFill>
                <a:latin typeface="Times New Roman" panose="02020603050405020304" pitchFamily="18" charset="0"/>
                <a:cs typeface="Times New Roman (Hebrew)" panose="02020603050405020304" pitchFamily="18" charset="0"/>
              </a:defRPr>
            </a:lvl2pPr>
            <a:lvl3pPr marL="1771650" indent="-457200" algn="r" rtl="1">
              <a:defRPr sz="2400">
                <a:solidFill>
                  <a:schemeClr val="tx1"/>
                </a:solidFill>
                <a:latin typeface="Times New Roman" panose="02020603050405020304" pitchFamily="18" charset="0"/>
                <a:cs typeface="Times New Roman (Hebrew)" panose="02020603050405020304" pitchFamily="18" charset="0"/>
              </a:defRPr>
            </a:lvl3pPr>
            <a:lvl4pPr marL="2419350" indent="-457200" algn="r" rtl="1">
              <a:defRPr sz="2400">
                <a:solidFill>
                  <a:schemeClr val="tx1"/>
                </a:solidFill>
                <a:latin typeface="Times New Roman" panose="02020603050405020304" pitchFamily="18" charset="0"/>
                <a:cs typeface="Times New Roman (Hebrew)" panose="02020603050405020304" pitchFamily="18" charset="0"/>
              </a:defRPr>
            </a:lvl4pPr>
            <a:lvl5pPr marL="3067050" indent="-457200" algn="r" rtl="1">
              <a:defRPr sz="2400">
                <a:solidFill>
                  <a:schemeClr val="tx1"/>
                </a:solidFill>
                <a:latin typeface="Times New Roman" panose="02020603050405020304" pitchFamily="18" charset="0"/>
                <a:cs typeface="Times New Roman (Hebrew)" panose="02020603050405020304" pitchFamily="18" charset="0"/>
              </a:defRPr>
            </a:lvl5pPr>
            <a:lvl6pPr marL="352425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398145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443865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489585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pPr>
            <a:r>
              <a:rPr lang="en-US" altLang="en-US" sz="1400" b="0">
                <a:latin typeface="Arial" panose="020B0604020202020204" pitchFamily="34" charset="0"/>
                <a:cs typeface="Arial" panose="020B0604020202020204" pitchFamily="34" charset="0"/>
              </a:rPr>
              <a:t>Visual echo (convenient GUI effect, not part of the hardware platform)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71028"/>
                                        </p:tgtEl>
                                        <p:attrNameLst>
                                          <p:attrName>style.visibility</p:attrName>
                                        </p:attrNameLst>
                                      </p:cBhvr>
                                      <p:to>
                                        <p:strVal val="visible"/>
                                      </p:to>
                                    </p:set>
                                  </p:childTnLst>
                                  <p:subTnLst>
                                    <p:set>
                                      <p:cBhvr override="childStyle">
                                        <p:cTn dur="1" fill="hold" display="0" masterRel="nextClick" afterEffect="1"/>
                                        <p:tgtEl>
                                          <p:spTgt spid="171028"/>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9" presetClass="entr" presetSubtype="10" fill="hold" nodeType="clickEffect">
                                  <p:stCondLst>
                                    <p:cond delay="0"/>
                                  </p:stCondLst>
                                  <p:childTnLst>
                                    <p:set>
                                      <p:cBhvr>
                                        <p:cTn id="10" dur="1" fill="hold">
                                          <p:stCondLst>
                                            <p:cond delay="0"/>
                                          </p:stCondLst>
                                        </p:cTn>
                                        <p:tgtEl>
                                          <p:spTgt spid="171021"/>
                                        </p:tgtEl>
                                        <p:attrNameLst>
                                          <p:attrName>style.visibility</p:attrName>
                                        </p:attrNameLst>
                                      </p:cBhvr>
                                      <p:to>
                                        <p:strVal val="visible"/>
                                      </p:to>
                                    </p:set>
                                    <p:anim calcmode="lin" valueType="num">
                                      <p:cBhvr>
                                        <p:cTn id="11" dur="5000" fill="hold"/>
                                        <p:tgtEl>
                                          <p:spTgt spid="171021"/>
                                        </p:tgtEl>
                                        <p:attrNameLst>
                                          <p:attrName>ppt_w</p:attrName>
                                        </p:attrNameLst>
                                      </p:cBhvr>
                                      <p:tavLst>
                                        <p:tav tm="0" fmla="#ppt_w*sin(2.5*pi*$)">
                                          <p:val>
                                            <p:fltVal val="0"/>
                                          </p:val>
                                        </p:tav>
                                        <p:tav tm="100000">
                                          <p:val>
                                            <p:fltVal val="1"/>
                                          </p:val>
                                        </p:tav>
                                      </p:tavLst>
                                    </p:anim>
                                    <p:anim calcmode="lin" valueType="num">
                                      <p:cBhvr>
                                        <p:cTn id="12" dur="5000" fill="hold"/>
                                        <p:tgtEl>
                                          <p:spTgt spid="171021"/>
                                        </p:tgtEl>
                                        <p:attrNameLst>
                                          <p:attrName>ppt_h</p:attrName>
                                        </p:attrNameLst>
                                      </p:cBhvr>
                                      <p:tavLst>
                                        <p:tav tm="0">
                                          <p:val>
                                            <p:strVal val="#ppt_h"/>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171027"/>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7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26" grpId="0" animBg="1" autoUpdateAnimBg="0"/>
      <p:bldP spid="171028"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a:extLst>
              <a:ext uri="{FF2B5EF4-FFF2-40B4-BE49-F238E27FC236}">
                <a16:creationId xmlns:a16="http://schemas.microsoft.com/office/drawing/2014/main" id="{E9B4B87D-BE9C-034E-892C-28AC6D4ECD96}"/>
              </a:ext>
            </a:extLst>
          </p:cNvPr>
          <p:cNvSpPr>
            <a:spLocks noGrp="1" noChangeArrowheads="1"/>
          </p:cNvSpPr>
          <p:nvPr>
            <p:ph type="title"/>
          </p:nvPr>
        </p:nvSpPr>
        <p:spPr/>
        <p:txBody>
          <a:bodyPr/>
          <a:lstStyle/>
          <a:p>
            <a:r>
              <a:rPr lang="en-US" altLang="en-US"/>
              <a:t>CPU Emulator Tutorial</a:t>
            </a:r>
          </a:p>
        </p:txBody>
      </p:sp>
      <p:pic>
        <p:nvPicPr>
          <p:cNvPr id="138245" name="Picture 5" descr="G:\PPT Presentations\Pres Training\db Prepared Photos\monitor.jpg">
            <a:extLst>
              <a:ext uri="{FF2B5EF4-FFF2-40B4-BE49-F238E27FC236}">
                <a16:creationId xmlns:a16="http://schemas.microsoft.com/office/drawing/2014/main" id="{37E6C377-6620-8C49-B63D-1DFD27A5D3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219200"/>
            <a:ext cx="4572000" cy="4724400"/>
          </a:xfrm>
          <a:prstGeom prst="rect">
            <a:avLst/>
          </a:prstGeom>
          <a:noFill/>
          <a:extLst>
            <a:ext uri="{909E8E84-426E-40DD-AFC4-6F175D3DCCD1}">
              <a14:hiddenFill xmlns:a14="http://schemas.microsoft.com/office/drawing/2010/main">
                <a:solidFill>
                  <a:srgbClr val="FFFFFF"/>
                </a:solidFill>
              </a14:hiddenFill>
            </a:ext>
          </a:extLst>
        </p:spPr>
      </p:pic>
      <p:sp>
        <p:nvSpPr>
          <p:cNvPr id="138244" name="Rectangle 4">
            <a:extLst>
              <a:ext uri="{FF2B5EF4-FFF2-40B4-BE49-F238E27FC236}">
                <a16:creationId xmlns:a16="http://schemas.microsoft.com/office/drawing/2014/main" id="{693E6128-4186-444E-B23C-A8006B0ABB7D}"/>
              </a:ext>
            </a:extLst>
          </p:cNvPr>
          <p:cNvSpPr>
            <a:spLocks noChangeArrowheads="1"/>
          </p:cNvSpPr>
          <p:nvPr/>
        </p:nvSpPr>
        <p:spPr bwMode="auto">
          <a:xfrm>
            <a:off x="3276600" y="2209800"/>
            <a:ext cx="2895600" cy="147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0513" indent="-290513">
              <a:spcBef>
                <a:spcPct val="40000"/>
              </a:spcBef>
              <a:buClr>
                <a:srgbClr val="006600"/>
              </a:buClr>
              <a:buSzPct val="110000"/>
              <a:buFont typeface="Wingdings" pitchFamily="2" charset="2"/>
              <a:buChar char="§"/>
              <a:tabLst>
                <a:tab pos="0" algn="l"/>
              </a:tabLst>
              <a:defRPr sz="2000">
                <a:solidFill>
                  <a:schemeClr val="tx1"/>
                </a:solidFill>
                <a:latin typeface="Arial" panose="020B0604020202020204" pitchFamily="34" charset="0"/>
                <a:cs typeface="Times New Roman (Hebrew)" panose="02020603050405020304" pitchFamily="18" charset="0"/>
              </a:defRPr>
            </a:lvl1pPr>
            <a:lvl2pPr marL="481013">
              <a:spcBef>
                <a:spcPct val="40000"/>
              </a:spcBef>
              <a:buClr>
                <a:srgbClr val="00007A"/>
              </a:buClr>
              <a:buSzPct val="125000"/>
              <a:buChar char="•"/>
              <a:tabLst>
                <a:tab pos="0" algn="l"/>
              </a:tabLst>
              <a:defRPr>
                <a:solidFill>
                  <a:schemeClr val="tx1"/>
                </a:solidFill>
                <a:latin typeface="Arial" panose="020B0604020202020204" pitchFamily="34" charset="0"/>
                <a:cs typeface="Times New Roman (Hebrew)" panose="02020603050405020304" pitchFamily="18" charset="0"/>
              </a:defRPr>
            </a:lvl2pPr>
            <a:lvl3pPr>
              <a:spcBef>
                <a:spcPct val="40000"/>
              </a:spcBef>
              <a:buClr>
                <a:srgbClr val="A50021"/>
              </a:buClr>
              <a:buSzPct val="110000"/>
              <a:buChar char="•"/>
              <a:tabLst>
                <a:tab pos="0" algn="l"/>
              </a:tabLst>
              <a:defRPr sz="1600">
                <a:solidFill>
                  <a:schemeClr val="tx1"/>
                </a:solidFill>
                <a:latin typeface="Arial" panose="020B0604020202020204" pitchFamily="34" charset="0"/>
                <a:cs typeface="Times New Roman (Hebrew)" panose="02020603050405020304" pitchFamily="18" charset="0"/>
              </a:defRPr>
            </a:lvl3pPr>
            <a:lvl4pPr>
              <a:spcBef>
                <a:spcPct val="40000"/>
              </a:spcBef>
              <a:buChar char="–"/>
              <a:tabLst>
                <a:tab pos="0" algn="l"/>
              </a:tabLst>
              <a:defRPr sz="1600">
                <a:solidFill>
                  <a:schemeClr val="tx1"/>
                </a:solidFill>
                <a:latin typeface="Arial" panose="020B0604020202020204" pitchFamily="34" charset="0"/>
                <a:cs typeface="Times New Roman (Hebrew)" panose="02020603050405020304" pitchFamily="18" charset="0"/>
              </a:defRPr>
            </a:lvl4pPr>
            <a:lvl5pPr>
              <a:spcBef>
                <a:spcPct val="40000"/>
              </a:spcBef>
              <a:buChar char="»"/>
              <a:tabLst>
                <a:tab pos="0" algn="l"/>
              </a:tabLst>
              <a:defRPr sz="1600">
                <a:solidFill>
                  <a:schemeClr val="tx1"/>
                </a:solidFill>
                <a:latin typeface="Arial" panose="020B0604020202020204" pitchFamily="34" charset="0"/>
                <a:cs typeface="Times New Roman (Hebrew)" panose="02020603050405020304" pitchFamily="18" charset="0"/>
              </a:defRPr>
            </a:lvl5pPr>
            <a:lvl6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6pPr>
            <a:lvl7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7pPr>
            <a:lvl8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8pPr>
            <a:lvl9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9pPr>
          </a:lstStyle>
          <a:p>
            <a:pPr algn="ctr">
              <a:spcBef>
                <a:spcPct val="60000"/>
              </a:spcBef>
              <a:buFont typeface="Wingdings" pitchFamily="2" charset="2"/>
              <a:buNone/>
            </a:pPr>
            <a:r>
              <a:rPr lang="en-US" altLang="he-IL" sz="2400" u="sng">
                <a:solidFill>
                  <a:srgbClr val="000066"/>
                </a:solidFill>
              </a:rPr>
              <a:t>Part III:</a:t>
            </a:r>
          </a:p>
          <a:p>
            <a:pPr algn="ctr">
              <a:spcBef>
                <a:spcPct val="60000"/>
              </a:spcBef>
              <a:buFont typeface="Wingdings" pitchFamily="2" charset="2"/>
              <a:buNone/>
            </a:pPr>
            <a:r>
              <a:rPr lang="en-US" altLang="he-IL" sz="2400">
                <a:solidFill>
                  <a:srgbClr val="000066"/>
                </a:solidFill>
              </a:rPr>
              <a:t>Interactive</a:t>
            </a:r>
          </a:p>
          <a:p>
            <a:pPr algn="ctr">
              <a:spcBef>
                <a:spcPct val="20000"/>
              </a:spcBef>
              <a:buFont typeface="Wingdings" pitchFamily="2" charset="2"/>
              <a:buNone/>
            </a:pPr>
            <a:r>
              <a:rPr lang="en-US" altLang="he-IL" sz="2400">
                <a:solidFill>
                  <a:srgbClr val="000066"/>
                </a:solidFill>
              </a:rPr>
              <a:t>Simulation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616" name="Picture 32">
            <a:extLst>
              <a:ext uri="{FF2B5EF4-FFF2-40B4-BE49-F238E27FC236}">
                <a16:creationId xmlns:a16="http://schemas.microsoft.com/office/drawing/2014/main" id="{647DE39A-E778-4343-B858-BD1EBCC454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4167"/>
          <a:stretch>
            <a:fillRect/>
          </a:stretch>
        </p:blipFill>
        <p:spPr bwMode="auto">
          <a:xfrm>
            <a:off x="457200" y="714375"/>
            <a:ext cx="8229600" cy="5762625"/>
          </a:xfrm>
          <a:prstGeom prst="rect">
            <a:avLst/>
          </a:prstGeom>
          <a:noFill/>
          <a:ln>
            <a:noFill/>
          </a:ln>
          <a:effectLst/>
          <a:extLst>
            <a:ext uri="{909E8E84-426E-40DD-AFC4-6F175D3DCCD1}">
              <a14:hiddenFill xmlns:a14="http://schemas.microsoft.com/office/drawing/2010/main">
                <a:solidFill>
                  <a:srgbClr val="FFFFC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7586" name="Rectangle 2">
            <a:extLst>
              <a:ext uri="{FF2B5EF4-FFF2-40B4-BE49-F238E27FC236}">
                <a16:creationId xmlns:a16="http://schemas.microsoft.com/office/drawing/2014/main" id="{C116B0F9-CC0F-084C-9A33-A98B05CBE26F}"/>
              </a:ext>
            </a:extLst>
          </p:cNvPr>
          <p:cNvSpPr>
            <a:spLocks noGrp="1" noChangeArrowheads="1"/>
          </p:cNvSpPr>
          <p:nvPr>
            <p:ph type="title"/>
          </p:nvPr>
        </p:nvSpPr>
        <p:spPr/>
        <p:txBody>
          <a:bodyPr/>
          <a:lstStyle/>
          <a:p>
            <a:r>
              <a:rPr lang="en-US" altLang="en-US"/>
              <a:t>Loading a program</a:t>
            </a:r>
          </a:p>
        </p:txBody>
      </p:sp>
      <p:sp>
        <p:nvSpPr>
          <p:cNvPr id="67606" name="AutoShape 22">
            <a:extLst>
              <a:ext uri="{FF2B5EF4-FFF2-40B4-BE49-F238E27FC236}">
                <a16:creationId xmlns:a16="http://schemas.microsoft.com/office/drawing/2014/main" id="{ABEA4636-2C75-2349-9516-B7C34B69CDA6}"/>
              </a:ext>
            </a:extLst>
          </p:cNvPr>
          <p:cNvSpPr>
            <a:spLocks noChangeArrowheads="1"/>
          </p:cNvSpPr>
          <p:nvPr/>
        </p:nvSpPr>
        <p:spPr bwMode="auto">
          <a:xfrm>
            <a:off x="1524000" y="4876800"/>
            <a:ext cx="2209800" cy="914400"/>
          </a:xfrm>
          <a:prstGeom prst="wedgeRoundRectCallout">
            <a:avLst>
              <a:gd name="adj1" fmla="val 87356"/>
              <a:gd name="adj2" fmla="val -119097"/>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b="0"/>
              <a:t>Navigate to a directory and select a </a:t>
            </a:r>
            <a:r>
              <a:rPr lang="en-US" altLang="en-US" sz="1300">
                <a:latin typeface="Courier New" panose="02070309020205020404" pitchFamily="49" charset="0"/>
                <a:cs typeface="Courier New" panose="02070309020205020404" pitchFamily="49" charset="0"/>
              </a:rPr>
              <a:t>.hack</a:t>
            </a:r>
            <a:r>
              <a:rPr lang="en-US" altLang="en-US" b="0"/>
              <a:t> or </a:t>
            </a:r>
            <a:r>
              <a:rPr lang="en-US" altLang="en-US" sz="1300">
                <a:latin typeface="Courier New" panose="02070309020205020404" pitchFamily="49" charset="0"/>
                <a:cs typeface="Courier New" panose="02070309020205020404" pitchFamily="49" charset="0"/>
              </a:rPr>
              <a:t>.asm</a:t>
            </a:r>
            <a:r>
              <a:rPr lang="en-US" altLang="en-US" b="0"/>
              <a:t> file.</a:t>
            </a:r>
          </a:p>
        </p:txBody>
      </p:sp>
      <p:sp>
        <p:nvSpPr>
          <p:cNvPr id="67607" name="Oval 23">
            <a:extLst>
              <a:ext uri="{FF2B5EF4-FFF2-40B4-BE49-F238E27FC236}">
                <a16:creationId xmlns:a16="http://schemas.microsoft.com/office/drawing/2014/main" id="{E7DAA281-C5C7-EA4F-BDFF-945F7787E29A}"/>
              </a:ext>
            </a:extLst>
          </p:cNvPr>
          <p:cNvSpPr>
            <a:spLocks noChangeArrowheads="1"/>
          </p:cNvSpPr>
          <p:nvPr/>
        </p:nvSpPr>
        <p:spPr bwMode="auto">
          <a:xfrm>
            <a:off x="6858000" y="4876800"/>
            <a:ext cx="1447800" cy="609600"/>
          </a:xfrm>
          <a:prstGeom prst="ellipse">
            <a:avLst/>
          </a:prstGeom>
          <a:noFill/>
          <a:ln w="38100">
            <a:solidFill>
              <a:srgbClr val="CC3300"/>
            </a:solidFill>
            <a:round/>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617" name="Oval 33">
            <a:extLst>
              <a:ext uri="{FF2B5EF4-FFF2-40B4-BE49-F238E27FC236}">
                <a16:creationId xmlns:a16="http://schemas.microsoft.com/office/drawing/2014/main" id="{971B4E07-52D7-1C4B-8B44-CFE22F208D7B}"/>
              </a:ext>
            </a:extLst>
          </p:cNvPr>
          <p:cNvSpPr>
            <a:spLocks noChangeArrowheads="1"/>
          </p:cNvSpPr>
          <p:nvPr/>
        </p:nvSpPr>
        <p:spPr bwMode="auto">
          <a:xfrm>
            <a:off x="381000" y="990600"/>
            <a:ext cx="609600" cy="609600"/>
          </a:xfrm>
          <a:prstGeom prst="ellipse">
            <a:avLst/>
          </a:prstGeom>
          <a:noFill/>
          <a:ln w="38100">
            <a:solidFill>
              <a:srgbClr val="CC3300"/>
            </a:solidFill>
            <a:round/>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761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760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76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06"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554" name="Picture 10">
            <a:extLst>
              <a:ext uri="{FF2B5EF4-FFF2-40B4-BE49-F238E27FC236}">
                <a16:creationId xmlns:a16="http://schemas.microsoft.com/office/drawing/2014/main" id="{AD43BED2-3CA2-CF42-97F1-EC0A4DFAF3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685800"/>
            <a:ext cx="8229600" cy="5867400"/>
          </a:xfrm>
          <a:prstGeom prst="rect">
            <a:avLst/>
          </a:prstGeom>
          <a:noFill/>
          <a:ln>
            <a:noFill/>
          </a:ln>
          <a:effectLst/>
          <a:extLst>
            <a:ext uri="{909E8E84-426E-40DD-AFC4-6F175D3DCCD1}">
              <a14:hiddenFill xmlns:a14="http://schemas.microsoft.com/office/drawing/2010/main">
                <a:solidFill>
                  <a:srgbClr val="FFFFC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8548" name="Rectangle 4">
            <a:extLst>
              <a:ext uri="{FF2B5EF4-FFF2-40B4-BE49-F238E27FC236}">
                <a16:creationId xmlns:a16="http://schemas.microsoft.com/office/drawing/2014/main" id="{FC61BA86-E91A-6644-B437-030EFB77ED37}"/>
              </a:ext>
            </a:extLst>
          </p:cNvPr>
          <p:cNvSpPr>
            <a:spLocks noGrp="1" noChangeArrowheads="1"/>
          </p:cNvSpPr>
          <p:nvPr>
            <p:ph type="title"/>
          </p:nvPr>
        </p:nvSpPr>
        <p:spPr/>
        <p:txBody>
          <a:bodyPr/>
          <a:lstStyle/>
          <a:p>
            <a:r>
              <a:rPr lang="en-US" altLang="en-US"/>
              <a:t>Loading a program</a:t>
            </a:r>
          </a:p>
        </p:txBody>
      </p:sp>
      <p:sp>
        <p:nvSpPr>
          <p:cNvPr id="108555" name="AutoShape 11">
            <a:extLst>
              <a:ext uri="{FF2B5EF4-FFF2-40B4-BE49-F238E27FC236}">
                <a16:creationId xmlns:a16="http://schemas.microsoft.com/office/drawing/2014/main" id="{9DAD9959-3E6E-0049-B31C-C9FB32DB3510}"/>
              </a:ext>
            </a:extLst>
          </p:cNvPr>
          <p:cNvSpPr>
            <a:spLocks noChangeArrowheads="1"/>
          </p:cNvSpPr>
          <p:nvPr/>
        </p:nvSpPr>
        <p:spPr bwMode="auto">
          <a:xfrm>
            <a:off x="2362200" y="3429000"/>
            <a:ext cx="1447800" cy="990600"/>
          </a:xfrm>
          <a:prstGeom prst="wedgeRoundRectCallout">
            <a:avLst>
              <a:gd name="adj1" fmla="val -132676"/>
              <a:gd name="adj2" fmla="val -198079"/>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Ins="18000"/>
          <a:lstStyle/>
          <a:p>
            <a:r>
              <a:rPr lang="en-US" altLang="en-US" sz="1400" b="0"/>
              <a:t>Can switch from binary to symbolic representation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85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55"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Rectangle 3">
            <a:extLst>
              <a:ext uri="{FF2B5EF4-FFF2-40B4-BE49-F238E27FC236}">
                <a16:creationId xmlns:a16="http://schemas.microsoft.com/office/drawing/2014/main" id="{44DB4FC4-6E88-2144-94AE-89653456815C}"/>
              </a:ext>
            </a:extLst>
          </p:cNvPr>
          <p:cNvSpPr>
            <a:spLocks noGrp="1" noChangeArrowheads="1"/>
          </p:cNvSpPr>
          <p:nvPr>
            <p:ph type="title"/>
          </p:nvPr>
        </p:nvSpPr>
        <p:spPr/>
        <p:txBody>
          <a:bodyPr/>
          <a:lstStyle/>
          <a:p>
            <a:r>
              <a:rPr lang="en-US" altLang="en-US"/>
              <a:t>Running a program</a:t>
            </a:r>
          </a:p>
        </p:txBody>
      </p:sp>
      <p:pic>
        <p:nvPicPr>
          <p:cNvPr id="110598" name="Picture 6">
            <a:extLst>
              <a:ext uri="{FF2B5EF4-FFF2-40B4-BE49-F238E27FC236}">
                <a16:creationId xmlns:a16="http://schemas.microsoft.com/office/drawing/2014/main" id="{2A96D7C5-637E-C540-9A4C-DCF4429D93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685800"/>
            <a:ext cx="8229600" cy="5867400"/>
          </a:xfrm>
          <a:prstGeom prst="rect">
            <a:avLst/>
          </a:prstGeom>
          <a:noFill/>
          <a:ln>
            <a:noFill/>
          </a:ln>
          <a:effectLst/>
          <a:extLst>
            <a:ext uri="{909E8E84-426E-40DD-AFC4-6F175D3DCCD1}">
              <a14:hiddenFill xmlns:a14="http://schemas.microsoft.com/office/drawing/2010/main">
                <a:solidFill>
                  <a:srgbClr val="FFFFC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0599" name="AutoShape 7">
            <a:extLst>
              <a:ext uri="{FF2B5EF4-FFF2-40B4-BE49-F238E27FC236}">
                <a16:creationId xmlns:a16="http://schemas.microsoft.com/office/drawing/2014/main" id="{A8474802-9D87-4F46-9FDC-C5FCBEBF0083}"/>
              </a:ext>
            </a:extLst>
          </p:cNvPr>
          <p:cNvSpPr>
            <a:spLocks noChangeArrowheads="1"/>
          </p:cNvSpPr>
          <p:nvPr/>
        </p:nvSpPr>
        <p:spPr bwMode="auto">
          <a:xfrm>
            <a:off x="2133600" y="2514600"/>
            <a:ext cx="1066800" cy="838200"/>
          </a:xfrm>
          <a:prstGeom prst="wedgeRoundRectCallout">
            <a:avLst>
              <a:gd name="adj1" fmla="val 56250"/>
              <a:gd name="adj2" fmla="val -107009"/>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Ins="18000"/>
          <a:lstStyle/>
          <a:p>
            <a:r>
              <a:rPr lang="en-US" altLang="en-US" sz="1400" b="0"/>
              <a:t>1. Enter a number,</a:t>
            </a:r>
            <a:br>
              <a:rPr lang="en-US" altLang="en-US" sz="1400" b="0"/>
            </a:br>
            <a:r>
              <a:rPr lang="en-US" altLang="en-US" sz="1400" b="0"/>
              <a:t>say 50.</a:t>
            </a:r>
          </a:p>
        </p:txBody>
      </p:sp>
      <p:sp>
        <p:nvSpPr>
          <p:cNvPr id="110601" name="AutoShape 9">
            <a:extLst>
              <a:ext uri="{FF2B5EF4-FFF2-40B4-BE49-F238E27FC236}">
                <a16:creationId xmlns:a16="http://schemas.microsoft.com/office/drawing/2014/main" id="{D7575FFB-425F-EB41-B0F2-854E3D746722}"/>
              </a:ext>
            </a:extLst>
          </p:cNvPr>
          <p:cNvSpPr>
            <a:spLocks noChangeArrowheads="1"/>
          </p:cNvSpPr>
          <p:nvPr/>
        </p:nvSpPr>
        <p:spPr bwMode="auto">
          <a:xfrm>
            <a:off x="381000" y="2514600"/>
            <a:ext cx="1219200" cy="685800"/>
          </a:xfrm>
          <a:prstGeom prst="wedgeRoundRectCallout">
            <a:avLst>
              <a:gd name="adj1" fmla="val 30338"/>
              <a:gd name="adj2" fmla="val -201620"/>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Ins="18000"/>
          <a:lstStyle/>
          <a:p>
            <a:r>
              <a:rPr lang="en-US" altLang="en-US" sz="1400" b="0"/>
              <a:t>2. Click the “run” button.</a:t>
            </a:r>
          </a:p>
        </p:txBody>
      </p:sp>
      <p:sp>
        <p:nvSpPr>
          <p:cNvPr id="110605" name="AutoShape 13">
            <a:extLst>
              <a:ext uri="{FF2B5EF4-FFF2-40B4-BE49-F238E27FC236}">
                <a16:creationId xmlns:a16="http://schemas.microsoft.com/office/drawing/2014/main" id="{8B30D5B9-6F33-4D44-8091-0E08B4B64E65}"/>
              </a:ext>
            </a:extLst>
          </p:cNvPr>
          <p:cNvSpPr>
            <a:spLocks noChangeArrowheads="1"/>
          </p:cNvSpPr>
          <p:nvPr/>
        </p:nvSpPr>
        <p:spPr bwMode="auto">
          <a:xfrm>
            <a:off x="3429000" y="2667000"/>
            <a:ext cx="1524000" cy="1066800"/>
          </a:xfrm>
          <a:prstGeom prst="wedgeRoundRectCallout">
            <a:avLst>
              <a:gd name="adj1" fmla="val -45833"/>
              <a:gd name="adj2" fmla="val -174704"/>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Ins="18000"/>
          <a:lstStyle/>
          <a:p>
            <a:r>
              <a:rPr lang="en-US" altLang="en-US" sz="1400" b="0"/>
              <a:t>3. To speed up execution, </a:t>
            </a:r>
            <a:br>
              <a:rPr lang="en-US" altLang="en-US" sz="1400" b="0"/>
            </a:br>
            <a:r>
              <a:rPr lang="en-US" altLang="en-US" sz="1400" b="0"/>
              <a:t>use the speed control slider</a:t>
            </a:r>
          </a:p>
        </p:txBody>
      </p:sp>
      <p:sp>
        <p:nvSpPr>
          <p:cNvPr id="110608" name="AutoShape 16">
            <a:extLst>
              <a:ext uri="{FF2B5EF4-FFF2-40B4-BE49-F238E27FC236}">
                <a16:creationId xmlns:a16="http://schemas.microsoft.com/office/drawing/2014/main" id="{FE69438B-3F12-7D4A-8B94-2C53C67166D8}"/>
              </a:ext>
            </a:extLst>
          </p:cNvPr>
          <p:cNvSpPr>
            <a:spLocks noChangeArrowheads="1"/>
          </p:cNvSpPr>
          <p:nvPr/>
        </p:nvSpPr>
        <p:spPr bwMode="auto">
          <a:xfrm>
            <a:off x="5562600" y="1981200"/>
            <a:ext cx="1066800" cy="685800"/>
          </a:xfrm>
          <a:prstGeom prst="wedgeRoundRectCallout">
            <a:avLst>
              <a:gd name="adj1" fmla="val -142111"/>
              <a:gd name="adj2" fmla="val -59259"/>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Ins="18000"/>
          <a:lstStyle/>
          <a:p>
            <a:r>
              <a:rPr lang="en-US" altLang="en-US" sz="1400" b="0"/>
              <a:t>4. Watch here</a:t>
            </a:r>
          </a:p>
        </p:txBody>
      </p:sp>
      <p:sp>
        <p:nvSpPr>
          <p:cNvPr id="110609" name="AutoShape 17">
            <a:extLst>
              <a:ext uri="{FF2B5EF4-FFF2-40B4-BE49-F238E27FC236}">
                <a16:creationId xmlns:a16="http://schemas.microsoft.com/office/drawing/2014/main" id="{EA138323-F7C7-334E-BBDC-BB342EA9F98E}"/>
              </a:ext>
            </a:extLst>
          </p:cNvPr>
          <p:cNvSpPr>
            <a:spLocks noChangeArrowheads="1"/>
          </p:cNvSpPr>
          <p:nvPr/>
        </p:nvSpPr>
        <p:spPr bwMode="auto">
          <a:xfrm>
            <a:off x="4114800" y="4419600"/>
            <a:ext cx="4648200" cy="1752600"/>
          </a:xfrm>
          <a:prstGeom prst="wedgeRoundRectCallout">
            <a:avLst>
              <a:gd name="adj1" fmla="val -96139"/>
              <a:gd name="adj2" fmla="val -51903"/>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118800"/>
          <a:lstStyle/>
          <a:p>
            <a:pPr>
              <a:spcBef>
                <a:spcPct val="50000"/>
              </a:spcBef>
            </a:pPr>
            <a:r>
              <a:rPr lang="en-US" altLang="en-US" sz="1400">
                <a:solidFill>
                  <a:srgbClr val="00007A"/>
                </a:solidFill>
              </a:rPr>
              <a:t>Program’s description: </a:t>
            </a:r>
            <a:r>
              <a:rPr lang="en-US" altLang="en-US" sz="1400" b="0"/>
              <a:t>Draws a rectangle at the top left corner of the screen.  The rectangle’s width is 16 pixels, and its length is determined by the current contents of RAM[0].</a:t>
            </a:r>
          </a:p>
          <a:p>
            <a:pPr>
              <a:spcBef>
                <a:spcPct val="50000"/>
              </a:spcBef>
            </a:pPr>
            <a:r>
              <a:rPr lang="en-US" altLang="en-US" sz="1400">
                <a:solidFill>
                  <a:srgbClr val="00007A"/>
                </a:solidFill>
              </a:rPr>
              <a:t>Note: </a:t>
            </a:r>
            <a:r>
              <a:rPr lang="en-US" altLang="en-US" sz="1400" b="0"/>
              <a:t>There is no need to understand the program’s code in order to understand what’s going on.</a:t>
            </a:r>
          </a:p>
        </p:txBody>
      </p:sp>
      <p:sp>
        <p:nvSpPr>
          <p:cNvPr id="110610" name="Oval 18">
            <a:extLst>
              <a:ext uri="{FF2B5EF4-FFF2-40B4-BE49-F238E27FC236}">
                <a16:creationId xmlns:a16="http://schemas.microsoft.com/office/drawing/2014/main" id="{D0AE1BFE-BC13-BF48-A376-3E4B79B48E9A}"/>
              </a:ext>
            </a:extLst>
          </p:cNvPr>
          <p:cNvSpPr>
            <a:spLocks noChangeArrowheads="1"/>
          </p:cNvSpPr>
          <p:nvPr/>
        </p:nvSpPr>
        <p:spPr bwMode="auto">
          <a:xfrm>
            <a:off x="1143000" y="990600"/>
            <a:ext cx="457200" cy="533400"/>
          </a:xfrm>
          <a:prstGeom prst="ellipse">
            <a:avLst/>
          </a:prstGeom>
          <a:noFill/>
          <a:ln w="38100">
            <a:solidFill>
              <a:srgbClr val="CC3300"/>
            </a:solidFill>
            <a:round/>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05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060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1060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1060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106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9" grpId="0" animBg="1" autoUpdateAnimBg="0"/>
      <p:bldP spid="110601" grpId="0" animBg="1" autoUpdateAnimBg="0"/>
      <p:bldP spid="110605" grpId="0" animBg="1" autoUpdateAnimBg="0"/>
      <p:bldP spid="110608"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321" name="Picture 9">
            <a:extLst>
              <a:ext uri="{FF2B5EF4-FFF2-40B4-BE49-F238E27FC236}">
                <a16:creationId xmlns:a16="http://schemas.microsoft.com/office/drawing/2014/main" id="{4F9E5EBE-F28A-7844-9BA9-A4114EC597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685800"/>
            <a:ext cx="8229600" cy="5867400"/>
          </a:xfrm>
          <a:prstGeom prst="rect">
            <a:avLst/>
          </a:prstGeom>
          <a:noFill/>
          <a:ln>
            <a:noFill/>
          </a:ln>
          <a:effectLst/>
          <a:extLst>
            <a:ext uri="{909E8E84-426E-40DD-AFC4-6F175D3DCCD1}">
              <a14:hiddenFill xmlns:a14="http://schemas.microsoft.com/office/drawing/2010/main">
                <a:solidFill>
                  <a:srgbClr val="FFFFC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1314" name="Rectangle 2">
            <a:extLst>
              <a:ext uri="{FF2B5EF4-FFF2-40B4-BE49-F238E27FC236}">
                <a16:creationId xmlns:a16="http://schemas.microsoft.com/office/drawing/2014/main" id="{33CA94A1-F5E8-654E-9769-DB014320270A}"/>
              </a:ext>
            </a:extLst>
          </p:cNvPr>
          <p:cNvSpPr>
            <a:spLocks noGrp="1" noChangeArrowheads="1"/>
          </p:cNvSpPr>
          <p:nvPr>
            <p:ph type="title"/>
          </p:nvPr>
        </p:nvSpPr>
        <p:spPr/>
        <p:txBody>
          <a:bodyPr/>
          <a:lstStyle/>
          <a:p>
            <a:r>
              <a:rPr lang="en-US" altLang="en-US"/>
              <a:t>Running a program</a:t>
            </a:r>
          </a:p>
        </p:txBody>
      </p:sp>
      <p:sp>
        <p:nvSpPr>
          <p:cNvPr id="141316" name="AutoShape 4">
            <a:extLst>
              <a:ext uri="{FF2B5EF4-FFF2-40B4-BE49-F238E27FC236}">
                <a16:creationId xmlns:a16="http://schemas.microsoft.com/office/drawing/2014/main" id="{E4A1679C-4276-EE4F-8190-4A4B83A191B3}"/>
              </a:ext>
            </a:extLst>
          </p:cNvPr>
          <p:cNvSpPr>
            <a:spLocks noChangeArrowheads="1"/>
          </p:cNvSpPr>
          <p:nvPr/>
        </p:nvSpPr>
        <p:spPr bwMode="auto">
          <a:xfrm>
            <a:off x="2133600" y="2514600"/>
            <a:ext cx="1066800" cy="838200"/>
          </a:xfrm>
          <a:prstGeom prst="wedgeRoundRectCallout">
            <a:avLst>
              <a:gd name="adj1" fmla="val 56250"/>
              <a:gd name="adj2" fmla="val -107009"/>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Ins="18000"/>
          <a:lstStyle/>
          <a:p>
            <a:r>
              <a:rPr lang="en-US" altLang="en-US" sz="1400" b="0"/>
              <a:t>1. Enter a number,</a:t>
            </a:r>
            <a:br>
              <a:rPr lang="en-US" altLang="en-US" sz="1400" b="0"/>
            </a:br>
            <a:r>
              <a:rPr lang="en-US" altLang="en-US" sz="1400" b="0"/>
              <a:t>say 50.</a:t>
            </a:r>
          </a:p>
        </p:txBody>
      </p:sp>
      <p:sp>
        <p:nvSpPr>
          <p:cNvPr id="141317" name="AutoShape 5">
            <a:extLst>
              <a:ext uri="{FF2B5EF4-FFF2-40B4-BE49-F238E27FC236}">
                <a16:creationId xmlns:a16="http://schemas.microsoft.com/office/drawing/2014/main" id="{5294C31B-BC2D-4D4D-9A90-82F6B4DCA6A9}"/>
              </a:ext>
            </a:extLst>
          </p:cNvPr>
          <p:cNvSpPr>
            <a:spLocks noChangeArrowheads="1"/>
          </p:cNvSpPr>
          <p:nvPr/>
        </p:nvSpPr>
        <p:spPr bwMode="auto">
          <a:xfrm>
            <a:off x="381000" y="2514600"/>
            <a:ext cx="1219200" cy="685800"/>
          </a:xfrm>
          <a:prstGeom prst="wedgeRoundRectCallout">
            <a:avLst>
              <a:gd name="adj1" fmla="val 30338"/>
              <a:gd name="adj2" fmla="val -201620"/>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Ins="18000"/>
          <a:lstStyle/>
          <a:p>
            <a:r>
              <a:rPr lang="en-US" altLang="en-US" sz="1400" b="0"/>
              <a:t>2. Click the “run” button.</a:t>
            </a:r>
          </a:p>
        </p:txBody>
      </p:sp>
      <p:sp>
        <p:nvSpPr>
          <p:cNvPr id="141318" name="AutoShape 6">
            <a:extLst>
              <a:ext uri="{FF2B5EF4-FFF2-40B4-BE49-F238E27FC236}">
                <a16:creationId xmlns:a16="http://schemas.microsoft.com/office/drawing/2014/main" id="{42D497E2-B344-BE49-9329-E91484CDFC22}"/>
              </a:ext>
            </a:extLst>
          </p:cNvPr>
          <p:cNvSpPr>
            <a:spLocks noChangeArrowheads="1"/>
          </p:cNvSpPr>
          <p:nvPr/>
        </p:nvSpPr>
        <p:spPr bwMode="auto">
          <a:xfrm>
            <a:off x="5562600" y="1981200"/>
            <a:ext cx="1066800" cy="685800"/>
          </a:xfrm>
          <a:prstGeom prst="wedgeRoundRectCallout">
            <a:avLst>
              <a:gd name="adj1" fmla="val -142111"/>
              <a:gd name="adj2" fmla="val -59259"/>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Ins="18000"/>
          <a:lstStyle/>
          <a:p>
            <a:r>
              <a:rPr lang="en-US" altLang="en-US" sz="1400" b="0"/>
              <a:t>4. Watch here</a:t>
            </a:r>
          </a:p>
        </p:txBody>
      </p:sp>
      <p:sp>
        <p:nvSpPr>
          <p:cNvPr id="141320" name="AutoShape 8">
            <a:extLst>
              <a:ext uri="{FF2B5EF4-FFF2-40B4-BE49-F238E27FC236}">
                <a16:creationId xmlns:a16="http://schemas.microsoft.com/office/drawing/2014/main" id="{A4217C28-CFDF-3B4C-8E3C-025FD8B2AFD7}"/>
              </a:ext>
            </a:extLst>
          </p:cNvPr>
          <p:cNvSpPr>
            <a:spLocks noChangeArrowheads="1"/>
          </p:cNvSpPr>
          <p:nvPr/>
        </p:nvSpPr>
        <p:spPr bwMode="auto">
          <a:xfrm>
            <a:off x="3429000" y="2667000"/>
            <a:ext cx="1524000" cy="1066800"/>
          </a:xfrm>
          <a:prstGeom prst="wedgeRoundRectCallout">
            <a:avLst>
              <a:gd name="adj1" fmla="val -45833"/>
              <a:gd name="adj2" fmla="val -174704"/>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Ins="18000"/>
          <a:lstStyle/>
          <a:p>
            <a:r>
              <a:rPr lang="en-US" altLang="en-US" sz="1400" b="0"/>
              <a:t>3. To speed up execution, </a:t>
            </a:r>
            <a:br>
              <a:rPr lang="en-US" altLang="en-US" sz="1400" b="0"/>
            </a:br>
            <a:r>
              <a:rPr lang="en-US" altLang="en-US" sz="1400" b="0"/>
              <a:t>use the speed control slider</a:t>
            </a:r>
          </a:p>
        </p:txBody>
      </p:sp>
      <p:sp>
        <p:nvSpPr>
          <p:cNvPr id="141323" name="AutoShape 11">
            <a:extLst>
              <a:ext uri="{FF2B5EF4-FFF2-40B4-BE49-F238E27FC236}">
                <a16:creationId xmlns:a16="http://schemas.microsoft.com/office/drawing/2014/main" id="{65D365FD-9387-604B-B720-773304DB8F4B}"/>
              </a:ext>
            </a:extLst>
          </p:cNvPr>
          <p:cNvSpPr>
            <a:spLocks noChangeArrowheads="1"/>
          </p:cNvSpPr>
          <p:nvPr/>
        </p:nvSpPr>
        <p:spPr bwMode="auto">
          <a:xfrm>
            <a:off x="4114800" y="4419600"/>
            <a:ext cx="4648200" cy="1752600"/>
          </a:xfrm>
          <a:prstGeom prst="wedgeRoundRectCallout">
            <a:avLst>
              <a:gd name="adj1" fmla="val -96139"/>
              <a:gd name="adj2" fmla="val -51903"/>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118800"/>
          <a:lstStyle/>
          <a:p>
            <a:pPr>
              <a:spcBef>
                <a:spcPct val="50000"/>
              </a:spcBef>
            </a:pPr>
            <a:r>
              <a:rPr lang="en-US" altLang="en-US" sz="1400">
                <a:solidFill>
                  <a:srgbClr val="00007A"/>
                </a:solidFill>
              </a:rPr>
              <a:t>Program’s description: </a:t>
            </a:r>
            <a:r>
              <a:rPr lang="en-US" altLang="en-US" sz="1400" b="0"/>
              <a:t>Draws a rectangle at the top left corner of the screen.  The rectangle’s width is 16 pixels, and its length is determined by the current contents of RAM[0].</a:t>
            </a:r>
          </a:p>
          <a:p>
            <a:pPr>
              <a:spcBef>
                <a:spcPct val="50000"/>
              </a:spcBef>
            </a:pPr>
            <a:r>
              <a:rPr lang="en-US" altLang="en-US" sz="1400">
                <a:solidFill>
                  <a:srgbClr val="00007A"/>
                </a:solidFill>
              </a:rPr>
              <a:t>Note: </a:t>
            </a:r>
            <a:r>
              <a:rPr lang="en-US" altLang="en-US" sz="1400" b="0"/>
              <a:t>There is no need to understand the program’s code in order to understand what’s going 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400" name="Picture 24">
            <a:extLst>
              <a:ext uri="{FF2B5EF4-FFF2-40B4-BE49-F238E27FC236}">
                <a16:creationId xmlns:a16="http://schemas.microsoft.com/office/drawing/2014/main" id="{9EA2E07E-6313-D849-B96F-A2CFAEE2B3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685800"/>
            <a:ext cx="8229600" cy="5867400"/>
          </a:xfrm>
          <a:prstGeom prst="rect">
            <a:avLst/>
          </a:prstGeom>
          <a:noFill/>
          <a:ln>
            <a:noFill/>
          </a:ln>
          <a:effectLst/>
          <a:extLst>
            <a:ext uri="{909E8E84-426E-40DD-AFC4-6F175D3DCCD1}">
              <a14:hiddenFill xmlns:a14="http://schemas.microsoft.com/office/drawing/2010/main">
                <a:solidFill>
                  <a:srgbClr val="FFFFC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1378" name="Rectangle 2">
            <a:extLst>
              <a:ext uri="{FF2B5EF4-FFF2-40B4-BE49-F238E27FC236}">
                <a16:creationId xmlns:a16="http://schemas.microsoft.com/office/drawing/2014/main" id="{47807AC3-96D3-4D41-8F67-18AC05488C4A}"/>
              </a:ext>
            </a:extLst>
          </p:cNvPr>
          <p:cNvSpPr>
            <a:spLocks noGrp="1" noChangeArrowheads="1"/>
          </p:cNvSpPr>
          <p:nvPr>
            <p:ph type="title"/>
          </p:nvPr>
        </p:nvSpPr>
        <p:spPr/>
        <p:txBody>
          <a:bodyPr/>
          <a:lstStyle/>
          <a:p>
            <a:r>
              <a:rPr lang="en-US" altLang="en-US"/>
              <a:t>Hack programming at a glance (optional)</a:t>
            </a:r>
          </a:p>
        </p:txBody>
      </p:sp>
      <p:grpSp>
        <p:nvGrpSpPr>
          <p:cNvPr id="101401" name="Group 25">
            <a:extLst>
              <a:ext uri="{FF2B5EF4-FFF2-40B4-BE49-F238E27FC236}">
                <a16:creationId xmlns:a16="http://schemas.microsoft.com/office/drawing/2014/main" id="{6EF27008-3E4F-4447-87A8-82C37B75A35C}"/>
              </a:ext>
            </a:extLst>
          </p:cNvPr>
          <p:cNvGrpSpPr>
            <a:grpSpLocks/>
          </p:cNvGrpSpPr>
          <p:nvPr/>
        </p:nvGrpSpPr>
        <p:grpSpPr bwMode="auto">
          <a:xfrm>
            <a:off x="3581400" y="1524000"/>
            <a:ext cx="4648200" cy="2819400"/>
            <a:chOff x="2256" y="960"/>
            <a:chExt cx="2928" cy="1776"/>
          </a:xfrm>
        </p:grpSpPr>
        <p:sp>
          <p:nvSpPr>
            <p:cNvPr id="101381" name="AutoShape 5">
              <a:extLst>
                <a:ext uri="{FF2B5EF4-FFF2-40B4-BE49-F238E27FC236}">
                  <a16:creationId xmlns:a16="http://schemas.microsoft.com/office/drawing/2014/main" id="{11354839-5887-494D-AC10-A69E1E0323DB}"/>
                </a:ext>
              </a:extLst>
            </p:cNvPr>
            <p:cNvSpPr>
              <a:spLocks noChangeArrowheads="1"/>
            </p:cNvSpPr>
            <p:nvPr/>
          </p:nvSpPr>
          <p:spPr bwMode="auto">
            <a:xfrm>
              <a:off x="3364" y="1200"/>
              <a:ext cx="1820" cy="864"/>
            </a:xfrm>
            <a:prstGeom prst="roundRect">
              <a:avLst>
                <a:gd name="adj" fmla="val 16667"/>
              </a:avLst>
            </a:prstGeom>
            <a:solidFill>
              <a:srgbClr val="FFDDC3"/>
            </a:solidFill>
            <a:ln w="19050">
              <a:solidFill>
                <a:srgbClr val="BD520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08000" rIns="18000" anchor="ctr"/>
            <a:lstStyle/>
            <a:p>
              <a:pPr eaLnBrk="0" hangingPunct="0"/>
              <a:r>
                <a:rPr lang="en-US" altLang="en-US" sz="1400">
                  <a:solidFill>
                    <a:srgbClr val="00007A"/>
                  </a:solidFill>
                  <a:cs typeface="Times New Roman (Hebrew)" panose="02020603050405020304" pitchFamily="18" charset="0"/>
                </a:rPr>
                <a:t>Program action:</a:t>
              </a:r>
              <a:br>
                <a:rPr lang="en-US" altLang="en-US" sz="1400">
                  <a:solidFill>
                    <a:srgbClr val="00007A"/>
                  </a:solidFill>
                  <a:cs typeface="Times New Roman (Hebrew)" panose="02020603050405020304" pitchFamily="18" charset="0"/>
                </a:rPr>
              </a:br>
              <a:r>
                <a:rPr lang="en-US" altLang="en-US" sz="1400" b="0">
                  <a:solidFill>
                    <a:srgbClr val="800000"/>
                  </a:solidFill>
                  <a:cs typeface="Times New Roman (Hebrew)" panose="02020603050405020304" pitchFamily="18" charset="0"/>
                </a:rPr>
                <a:t>Since RAM[0] happens to be 50, the program draws a 16X50 rectangle.   In this example the user paused execution when there are 14 more rows to draw.</a:t>
              </a:r>
            </a:p>
          </p:txBody>
        </p:sp>
        <p:sp>
          <p:nvSpPr>
            <p:cNvPr id="101382" name="Oval 6">
              <a:extLst>
                <a:ext uri="{FF2B5EF4-FFF2-40B4-BE49-F238E27FC236}">
                  <a16:creationId xmlns:a16="http://schemas.microsoft.com/office/drawing/2014/main" id="{2BAFC6B5-EDEF-7D47-A4AA-80D3D283E666}"/>
                </a:ext>
              </a:extLst>
            </p:cNvPr>
            <p:cNvSpPr>
              <a:spLocks noChangeArrowheads="1"/>
            </p:cNvSpPr>
            <p:nvPr/>
          </p:nvSpPr>
          <p:spPr bwMode="auto">
            <a:xfrm>
              <a:off x="2574" y="960"/>
              <a:ext cx="354" cy="384"/>
            </a:xfrm>
            <a:prstGeom prst="ellipse">
              <a:avLst/>
            </a:prstGeom>
            <a:noFill/>
            <a:ln w="34925">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8000" anchor="ctr"/>
            <a:lstStyle/>
            <a:p>
              <a:endParaRPr lang="en-US"/>
            </a:p>
          </p:txBody>
        </p:sp>
        <p:cxnSp>
          <p:nvCxnSpPr>
            <p:cNvPr id="101383" name="AutoShape 7">
              <a:extLst>
                <a:ext uri="{FF2B5EF4-FFF2-40B4-BE49-F238E27FC236}">
                  <a16:creationId xmlns:a16="http://schemas.microsoft.com/office/drawing/2014/main" id="{AD6B75AF-EB14-DC45-B510-8FE72353F7F2}"/>
                </a:ext>
              </a:extLst>
            </p:cNvPr>
            <p:cNvCxnSpPr>
              <a:cxnSpLocks noChangeShapeType="1"/>
              <a:stCxn id="101381" idx="1"/>
              <a:endCxn id="101384" idx="2"/>
            </p:cNvCxnSpPr>
            <p:nvPr/>
          </p:nvCxnSpPr>
          <p:spPr bwMode="auto">
            <a:xfrm flipH="1" flipV="1">
              <a:off x="2897" y="1248"/>
              <a:ext cx="461" cy="384"/>
            </a:xfrm>
            <a:prstGeom prst="straightConnector1">
              <a:avLst/>
            </a:prstGeom>
            <a:noFill/>
            <a:ln w="19050">
              <a:solidFill>
                <a:srgbClr val="BD520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1384" name="Rectangle 8">
              <a:extLst>
                <a:ext uri="{FF2B5EF4-FFF2-40B4-BE49-F238E27FC236}">
                  <a16:creationId xmlns:a16="http://schemas.microsoft.com/office/drawing/2014/main" id="{293218E3-562A-724C-B6C1-28FF9B394501}"/>
                </a:ext>
              </a:extLst>
            </p:cNvPr>
            <p:cNvSpPr>
              <a:spLocks noChangeArrowheads="1"/>
            </p:cNvSpPr>
            <p:nvPr/>
          </p:nvSpPr>
          <p:spPr bwMode="auto">
            <a:xfrm>
              <a:off x="2796" y="1104"/>
              <a:ext cx="202"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8000" anchor="ctr"/>
            <a:lstStyle/>
            <a:p>
              <a:pPr algn="ctr"/>
              <a:endParaRPr lang="en-US" altLang="en-US" sz="2000" b="0">
                <a:solidFill>
                  <a:schemeClr val="tx2"/>
                </a:solidFill>
              </a:endParaRPr>
            </a:p>
          </p:txBody>
        </p:sp>
        <p:cxnSp>
          <p:nvCxnSpPr>
            <p:cNvPr id="101385" name="AutoShape 9">
              <a:extLst>
                <a:ext uri="{FF2B5EF4-FFF2-40B4-BE49-F238E27FC236}">
                  <a16:creationId xmlns:a16="http://schemas.microsoft.com/office/drawing/2014/main" id="{B27F2F48-07C0-484C-B25A-C6E95C73CEFC}"/>
                </a:ext>
              </a:extLst>
            </p:cNvPr>
            <p:cNvCxnSpPr>
              <a:cxnSpLocks noChangeShapeType="1"/>
              <a:stCxn id="101381" idx="1"/>
              <a:endCxn id="101387" idx="7"/>
            </p:cNvCxnSpPr>
            <p:nvPr/>
          </p:nvCxnSpPr>
          <p:spPr bwMode="auto">
            <a:xfrm flipH="1">
              <a:off x="2554" y="1632"/>
              <a:ext cx="804" cy="806"/>
            </a:xfrm>
            <a:prstGeom prst="straightConnector1">
              <a:avLst/>
            </a:prstGeom>
            <a:noFill/>
            <a:ln w="19050">
              <a:solidFill>
                <a:srgbClr val="BD520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1386" name="Rectangle 10">
              <a:extLst>
                <a:ext uri="{FF2B5EF4-FFF2-40B4-BE49-F238E27FC236}">
                  <a16:creationId xmlns:a16="http://schemas.microsoft.com/office/drawing/2014/main" id="{8E907C96-BFBD-A046-A9EB-D07A2CCCF75A}"/>
                </a:ext>
              </a:extLst>
            </p:cNvPr>
            <p:cNvSpPr>
              <a:spLocks noChangeArrowheads="1"/>
            </p:cNvSpPr>
            <p:nvPr/>
          </p:nvSpPr>
          <p:spPr bwMode="auto">
            <a:xfrm>
              <a:off x="2504" y="2400"/>
              <a:ext cx="202"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8000" anchor="ctr"/>
            <a:lstStyle/>
            <a:p>
              <a:pPr algn="ctr"/>
              <a:endParaRPr lang="en-US" altLang="en-US" sz="2000" b="0">
                <a:solidFill>
                  <a:schemeClr val="tx2"/>
                </a:solidFill>
              </a:endParaRPr>
            </a:p>
          </p:txBody>
        </p:sp>
        <p:sp>
          <p:nvSpPr>
            <p:cNvPr id="101387" name="Oval 11">
              <a:extLst>
                <a:ext uri="{FF2B5EF4-FFF2-40B4-BE49-F238E27FC236}">
                  <a16:creationId xmlns:a16="http://schemas.microsoft.com/office/drawing/2014/main" id="{67EC25ED-4097-1147-89DD-E8E0BE0F83D8}"/>
                </a:ext>
              </a:extLst>
            </p:cNvPr>
            <p:cNvSpPr>
              <a:spLocks noChangeArrowheads="1"/>
            </p:cNvSpPr>
            <p:nvPr/>
          </p:nvSpPr>
          <p:spPr bwMode="auto">
            <a:xfrm>
              <a:off x="2256" y="2400"/>
              <a:ext cx="349" cy="336"/>
            </a:xfrm>
            <a:prstGeom prst="ellipse">
              <a:avLst/>
            </a:prstGeom>
            <a:noFill/>
            <a:ln w="34925">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8000" anchor="ctr"/>
            <a:lstStyle/>
            <a:p>
              <a:endParaRPr lang="en-US"/>
            </a:p>
          </p:txBody>
        </p:sp>
      </p:grpSp>
      <p:sp>
        <p:nvSpPr>
          <p:cNvPr id="101402" name="AutoShape 26">
            <a:extLst>
              <a:ext uri="{FF2B5EF4-FFF2-40B4-BE49-F238E27FC236}">
                <a16:creationId xmlns:a16="http://schemas.microsoft.com/office/drawing/2014/main" id="{9576C5E2-A318-0D42-A944-2E81280F659A}"/>
              </a:ext>
            </a:extLst>
          </p:cNvPr>
          <p:cNvSpPr>
            <a:spLocks noChangeArrowheads="1"/>
          </p:cNvSpPr>
          <p:nvPr/>
        </p:nvSpPr>
        <p:spPr bwMode="auto">
          <a:xfrm>
            <a:off x="4114800" y="4419600"/>
            <a:ext cx="4648200" cy="1752600"/>
          </a:xfrm>
          <a:prstGeom prst="wedgeRoundRectCallout">
            <a:avLst>
              <a:gd name="adj1" fmla="val -96139"/>
              <a:gd name="adj2" fmla="val -51903"/>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118800"/>
          <a:lstStyle/>
          <a:p>
            <a:pPr>
              <a:spcBef>
                <a:spcPct val="50000"/>
              </a:spcBef>
            </a:pPr>
            <a:r>
              <a:rPr lang="en-US" altLang="en-US" sz="1400">
                <a:solidFill>
                  <a:srgbClr val="00007A"/>
                </a:solidFill>
              </a:rPr>
              <a:t>Program’s description: </a:t>
            </a:r>
            <a:r>
              <a:rPr lang="en-US" altLang="en-US" sz="1400" b="0"/>
              <a:t>Draws a rectangle at the top left corner of the screen.  The rectangle’s width is 16 pixels, and its length is determined by the current contents of RAM[0].</a:t>
            </a:r>
          </a:p>
          <a:p>
            <a:pPr>
              <a:spcBef>
                <a:spcPct val="50000"/>
              </a:spcBef>
            </a:pPr>
            <a:r>
              <a:rPr lang="en-US" altLang="en-US" sz="1400">
                <a:solidFill>
                  <a:srgbClr val="00007A"/>
                </a:solidFill>
              </a:rPr>
              <a:t>Note: </a:t>
            </a:r>
            <a:r>
              <a:rPr lang="en-US" altLang="en-US" sz="1400" b="0"/>
              <a:t>There is no need to understand the program’s code in order to understand what’s going on.</a:t>
            </a:r>
          </a:p>
        </p:txBody>
      </p:sp>
      <p:grpSp>
        <p:nvGrpSpPr>
          <p:cNvPr id="101403" name="Group 27">
            <a:extLst>
              <a:ext uri="{FF2B5EF4-FFF2-40B4-BE49-F238E27FC236}">
                <a16:creationId xmlns:a16="http://schemas.microsoft.com/office/drawing/2014/main" id="{DE7264AA-CFA9-C343-909D-CB1E8AF7F652}"/>
              </a:ext>
            </a:extLst>
          </p:cNvPr>
          <p:cNvGrpSpPr>
            <a:grpSpLocks/>
          </p:cNvGrpSpPr>
          <p:nvPr/>
        </p:nvGrpSpPr>
        <p:grpSpPr bwMode="auto">
          <a:xfrm>
            <a:off x="76200" y="762000"/>
            <a:ext cx="3962400" cy="4953000"/>
            <a:chOff x="96" y="432"/>
            <a:chExt cx="2496" cy="3120"/>
          </a:xfrm>
        </p:grpSpPr>
        <p:sp>
          <p:nvSpPr>
            <p:cNvPr id="101404" name="AutoShape 28">
              <a:extLst>
                <a:ext uri="{FF2B5EF4-FFF2-40B4-BE49-F238E27FC236}">
                  <a16:creationId xmlns:a16="http://schemas.microsoft.com/office/drawing/2014/main" id="{2C3B1FA3-52B2-D142-A73E-1178A059F9CD}"/>
                </a:ext>
              </a:extLst>
            </p:cNvPr>
            <p:cNvSpPr>
              <a:spLocks noChangeArrowheads="1"/>
            </p:cNvSpPr>
            <p:nvPr/>
          </p:nvSpPr>
          <p:spPr bwMode="auto">
            <a:xfrm>
              <a:off x="96" y="432"/>
              <a:ext cx="2496" cy="1296"/>
            </a:xfrm>
            <a:prstGeom prst="roundRect">
              <a:avLst>
                <a:gd name="adj" fmla="val 16667"/>
              </a:avLst>
            </a:prstGeom>
            <a:solidFill>
              <a:srgbClr val="FFDDC3"/>
            </a:solidFill>
            <a:ln w="19050">
              <a:solidFill>
                <a:srgbClr val="BD520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rIns="54000" anchor="ctr"/>
            <a:lstStyle/>
            <a:p>
              <a:pPr eaLnBrk="0" hangingPunct="0"/>
              <a:r>
                <a:rPr lang="en-US" altLang="en-US" sz="1400">
                  <a:solidFill>
                    <a:srgbClr val="00007A"/>
                  </a:solidFill>
                  <a:cs typeface="Times New Roman (Hebrew)" panose="02020603050405020304" pitchFamily="18" charset="0"/>
                </a:rPr>
                <a:t>Next instruction</a:t>
              </a:r>
              <a:r>
                <a:rPr lang="en-US" altLang="en-US" sz="1400">
                  <a:solidFill>
                    <a:srgbClr val="800000"/>
                  </a:solidFill>
                  <a:cs typeface="Times New Roman (Hebrew)" panose="02020603050405020304" pitchFamily="18" charset="0"/>
                </a:rPr>
                <a:t> </a:t>
              </a:r>
              <a:r>
                <a:rPr lang="en-US" altLang="en-US" sz="1400" b="0">
                  <a:solidFill>
                    <a:srgbClr val="800000"/>
                  </a:solidFill>
                  <a:cs typeface="Times New Roman (Hebrew)" panose="02020603050405020304" pitchFamily="18" charset="0"/>
                </a:rPr>
                <a:t>is</a:t>
              </a:r>
              <a:r>
                <a:rPr lang="en-US" altLang="en-US" sz="1400">
                  <a:solidFill>
                    <a:srgbClr val="800000"/>
                  </a:solidFill>
                  <a:cs typeface="Times New Roman (Hebrew)" panose="02020603050405020304" pitchFamily="18" charset="0"/>
                </a:rPr>
                <a:t> </a:t>
              </a:r>
              <a:r>
                <a:rPr lang="en-US" altLang="en-US" sz="1400">
                  <a:latin typeface="Courier New" panose="02070309020205020404" pitchFamily="49" charset="0"/>
                  <a:cs typeface="Courier New" panose="02070309020205020404" pitchFamily="49" charset="0"/>
                </a:rPr>
                <a:t>M=-1</a:t>
              </a:r>
              <a:r>
                <a:rPr lang="en-US" altLang="en-US" sz="1400">
                  <a:cs typeface="Courier New" panose="02070309020205020404" pitchFamily="49" charset="0"/>
                </a:rPr>
                <a:t>.</a:t>
              </a:r>
              <a:r>
                <a:rPr lang="en-US" altLang="en-US" sz="1400">
                  <a:solidFill>
                    <a:srgbClr val="800000"/>
                  </a:solidFill>
                  <a:cs typeface="Courier New" panose="02070309020205020404" pitchFamily="49" charset="0"/>
                </a:rPr>
                <a:t>  </a:t>
              </a:r>
            </a:p>
            <a:p>
              <a:pPr eaLnBrk="0" hangingPunct="0"/>
              <a:r>
                <a:rPr lang="en-US" altLang="en-US" sz="1400" b="0">
                  <a:solidFill>
                    <a:srgbClr val="800000"/>
                  </a:solidFill>
                  <a:cs typeface="Courier New" panose="02070309020205020404" pitchFamily="49" charset="0"/>
                </a:rPr>
                <a:t>Since presently A=17536, the next ALU instruction will effect RAM[17536] = 1111111111111111.  The 17536 address, which falls in the screen memory map, corresponds to the row just below the rectangle’s current bottom.  In the next screen refresh, a new row of 16 black pixels will be drawn there.</a:t>
              </a:r>
            </a:p>
          </p:txBody>
        </p:sp>
        <p:cxnSp>
          <p:nvCxnSpPr>
            <p:cNvPr id="101405" name="AutoShape 29">
              <a:extLst>
                <a:ext uri="{FF2B5EF4-FFF2-40B4-BE49-F238E27FC236}">
                  <a16:creationId xmlns:a16="http://schemas.microsoft.com/office/drawing/2014/main" id="{8362243B-20F8-524B-8E92-425F36FB5B57}"/>
                </a:ext>
              </a:extLst>
            </p:cNvPr>
            <p:cNvCxnSpPr>
              <a:cxnSpLocks noChangeShapeType="1"/>
              <a:stCxn id="101404" idx="2"/>
              <a:endCxn id="101406" idx="2"/>
            </p:cNvCxnSpPr>
            <p:nvPr/>
          </p:nvCxnSpPr>
          <p:spPr bwMode="auto">
            <a:xfrm>
              <a:off x="1344" y="1734"/>
              <a:ext cx="768" cy="1818"/>
            </a:xfrm>
            <a:prstGeom prst="straightConnector1">
              <a:avLst/>
            </a:prstGeom>
            <a:noFill/>
            <a:ln w="19050">
              <a:solidFill>
                <a:srgbClr val="BD5201"/>
              </a:solidFill>
              <a:round/>
              <a:headEnd/>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1406" name="Rectangle 30">
              <a:extLst>
                <a:ext uri="{FF2B5EF4-FFF2-40B4-BE49-F238E27FC236}">
                  <a16:creationId xmlns:a16="http://schemas.microsoft.com/office/drawing/2014/main" id="{45A4BB40-C2CF-204C-9D4C-3763543181AC}"/>
                </a:ext>
              </a:extLst>
            </p:cNvPr>
            <p:cNvSpPr>
              <a:spLocks noChangeArrowheads="1"/>
            </p:cNvSpPr>
            <p:nvPr/>
          </p:nvSpPr>
          <p:spPr bwMode="auto">
            <a:xfrm>
              <a:off x="2016" y="3408"/>
              <a:ext cx="192"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000" b="0">
                <a:solidFill>
                  <a:schemeClr val="tx2"/>
                </a:solidFill>
              </a:endParaRPr>
            </a:p>
          </p:txBody>
        </p:sp>
        <p:cxnSp>
          <p:nvCxnSpPr>
            <p:cNvPr id="101407" name="AutoShape 31">
              <a:extLst>
                <a:ext uri="{FF2B5EF4-FFF2-40B4-BE49-F238E27FC236}">
                  <a16:creationId xmlns:a16="http://schemas.microsoft.com/office/drawing/2014/main" id="{C2BFC2F1-3216-D443-AE77-7248BCBBDE8E}"/>
                </a:ext>
              </a:extLst>
            </p:cNvPr>
            <p:cNvCxnSpPr>
              <a:cxnSpLocks noChangeShapeType="1"/>
              <a:stCxn id="101404" idx="2"/>
              <a:endCxn id="101408" idx="2"/>
            </p:cNvCxnSpPr>
            <p:nvPr/>
          </p:nvCxnSpPr>
          <p:spPr bwMode="auto">
            <a:xfrm flipH="1">
              <a:off x="1008" y="1734"/>
              <a:ext cx="336" cy="378"/>
            </a:xfrm>
            <a:prstGeom prst="straightConnector1">
              <a:avLst/>
            </a:prstGeom>
            <a:noFill/>
            <a:ln w="19050">
              <a:solidFill>
                <a:srgbClr val="BD5201"/>
              </a:solidFill>
              <a:round/>
              <a:headEnd/>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1408" name="Rectangle 32">
              <a:extLst>
                <a:ext uri="{FF2B5EF4-FFF2-40B4-BE49-F238E27FC236}">
                  <a16:creationId xmlns:a16="http://schemas.microsoft.com/office/drawing/2014/main" id="{33F2BB8B-C483-B24D-9E63-BA925B519F5A}"/>
                </a:ext>
              </a:extLst>
            </p:cNvPr>
            <p:cNvSpPr>
              <a:spLocks noChangeArrowheads="1"/>
            </p:cNvSpPr>
            <p:nvPr/>
          </p:nvSpPr>
          <p:spPr bwMode="auto">
            <a:xfrm>
              <a:off x="912" y="1968"/>
              <a:ext cx="192"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000" b="0">
                <a:solidFill>
                  <a:schemeClr val="tx2"/>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014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37" name="Picture 25">
            <a:extLst>
              <a:ext uri="{FF2B5EF4-FFF2-40B4-BE49-F238E27FC236}">
                <a16:creationId xmlns:a16="http://schemas.microsoft.com/office/drawing/2014/main" id="{8CF66EDE-008A-D240-BF4E-76B630522D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685800"/>
            <a:ext cx="8229600" cy="5867400"/>
          </a:xfrm>
          <a:prstGeom prst="rect">
            <a:avLst/>
          </a:prstGeom>
          <a:noFill/>
          <a:ln>
            <a:noFill/>
          </a:ln>
          <a:effectLst/>
          <a:extLst>
            <a:ext uri="{909E8E84-426E-40DD-AFC4-6F175D3DCCD1}">
              <a14:hiddenFill xmlns:a14="http://schemas.microsoft.com/office/drawing/2010/main">
                <a:solidFill>
                  <a:srgbClr val="FFFFC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5715" name="Rectangle 3">
            <a:extLst>
              <a:ext uri="{FF2B5EF4-FFF2-40B4-BE49-F238E27FC236}">
                <a16:creationId xmlns:a16="http://schemas.microsoft.com/office/drawing/2014/main" id="{17C49EBA-00A9-A749-8AC5-C6AE7638F5F1}"/>
              </a:ext>
            </a:extLst>
          </p:cNvPr>
          <p:cNvSpPr>
            <a:spLocks noGrp="1" noChangeArrowheads="1"/>
          </p:cNvSpPr>
          <p:nvPr>
            <p:ph type="title"/>
          </p:nvPr>
        </p:nvSpPr>
        <p:spPr/>
        <p:txBody>
          <a:bodyPr/>
          <a:lstStyle/>
          <a:p>
            <a:r>
              <a:rPr lang="en-US" altLang="en-US"/>
              <a:t>Animation options</a:t>
            </a:r>
          </a:p>
        </p:txBody>
      </p:sp>
      <p:sp>
        <p:nvSpPr>
          <p:cNvPr id="115762" name="AutoShape 50">
            <a:extLst>
              <a:ext uri="{FF2B5EF4-FFF2-40B4-BE49-F238E27FC236}">
                <a16:creationId xmlns:a16="http://schemas.microsoft.com/office/drawing/2014/main" id="{481B9534-28EA-C340-A3A5-9B680B51CFDC}"/>
              </a:ext>
            </a:extLst>
          </p:cNvPr>
          <p:cNvSpPr>
            <a:spLocks noChangeArrowheads="1"/>
          </p:cNvSpPr>
          <p:nvPr/>
        </p:nvSpPr>
        <p:spPr bwMode="auto">
          <a:xfrm>
            <a:off x="4343400" y="3429000"/>
            <a:ext cx="4343400" cy="2438400"/>
          </a:xfrm>
          <a:prstGeom prst="wedgeRoundRectCallout">
            <a:avLst>
              <a:gd name="adj1" fmla="val -43347"/>
              <a:gd name="adj2" fmla="val -129819"/>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88925" indent="-187325" algn="r" rtl="1">
              <a:tabLst>
                <a:tab pos="290513" algn="l"/>
              </a:tabLst>
              <a:defRPr sz="2400">
                <a:solidFill>
                  <a:schemeClr val="tx1"/>
                </a:solidFill>
                <a:latin typeface="Times New Roman" panose="02020603050405020304" pitchFamily="18" charset="0"/>
                <a:cs typeface="Times New Roman (Hebrew)" panose="02020603050405020304" pitchFamily="18" charset="0"/>
              </a:defRPr>
            </a:lvl1pPr>
            <a:lvl2pPr marL="479425" algn="r" rtl="1">
              <a:tabLst>
                <a:tab pos="290513" algn="l"/>
              </a:tabLst>
              <a:defRPr sz="2400">
                <a:solidFill>
                  <a:schemeClr val="tx1"/>
                </a:solidFill>
                <a:latin typeface="Times New Roman" panose="02020603050405020304" pitchFamily="18" charset="0"/>
                <a:cs typeface="Times New Roman (Hebrew)" panose="02020603050405020304" pitchFamily="18" charset="0"/>
              </a:defRPr>
            </a:lvl2pPr>
            <a:lvl3pPr algn="r" rtl="1">
              <a:tabLst>
                <a:tab pos="290513" algn="l"/>
              </a:tabLst>
              <a:defRPr sz="2400">
                <a:solidFill>
                  <a:schemeClr val="tx1"/>
                </a:solidFill>
                <a:latin typeface="Times New Roman" panose="02020603050405020304" pitchFamily="18" charset="0"/>
                <a:cs typeface="Times New Roman (Hebrew)" panose="02020603050405020304" pitchFamily="18" charset="0"/>
              </a:defRPr>
            </a:lvl3pPr>
            <a:lvl4pPr algn="r" rtl="1">
              <a:tabLst>
                <a:tab pos="290513" algn="l"/>
              </a:tabLst>
              <a:defRPr sz="2400">
                <a:solidFill>
                  <a:schemeClr val="tx1"/>
                </a:solidFill>
                <a:latin typeface="Times New Roman" panose="02020603050405020304" pitchFamily="18" charset="0"/>
                <a:cs typeface="Times New Roman (Hebrew)" panose="02020603050405020304" pitchFamily="18" charset="0"/>
              </a:defRPr>
            </a:lvl4pPr>
            <a:lvl5pPr algn="r" rtl="1">
              <a:tabLst>
                <a:tab pos="290513" algn="l"/>
              </a:tabLst>
              <a:defRPr sz="2400">
                <a:solidFill>
                  <a:schemeClr val="tx1"/>
                </a:solidFill>
                <a:latin typeface="Times New Roman" panose="02020603050405020304" pitchFamily="18" charset="0"/>
                <a:cs typeface="Times New Roman (Hebrew)" panose="02020603050405020304" pitchFamily="18" charset="0"/>
              </a:defRPr>
            </a:lvl5pPr>
            <a:lvl6pPr algn="r" rtl="1" fontAlgn="base">
              <a:spcBef>
                <a:spcPct val="0"/>
              </a:spcBef>
              <a:spcAft>
                <a:spcPct val="0"/>
              </a:spcAft>
              <a:tabLst>
                <a:tab pos="290513" algn="l"/>
              </a:tabLst>
              <a:defRPr sz="2400">
                <a:solidFill>
                  <a:schemeClr val="tx1"/>
                </a:solidFill>
                <a:latin typeface="Times New Roman" panose="02020603050405020304" pitchFamily="18" charset="0"/>
                <a:cs typeface="Times New Roman (Hebrew)" panose="02020603050405020304" pitchFamily="18" charset="0"/>
              </a:defRPr>
            </a:lvl6pPr>
            <a:lvl7pPr algn="r" rtl="1" fontAlgn="base">
              <a:spcBef>
                <a:spcPct val="0"/>
              </a:spcBef>
              <a:spcAft>
                <a:spcPct val="0"/>
              </a:spcAft>
              <a:tabLst>
                <a:tab pos="290513" algn="l"/>
              </a:tabLst>
              <a:defRPr sz="2400">
                <a:solidFill>
                  <a:schemeClr val="tx1"/>
                </a:solidFill>
                <a:latin typeface="Times New Roman" panose="02020603050405020304" pitchFamily="18" charset="0"/>
                <a:cs typeface="Times New Roman (Hebrew)" panose="02020603050405020304" pitchFamily="18" charset="0"/>
              </a:defRPr>
            </a:lvl7pPr>
            <a:lvl8pPr algn="r" rtl="1" fontAlgn="base">
              <a:spcBef>
                <a:spcPct val="0"/>
              </a:spcBef>
              <a:spcAft>
                <a:spcPct val="0"/>
              </a:spcAft>
              <a:tabLst>
                <a:tab pos="290513" algn="l"/>
              </a:tabLst>
              <a:defRPr sz="2400">
                <a:solidFill>
                  <a:schemeClr val="tx1"/>
                </a:solidFill>
                <a:latin typeface="Times New Roman" panose="02020603050405020304" pitchFamily="18" charset="0"/>
                <a:cs typeface="Times New Roman (Hebrew)" panose="02020603050405020304" pitchFamily="18" charset="0"/>
              </a:defRPr>
            </a:lvl8pPr>
            <a:lvl9pPr algn="r" rtl="1" fontAlgn="base">
              <a:spcBef>
                <a:spcPct val="0"/>
              </a:spcBef>
              <a:spcAft>
                <a:spcPct val="0"/>
              </a:spcAft>
              <a:tabLst>
                <a:tab pos="290513"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r>
              <a:rPr lang="en-US" altLang="en-US" sz="1400" b="0" u="sng">
                <a:solidFill>
                  <a:srgbClr val="00007A"/>
                </a:solidFill>
                <a:latin typeface="Arial" panose="020B0604020202020204" pitchFamily="34" charset="0"/>
                <a:cs typeface="Arial" panose="020B0604020202020204" pitchFamily="34" charset="0"/>
              </a:rPr>
              <a:t>Animation control:</a:t>
            </a:r>
          </a:p>
          <a:p>
            <a:pPr algn="l" rtl="0">
              <a:spcBef>
                <a:spcPct val="25000"/>
              </a:spcBef>
              <a:buClr>
                <a:srgbClr val="006600"/>
              </a:buClr>
              <a:buFont typeface="Wingdings" pitchFamily="2" charset="2"/>
              <a:buChar char="§"/>
            </a:pPr>
            <a:r>
              <a:rPr lang="en-US" altLang="en-US" sz="1400">
                <a:latin typeface="Courier New" panose="02070309020205020404" pitchFamily="49" charset="0"/>
                <a:cs typeface="Courier New" panose="02070309020205020404" pitchFamily="49" charset="0"/>
              </a:rPr>
              <a:t>Program flow</a:t>
            </a:r>
            <a:r>
              <a:rPr lang="en-US" altLang="en-US" sz="1400">
                <a:latin typeface="Arial" panose="020B0604020202020204" pitchFamily="34" charset="0"/>
                <a:cs typeface="Arial" panose="020B0604020202020204" pitchFamily="34" charset="0"/>
              </a:rPr>
              <a:t> </a:t>
            </a:r>
            <a:r>
              <a:rPr lang="en-US" altLang="en-US" sz="1400" b="0">
                <a:latin typeface="Arial" panose="020B0604020202020204" pitchFamily="34" charset="0"/>
                <a:cs typeface="Arial" panose="020B0604020202020204" pitchFamily="34" charset="0"/>
              </a:rPr>
              <a:t>(default): highlights the current instruction in the instruction memory and the currently selected RAM location</a:t>
            </a:r>
          </a:p>
          <a:p>
            <a:pPr algn="l" rtl="0">
              <a:spcBef>
                <a:spcPct val="25000"/>
              </a:spcBef>
              <a:buClr>
                <a:srgbClr val="006600"/>
              </a:buClr>
              <a:buFont typeface="Wingdings" pitchFamily="2" charset="2"/>
              <a:buChar char="§"/>
            </a:pPr>
            <a:r>
              <a:rPr lang="en-US" altLang="en-US" sz="1400">
                <a:latin typeface="Courier New" panose="02070309020205020404" pitchFamily="49" charset="0"/>
                <a:cs typeface="Courier New" panose="02070309020205020404" pitchFamily="49" charset="0"/>
              </a:rPr>
              <a:t>Program</a:t>
            </a:r>
            <a:r>
              <a:rPr lang="en-US" altLang="en-US" sz="1400" b="0">
                <a:latin typeface="Arial" panose="020B0604020202020204" pitchFamily="34" charset="0"/>
                <a:cs typeface="Arial" panose="020B0604020202020204" pitchFamily="34" charset="0"/>
              </a:rPr>
              <a:t> </a:t>
            </a:r>
            <a:r>
              <a:rPr lang="en-US" altLang="en-US" sz="1400">
                <a:latin typeface="Courier New" panose="02070309020205020404" pitchFamily="49" charset="0"/>
                <a:cs typeface="Courier New" panose="02070309020205020404" pitchFamily="49" charset="0"/>
              </a:rPr>
              <a:t>&amp;</a:t>
            </a:r>
            <a:r>
              <a:rPr lang="en-US" altLang="en-US" sz="1400" b="0">
                <a:latin typeface="Arial" panose="020B0604020202020204" pitchFamily="34" charset="0"/>
                <a:cs typeface="Arial" panose="020B0604020202020204" pitchFamily="34" charset="0"/>
              </a:rPr>
              <a:t> </a:t>
            </a:r>
            <a:r>
              <a:rPr lang="en-US" altLang="en-US" sz="1400">
                <a:latin typeface="Courier New" panose="02070309020205020404" pitchFamily="49" charset="0"/>
                <a:cs typeface="Courier New" panose="02070309020205020404" pitchFamily="49" charset="0"/>
              </a:rPr>
              <a:t>data</a:t>
            </a:r>
            <a:r>
              <a:rPr lang="en-US" altLang="en-US" sz="1400" b="0">
                <a:latin typeface="Arial" panose="020B0604020202020204" pitchFamily="34" charset="0"/>
                <a:cs typeface="Arial" panose="020B0604020202020204" pitchFamily="34" charset="0"/>
              </a:rPr>
              <a:t> </a:t>
            </a:r>
            <a:r>
              <a:rPr lang="en-US" altLang="en-US" sz="1400">
                <a:latin typeface="Courier New" panose="02070309020205020404" pitchFamily="49" charset="0"/>
                <a:cs typeface="Courier New" panose="02070309020205020404" pitchFamily="49" charset="0"/>
              </a:rPr>
              <a:t>flow</a:t>
            </a:r>
            <a:r>
              <a:rPr lang="en-US" altLang="en-US" sz="1400">
                <a:latin typeface="Arial" panose="020B0604020202020204" pitchFamily="34" charset="0"/>
                <a:cs typeface="Arial" panose="020B0604020202020204" pitchFamily="34" charset="0"/>
              </a:rPr>
              <a:t>:</a:t>
            </a:r>
            <a:r>
              <a:rPr lang="en-US" altLang="en-US" sz="1400" b="0">
                <a:latin typeface="Arial" panose="020B0604020202020204" pitchFamily="34" charset="0"/>
                <a:cs typeface="Arial" panose="020B0604020202020204" pitchFamily="34" charset="0"/>
              </a:rPr>
              <a:t> animates all program and data flow in the computer</a:t>
            </a:r>
          </a:p>
          <a:p>
            <a:pPr algn="l" rtl="0">
              <a:spcBef>
                <a:spcPct val="25000"/>
              </a:spcBef>
              <a:buClr>
                <a:srgbClr val="006600"/>
              </a:buClr>
              <a:buFont typeface="Wingdings" pitchFamily="2" charset="2"/>
              <a:buChar char="§"/>
            </a:pPr>
            <a:r>
              <a:rPr lang="en-US" altLang="en-US" sz="1400">
                <a:latin typeface="Courier New" panose="02070309020205020404" pitchFamily="49" charset="0"/>
                <a:cs typeface="Courier New" panose="02070309020205020404" pitchFamily="49" charset="0"/>
              </a:rPr>
              <a:t>No</a:t>
            </a:r>
            <a:r>
              <a:rPr lang="en-US" altLang="en-US" sz="1400" b="0">
                <a:latin typeface="Arial" panose="020B0604020202020204" pitchFamily="34" charset="0"/>
                <a:cs typeface="Arial" panose="020B0604020202020204" pitchFamily="34" charset="0"/>
              </a:rPr>
              <a:t> </a:t>
            </a:r>
            <a:r>
              <a:rPr lang="en-US" altLang="en-US" sz="1400">
                <a:latin typeface="Courier New" panose="02070309020205020404" pitchFamily="49" charset="0"/>
                <a:cs typeface="Courier New" panose="02070309020205020404" pitchFamily="49" charset="0"/>
              </a:rPr>
              <a:t>animation</a:t>
            </a:r>
            <a:r>
              <a:rPr lang="en-US" altLang="en-US" sz="1400">
                <a:latin typeface="Arial" panose="020B0604020202020204" pitchFamily="34" charset="0"/>
                <a:cs typeface="Arial" panose="020B0604020202020204" pitchFamily="34" charset="0"/>
              </a:rPr>
              <a:t>:</a:t>
            </a:r>
            <a:r>
              <a:rPr lang="en-US" altLang="en-US" sz="1400" b="0">
                <a:latin typeface="Arial" panose="020B0604020202020204" pitchFamily="34" charset="0"/>
                <a:cs typeface="Arial" panose="020B0604020202020204" pitchFamily="34" charset="0"/>
              </a:rPr>
              <a:t> disables all animation</a:t>
            </a:r>
          </a:p>
          <a:p>
            <a:pPr algn="l" rtl="0">
              <a:spcBef>
                <a:spcPct val="25000"/>
              </a:spcBef>
              <a:buClr>
                <a:srgbClr val="006600"/>
              </a:buClr>
              <a:buFont typeface="Wingdings" pitchFamily="2" charset="2"/>
              <a:buNone/>
            </a:pPr>
            <a:r>
              <a:rPr lang="en-US" altLang="en-US" sz="1400" b="0" u="sng">
                <a:solidFill>
                  <a:srgbClr val="00007A"/>
                </a:solidFill>
                <a:latin typeface="Arial" panose="020B0604020202020204" pitchFamily="34" charset="0"/>
                <a:cs typeface="Arial" panose="020B0604020202020204" pitchFamily="34" charset="0"/>
              </a:rPr>
              <a:t>Usage tip:</a:t>
            </a:r>
            <a:r>
              <a:rPr lang="en-US" altLang="en-US" sz="1400" b="0">
                <a:latin typeface="Arial" panose="020B0604020202020204" pitchFamily="34" charset="0"/>
                <a:cs typeface="Arial" panose="020B0604020202020204" pitchFamily="34" charset="0"/>
              </a:rPr>
              <a:t> To execute any non-trivial program </a:t>
            </a:r>
            <a:r>
              <a:rPr lang="en-US" altLang="en-US" sz="1400" b="0" i="1">
                <a:latin typeface="Arial" panose="020B0604020202020204" pitchFamily="34" charset="0"/>
                <a:cs typeface="Arial" panose="020B0604020202020204" pitchFamily="34" charset="0"/>
              </a:rPr>
              <a:t>quickly</a:t>
            </a:r>
            <a:r>
              <a:rPr lang="en-US" altLang="en-US" sz="1400" b="0">
                <a:latin typeface="Arial" panose="020B0604020202020204" pitchFamily="34" charset="0"/>
                <a:cs typeface="Arial" panose="020B0604020202020204" pitchFamily="34" charset="0"/>
              </a:rPr>
              <a:t>, select </a:t>
            </a:r>
            <a:r>
              <a:rPr lang="en-US" altLang="en-US" sz="1400" b="0" i="1">
                <a:latin typeface="Arial" panose="020B0604020202020204" pitchFamily="34" charset="0"/>
                <a:cs typeface="Arial" panose="020B0604020202020204" pitchFamily="34" charset="0"/>
              </a:rPr>
              <a:t>no animation</a:t>
            </a:r>
            <a:r>
              <a:rPr lang="en-US" altLang="en-US" sz="1400" b="0">
                <a:latin typeface="Arial" panose="020B0604020202020204" pitchFamily="34" charset="0"/>
                <a:cs typeface="Arial" panose="020B0604020202020204" pitchFamily="34" charset="0"/>
              </a:rPr>
              <a:t>. </a:t>
            </a:r>
          </a:p>
        </p:txBody>
      </p:sp>
      <p:sp>
        <p:nvSpPr>
          <p:cNvPr id="115764" name="AutoShape 52">
            <a:extLst>
              <a:ext uri="{FF2B5EF4-FFF2-40B4-BE49-F238E27FC236}">
                <a16:creationId xmlns:a16="http://schemas.microsoft.com/office/drawing/2014/main" id="{778D4E1E-4F80-504C-BD56-D76B60C4082B}"/>
              </a:ext>
            </a:extLst>
          </p:cNvPr>
          <p:cNvSpPr>
            <a:spLocks noChangeArrowheads="1"/>
          </p:cNvSpPr>
          <p:nvPr/>
        </p:nvSpPr>
        <p:spPr bwMode="auto">
          <a:xfrm>
            <a:off x="838200" y="5334000"/>
            <a:ext cx="1981200" cy="914400"/>
          </a:xfrm>
          <a:prstGeom prst="roundRect">
            <a:avLst>
              <a:gd name="adj" fmla="val 16667"/>
            </a:avLst>
          </a:prstGeom>
          <a:solidFill>
            <a:srgbClr val="FFDDC3"/>
          </a:solidFill>
          <a:ln w="19050">
            <a:solidFill>
              <a:srgbClr val="BD520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rIns="54000" anchor="ctr"/>
          <a:lstStyle/>
          <a:p>
            <a:pPr eaLnBrk="0" hangingPunct="0"/>
            <a:r>
              <a:rPr lang="en-US" altLang="en-US" sz="1400" b="0">
                <a:solidFill>
                  <a:srgbClr val="800000"/>
                </a:solidFill>
                <a:cs typeface="Times New Roman (Hebrew)" panose="02020603050405020304" pitchFamily="18" charset="0"/>
              </a:rPr>
              <a:t>The simulator can animate both program flow and data flow</a:t>
            </a:r>
          </a:p>
        </p:txBody>
      </p:sp>
      <p:cxnSp>
        <p:nvCxnSpPr>
          <p:cNvPr id="115765" name="AutoShape 53">
            <a:extLst>
              <a:ext uri="{FF2B5EF4-FFF2-40B4-BE49-F238E27FC236}">
                <a16:creationId xmlns:a16="http://schemas.microsoft.com/office/drawing/2014/main" id="{5436F357-3535-A34A-94F6-1F3A22A5CDCA}"/>
              </a:ext>
            </a:extLst>
          </p:cNvPr>
          <p:cNvCxnSpPr>
            <a:cxnSpLocks noChangeShapeType="1"/>
            <a:stCxn id="115764" idx="0"/>
            <a:endCxn id="115766" idx="2"/>
          </p:cNvCxnSpPr>
          <p:nvPr/>
        </p:nvCxnSpPr>
        <p:spPr bwMode="auto">
          <a:xfrm flipH="1" flipV="1">
            <a:off x="1135063" y="3810000"/>
            <a:ext cx="693737" cy="1514475"/>
          </a:xfrm>
          <a:prstGeom prst="straightConnector1">
            <a:avLst/>
          </a:prstGeom>
          <a:noFill/>
          <a:ln w="31750">
            <a:solidFill>
              <a:srgbClr val="BD5201"/>
            </a:solidFill>
            <a:round/>
            <a:headEnd/>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5766" name="Rectangle 54">
            <a:extLst>
              <a:ext uri="{FF2B5EF4-FFF2-40B4-BE49-F238E27FC236}">
                <a16:creationId xmlns:a16="http://schemas.microsoft.com/office/drawing/2014/main" id="{95214A21-7A52-A547-B312-8E954615B48B}"/>
              </a:ext>
            </a:extLst>
          </p:cNvPr>
          <p:cNvSpPr>
            <a:spLocks noChangeArrowheads="1"/>
          </p:cNvSpPr>
          <p:nvPr/>
        </p:nvSpPr>
        <p:spPr bwMode="auto">
          <a:xfrm>
            <a:off x="974725" y="3581400"/>
            <a:ext cx="320675"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000" b="0">
              <a:solidFill>
                <a:schemeClr val="tx2"/>
              </a:solidFill>
            </a:endParaRPr>
          </a:p>
        </p:txBody>
      </p:sp>
      <p:cxnSp>
        <p:nvCxnSpPr>
          <p:cNvPr id="115767" name="AutoShape 55">
            <a:extLst>
              <a:ext uri="{FF2B5EF4-FFF2-40B4-BE49-F238E27FC236}">
                <a16:creationId xmlns:a16="http://schemas.microsoft.com/office/drawing/2014/main" id="{BED488BA-479A-AE4E-B0F3-2FAE322AA9CA}"/>
              </a:ext>
            </a:extLst>
          </p:cNvPr>
          <p:cNvCxnSpPr>
            <a:cxnSpLocks noChangeShapeType="1"/>
            <a:stCxn id="115764" idx="0"/>
            <a:endCxn id="115768" idx="2"/>
          </p:cNvCxnSpPr>
          <p:nvPr/>
        </p:nvCxnSpPr>
        <p:spPr bwMode="auto">
          <a:xfrm flipV="1">
            <a:off x="1828800" y="4419600"/>
            <a:ext cx="312738" cy="904875"/>
          </a:xfrm>
          <a:prstGeom prst="straightConnector1">
            <a:avLst/>
          </a:prstGeom>
          <a:noFill/>
          <a:ln w="31750">
            <a:solidFill>
              <a:srgbClr val="BD5201"/>
            </a:solidFill>
            <a:round/>
            <a:headEnd/>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5768" name="Rectangle 56">
            <a:extLst>
              <a:ext uri="{FF2B5EF4-FFF2-40B4-BE49-F238E27FC236}">
                <a16:creationId xmlns:a16="http://schemas.microsoft.com/office/drawing/2014/main" id="{99FE05AA-6054-364B-B77F-3F99980F6C24}"/>
              </a:ext>
            </a:extLst>
          </p:cNvPr>
          <p:cNvSpPr>
            <a:spLocks noChangeArrowheads="1"/>
          </p:cNvSpPr>
          <p:nvPr/>
        </p:nvSpPr>
        <p:spPr bwMode="auto">
          <a:xfrm>
            <a:off x="1981200" y="4191000"/>
            <a:ext cx="320675"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000" b="0">
              <a:solidFill>
                <a:schemeClr val="tx2"/>
              </a:solidFill>
            </a:endParaRPr>
          </a:p>
        </p:txBody>
      </p:sp>
      <p:cxnSp>
        <p:nvCxnSpPr>
          <p:cNvPr id="115769" name="AutoShape 57">
            <a:extLst>
              <a:ext uri="{FF2B5EF4-FFF2-40B4-BE49-F238E27FC236}">
                <a16:creationId xmlns:a16="http://schemas.microsoft.com/office/drawing/2014/main" id="{78F670A8-DD1B-B94B-9D60-966D46BFEEA7}"/>
              </a:ext>
            </a:extLst>
          </p:cNvPr>
          <p:cNvCxnSpPr>
            <a:cxnSpLocks noChangeShapeType="1"/>
            <a:stCxn id="115764" idx="0"/>
            <a:endCxn id="115770" idx="2"/>
          </p:cNvCxnSpPr>
          <p:nvPr/>
        </p:nvCxnSpPr>
        <p:spPr bwMode="auto">
          <a:xfrm flipV="1">
            <a:off x="1828800" y="3962400"/>
            <a:ext cx="1760538" cy="1362075"/>
          </a:xfrm>
          <a:prstGeom prst="straightConnector1">
            <a:avLst/>
          </a:prstGeom>
          <a:noFill/>
          <a:ln w="31750">
            <a:solidFill>
              <a:srgbClr val="BD5201"/>
            </a:solidFill>
            <a:round/>
            <a:headEnd/>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5770" name="Rectangle 58">
            <a:extLst>
              <a:ext uri="{FF2B5EF4-FFF2-40B4-BE49-F238E27FC236}">
                <a16:creationId xmlns:a16="http://schemas.microsoft.com/office/drawing/2014/main" id="{17BCA266-AA35-8849-9833-8035FAA446FE}"/>
              </a:ext>
            </a:extLst>
          </p:cNvPr>
          <p:cNvSpPr>
            <a:spLocks noChangeArrowheads="1"/>
          </p:cNvSpPr>
          <p:nvPr/>
        </p:nvSpPr>
        <p:spPr bwMode="auto">
          <a:xfrm>
            <a:off x="3429000" y="3733800"/>
            <a:ext cx="320675"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000" b="0">
              <a:solidFill>
                <a:schemeClr val="tx2"/>
              </a:solidFill>
            </a:endParaRPr>
          </a:p>
        </p:txBody>
      </p:sp>
      <p:sp>
        <p:nvSpPr>
          <p:cNvPr id="115771" name="AutoShape 59">
            <a:extLst>
              <a:ext uri="{FF2B5EF4-FFF2-40B4-BE49-F238E27FC236}">
                <a16:creationId xmlns:a16="http://schemas.microsoft.com/office/drawing/2014/main" id="{7E301475-7D71-B846-9320-5884C0A46FB4}"/>
              </a:ext>
            </a:extLst>
          </p:cNvPr>
          <p:cNvSpPr>
            <a:spLocks noChangeArrowheads="1"/>
          </p:cNvSpPr>
          <p:nvPr/>
        </p:nvSpPr>
        <p:spPr bwMode="auto">
          <a:xfrm>
            <a:off x="1981200" y="2133600"/>
            <a:ext cx="1828800" cy="838200"/>
          </a:xfrm>
          <a:prstGeom prst="wedgeRoundRectCallout">
            <a:avLst>
              <a:gd name="adj1" fmla="val 28037"/>
              <a:gd name="adj2" fmla="val -135796"/>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Ins="18000"/>
          <a:lstStyle/>
          <a:p>
            <a:r>
              <a:rPr lang="en-US" altLang="en-US" sz="1400" b="0"/>
              <a:t>Controls execution (and animation) speed.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576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57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62" grpId="0" animBg="1" autoUpdateAnimBg="0"/>
      <p:bldP spid="115771" grpId="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a:extLst>
              <a:ext uri="{FF2B5EF4-FFF2-40B4-BE49-F238E27FC236}">
                <a16:creationId xmlns:a16="http://schemas.microsoft.com/office/drawing/2014/main" id="{20C6FB6B-C2A2-1F4D-BA9A-3C8C6A6AB9EA}"/>
              </a:ext>
            </a:extLst>
          </p:cNvPr>
          <p:cNvSpPr>
            <a:spLocks noGrp="1" noChangeArrowheads="1"/>
          </p:cNvSpPr>
          <p:nvPr>
            <p:ph type="title"/>
          </p:nvPr>
        </p:nvSpPr>
        <p:spPr/>
        <p:txBody>
          <a:bodyPr/>
          <a:lstStyle/>
          <a:p>
            <a:r>
              <a:rPr lang="en-US" altLang="en-US"/>
              <a:t>CPU Emulator Tutorial</a:t>
            </a:r>
          </a:p>
        </p:txBody>
      </p:sp>
      <p:pic>
        <p:nvPicPr>
          <p:cNvPr id="139267" name="Picture 3" descr="G:\PPT Presentations\Pres Training\db Prepared Photos\monitor.jpg">
            <a:extLst>
              <a:ext uri="{FF2B5EF4-FFF2-40B4-BE49-F238E27FC236}">
                <a16:creationId xmlns:a16="http://schemas.microsoft.com/office/drawing/2014/main" id="{553EF1FF-2245-2549-AA64-CE261CCEEF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219200"/>
            <a:ext cx="4572000" cy="4724400"/>
          </a:xfrm>
          <a:prstGeom prst="rect">
            <a:avLst/>
          </a:prstGeom>
          <a:noFill/>
          <a:extLst>
            <a:ext uri="{909E8E84-426E-40DD-AFC4-6F175D3DCCD1}">
              <a14:hiddenFill xmlns:a14="http://schemas.microsoft.com/office/drawing/2010/main">
                <a:solidFill>
                  <a:srgbClr val="FFFFFF"/>
                </a:solidFill>
              </a14:hiddenFill>
            </a:ext>
          </a:extLst>
        </p:spPr>
      </p:pic>
      <p:sp>
        <p:nvSpPr>
          <p:cNvPr id="139268" name="Rectangle 4">
            <a:extLst>
              <a:ext uri="{FF2B5EF4-FFF2-40B4-BE49-F238E27FC236}">
                <a16:creationId xmlns:a16="http://schemas.microsoft.com/office/drawing/2014/main" id="{B942EC2D-39C8-3141-915F-C0790604535B}"/>
              </a:ext>
            </a:extLst>
          </p:cNvPr>
          <p:cNvSpPr>
            <a:spLocks noChangeArrowheads="1"/>
          </p:cNvSpPr>
          <p:nvPr/>
        </p:nvSpPr>
        <p:spPr bwMode="auto">
          <a:xfrm>
            <a:off x="3276600" y="2209800"/>
            <a:ext cx="2895600" cy="147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0513" indent="-290513">
              <a:spcBef>
                <a:spcPct val="40000"/>
              </a:spcBef>
              <a:buClr>
                <a:srgbClr val="006600"/>
              </a:buClr>
              <a:buSzPct val="110000"/>
              <a:buFont typeface="Wingdings" pitchFamily="2" charset="2"/>
              <a:buChar char="§"/>
              <a:tabLst>
                <a:tab pos="0" algn="l"/>
              </a:tabLst>
              <a:defRPr sz="2000">
                <a:solidFill>
                  <a:schemeClr val="tx1"/>
                </a:solidFill>
                <a:latin typeface="Arial" panose="020B0604020202020204" pitchFamily="34" charset="0"/>
                <a:cs typeface="Times New Roman (Hebrew)" panose="02020603050405020304" pitchFamily="18" charset="0"/>
              </a:defRPr>
            </a:lvl1pPr>
            <a:lvl2pPr marL="481013">
              <a:spcBef>
                <a:spcPct val="40000"/>
              </a:spcBef>
              <a:buClr>
                <a:srgbClr val="00007A"/>
              </a:buClr>
              <a:buSzPct val="125000"/>
              <a:buChar char="•"/>
              <a:tabLst>
                <a:tab pos="0" algn="l"/>
              </a:tabLst>
              <a:defRPr>
                <a:solidFill>
                  <a:schemeClr val="tx1"/>
                </a:solidFill>
                <a:latin typeface="Arial" panose="020B0604020202020204" pitchFamily="34" charset="0"/>
                <a:cs typeface="Times New Roman (Hebrew)" panose="02020603050405020304" pitchFamily="18" charset="0"/>
              </a:defRPr>
            </a:lvl2pPr>
            <a:lvl3pPr>
              <a:spcBef>
                <a:spcPct val="40000"/>
              </a:spcBef>
              <a:buClr>
                <a:srgbClr val="A50021"/>
              </a:buClr>
              <a:buSzPct val="110000"/>
              <a:buChar char="•"/>
              <a:tabLst>
                <a:tab pos="0" algn="l"/>
              </a:tabLst>
              <a:defRPr sz="1600">
                <a:solidFill>
                  <a:schemeClr val="tx1"/>
                </a:solidFill>
                <a:latin typeface="Arial" panose="020B0604020202020204" pitchFamily="34" charset="0"/>
                <a:cs typeface="Times New Roman (Hebrew)" panose="02020603050405020304" pitchFamily="18" charset="0"/>
              </a:defRPr>
            </a:lvl3pPr>
            <a:lvl4pPr>
              <a:spcBef>
                <a:spcPct val="40000"/>
              </a:spcBef>
              <a:buChar char="–"/>
              <a:tabLst>
                <a:tab pos="0" algn="l"/>
              </a:tabLst>
              <a:defRPr sz="1600">
                <a:solidFill>
                  <a:schemeClr val="tx1"/>
                </a:solidFill>
                <a:latin typeface="Arial" panose="020B0604020202020204" pitchFamily="34" charset="0"/>
                <a:cs typeface="Times New Roman (Hebrew)" panose="02020603050405020304" pitchFamily="18" charset="0"/>
              </a:defRPr>
            </a:lvl4pPr>
            <a:lvl5pPr>
              <a:spcBef>
                <a:spcPct val="40000"/>
              </a:spcBef>
              <a:buChar char="»"/>
              <a:tabLst>
                <a:tab pos="0" algn="l"/>
              </a:tabLst>
              <a:defRPr sz="1600">
                <a:solidFill>
                  <a:schemeClr val="tx1"/>
                </a:solidFill>
                <a:latin typeface="Arial" panose="020B0604020202020204" pitchFamily="34" charset="0"/>
                <a:cs typeface="Times New Roman (Hebrew)" panose="02020603050405020304" pitchFamily="18" charset="0"/>
              </a:defRPr>
            </a:lvl5pPr>
            <a:lvl6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6pPr>
            <a:lvl7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7pPr>
            <a:lvl8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8pPr>
            <a:lvl9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9pPr>
          </a:lstStyle>
          <a:p>
            <a:pPr algn="ctr">
              <a:spcBef>
                <a:spcPct val="60000"/>
              </a:spcBef>
              <a:buFont typeface="Wingdings" pitchFamily="2" charset="2"/>
              <a:buNone/>
            </a:pPr>
            <a:r>
              <a:rPr lang="en-US" altLang="he-IL" sz="2400" u="sng">
                <a:solidFill>
                  <a:srgbClr val="000066"/>
                </a:solidFill>
              </a:rPr>
              <a:t>Part IV:</a:t>
            </a:r>
          </a:p>
          <a:p>
            <a:pPr algn="ctr">
              <a:spcBef>
                <a:spcPct val="60000"/>
              </a:spcBef>
              <a:buFont typeface="Wingdings" pitchFamily="2" charset="2"/>
              <a:buNone/>
            </a:pPr>
            <a:r>
              <a:rPr lang="en-US" altLang="he-IL" sz="2400">
                <a:solidFill>
                  <a:srgbClr val="000066"/>
                </a:solidFill>
              </a:rPr>
              <a:t>Script-Based</a:t>
            </a:r>
          </a:p>
          <a:p>
            <a:pPr algn="ctr">
              <a:spcBef>
                <a:spcPct val="20000"/>
              </a:spcBef>
              <a:buFont typeface="Wingdings" pitchFamily="2" charset="2"/>
              <a:buNone/>
            </a:pPr>
            <a:r>
              <a:rPr lang="en-US" altLang="he-IL" sz="2400">
                <a:solidFill>
                  <a:srgbClr val="000066"/>
                </a:solidFill>
              </a:rPr>
              <a:t>Simulation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a:extLst>
              <a:ext uri="{FF2B5EF4-FFF2-40B4-BE49-F238E27FC236}">
                <a16:creationId xmlns:a16="http://schemas.microsoft.com/office/drawing/2014/main" id="{7DC1A43A-74D3-014D-9D9D-84031381D202}"/>
              </a:ext>
            </a:extLst>
          </p:cNvPr>
          <p:cNvSpPr>
            <a:spLocks noGrp="1" noChangeArrowheads="1"/>
          </p:cNvSpPr>
          <p:nvPr>
            <p:ph type="title"/>
          </p:nvPr>
        </p:nvSpPr>
        <p:spPr/>
        <p:txBody>
          <a:bodyPr/>
          <a:lstStyle/>
          <a:p>
            <a:r>
              <a:rPr lang="en-US" altLang="en-US"/>
              <a:t>Interactive VS Script-Based Simulation</a:t>
            </a:r>
          </a:p>
        </p:txBody>
      </p:sp>
      <p:sp>
        <p:nvSpPr>
          <p:cNvPr id="144387" name="Rectangle 3">
            <a:extLst>
              <a:ext uri="{FF2B5EF4-FFF2-40B4-BE49-F238E27FC236}">
                <a16:creationId xmlns:a16="http://schemas.microsoft.com/office/drawing/2014/main" id="{8FEED61F-BCEE-AB47-8934-22E991644B2E}"/>
              </a:ext>
            </a:extLst>
          </p:cNvPr>
          <p:cNvSpPr>
            <a:spLocks noGrp="1" noChangeArrowheads="1"/>
          </p:cNvSpPr>
          <p:nvPr>
            <p:ph type="body" idx="1"/>
          </p:nvPr>
        </p:nvSpPr>
        <p:spPr>
          <a:xfrm>
            <a:off x="838200" y="838200"/>
            <a:ext cx="7620000" cy="5486400"/>
          </a:xfrm>
        </p:spPr>
        <p:txBody>
          <a:bodyPr/>
          <a:lstStyle/>
          <a:p>
            <a:pPr>
              <a:buFont typeface="Wingdings" pitchFamily="2" charset="2"/>
              <a:buNone/>
            </a:pPr>
            <a:r>
              <a:rPr lang="en-US" altLang="en-US" u="sng">
                <a:solidFill>
                  <a:srgbClr val="00007A"/>
                </a:solidFill>
              </a:rPr>
              <a:t>A program can be executed and debugged:</a:t>
            </a:r>
          </a:p>
          <a:p>
            <a:r>
              <a:rPr lang="en-US" altLang="en-US" sz="1800" b="1"/>
              <a:t>Interactively</a:t>
            </a:r>
            <a:r>
              <a:rPr lang="en-US" altLang="en-US" sz="1800"/>
              <a:t>, by ad-hoc playing with the emulator’s GUI</a:t>
            </a:r>
            <a:br>
              <a:rPr lang="en-US" altLang="en-US" sz="1800"/>
            </a:br>
            <a:r>
              <a:rPr lang="en-US" altLang="en-US" sz="1800"/>
              <a:t>(as we have done so far in this tutorial)</a:t>
            </a:r>
          </a:p>
          <a:p>
            <a:r>
              <a:rPr lang="en-US" altLang="en-US" sz="1800" b="1"/>
              <a:t>Batch-ly</a:t>
            </a:r>
            <a:r>
              <a:rPr lang="en-US" altLang="en-US" sz="1800"/>
              <a:t>, by running a pre-planned set of tests, specified in a </a:t>
            </a:r>
            <a:r>
              <a:rPr lang="en-US" altLang="en-US" sz="1800" i="1"/>
              <a:t>script</a:t>
            </a:r>
            <a:r>
              <a:rPr lang="en-US" altLang="en-US" sz="1800"/>
              <a:t>.</a:t>
            </a:r>
            <a:br>
              <a:rPr lang="en-US" altLang="en-US" sz="1800"/>
            </a:br>
            <a:endParaRPr lang="en-US" altLang="en-US" sz="1800" u="sng"/>
          </a:p>
          <a:p>
            <a:pPr>
              <a:buFont typeface="Wingdings" pitchFamily="2" charset="2"/>
              <a:buNone/>
            </a:pPr>
            <a:r>
              <a:rPr lang="en-US" altLang="en-US" u="sng">
                <a:solidFill>
                  <a:srgbClr val="00007A"/>
                </a:solidFill>
              </a:rPr>
              <a:t>Script-based simulation</a:t>
            </a:r>
            <a:r>
              <a:rPr lang="en-US" altLang="en-US"/>
              <a:t> </a:t>
            </a:r>
            <a:r>
              <a:rPr lang="en-US" altLang="en-US" sz="1800"/>
              <a:t>enables planning and using tests that are:</a:t>
            </a:r>
          </a:p>
          <a:p>
            <a:r>
              <a:rPr lang="en-US" altLang="en-US" sz="1800"/>
              <a:t>Pro-active</a:t>
            </a:r>
          </a:p>
          <a:p>
            <a:r>
              <a:rPr lang="en-US" altLang="en-US" sz="1800"/>
              <a:t>Documented</a:t>
            </a:r>
          </a:p>
          <a:p>
            <a:r>
              <a:rPr lang="en-US" altLang="en-US" sz="1800"/>
              <a:t>Replicable</a:t>
            </a:r>
          </a:p>
          <a:p>
            <a:r>
              <a:rPr lang="en-US" altLang="en-US" sz="1800"/>
              <a:t>Complete (as much as possible)</a:t>
            </a:r>
            <a:br>
              <a:rPr lang="en-US" altLang="en-US" sz="1800"/>
            </a:br>
            <a:endParaRPr lang="en-US" altLang="en-US" sz="1800"/>
          </a:p>
          <a:p>
            <a:pPr>
              <a:buFont typeface="Wingdings" pitchFamily="2" charset="2"/>
              <a:buNone/>
            </a:pPr>
            <a:r>
              <a:rPr lang="en-US" altLang="en-US" u="sng">
                <a:solidFill>
                  <a:srgbClr val="00007A"/>
                </a:solidFill>
              </a:rPr>
              <a:t>Test scripts:</a:t>
            </a:r>
          </a:p>
          <a:p>
            <a:r>
              <a:rPr lang="en-US" altLang="en-US" sz="1800"/>
              <a:t>Are written in a </a:t>
            </a:r>
            <a:r>
              <a:rPr lang="en-US" altLang="en-US" sz="1800" i="1"/>
              <a:t>Test Description Language</a:t>
            </a:r>
            <a:r>
              <a:rPr lang="en-US" altLang="en-US" sz="1800"/>
              <a:t> (described in Appendix B)</a:t>
            </a:r>
          </a:p>
          <a:p>
            <a:r>
              <a:rPr lang="en-US" altLang="en-US" sz="1800"/>
              <a:t>Can cause the emulator to do anything that can be done interactively, and quite a few things that cannot be done interactively.</a:t>
            </a:r>
          </a:p>
          <a:p>
            <a:endParaRPr lang="en-US" altLang="en-US" sz="18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88" name="Picture 1052">
            <a:extLst>
              <a:ext uri="{FF2B5EF4-FFF2-40B4-BE49-F238E27FC236}">
                <a16:creationId xmlns:a16="http://schemas.microsoft.com/office/drawing/2014/main" id="{56D57B40-D3CA-BB4B-98C3-348927E5F2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4167"/>
          <a:stretch>
            <a:fillRect/>
          </a:stretch>
        </p:blipFill>
        <p:spPr bwMode="auto">
          <a:xfrm>
            <a:off x="457200" y="685800"/>
            <a:ext cx="8229600" cy="5867400"/>
          </a:xfrm>
          <a:prstGeom prst="rect">
            <a:avLst/>
          </a:prstGeom>
          <a:noFill/>
          <a:ln>
            <a:noFill/>
          </a:ln>
          <a:effectLst/>
          <a:extLst>
            <a:ext uri="{909E8E84-426E-40DD-AFC4-6F175D3DCCD1}">
              <a14:hiddenFill xmlns:a14="http://schemas.microsoft.com/office/drawing/2010/main">
                <a:solidFill>
                  <a:srgbClr val="FFFFC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7762" name="Rectangle 1026">
            <a:extLst>
              <a:ext uri="{FF2B5EF4-FFF2-40B4-BE49-F238E27FC236}">
                <a16:creationId xmlns:a16="http://schemas.microsoft.com/office/drawing/2014/main" id="{9C45CD3C-462D-1E43-9D62-389F7DE84A43}"/>
              </a:ext>
            </a:extLst>
          </p:cNvPr>
          <p:cNvSpPr>
            <a:spLocks noGrp="1" noChangeArrowheads="1"/>
          </p:cNvSpPr>
          <p:nvPr>
            <p:ph type="title"/>
          </p:nvPr>
        </p:nvSpPr>
        <p:spPr/>
        <p:txBody>
          <a:bodyPr/>
          <a:lstStyle/>
          <a:p>
            <a:r>
              <a:rPr lang="en-US" altLang="en-US"/>
              <a:t>The basic setting</a:t>
            </a:r>
          </a:p>
        </p:txBody>
      </p:sp>
      <p:grpSp>
        <p:nvGrpSpPr>
          <p:cNvPr id="117790" name="Group 1054">
            <a:extLst>
              <a:ext uri="{FF2B5EF4-FFF2-40B4-BE49-F238E27FC236}">
                <a16:creationId xmlns:a16="http://schemas.microsoft.com/office/drawing/2014/main" id="{3513C41E-3B31-6143-8FD2-CFF798342081}"/>
              </a:ext>
            </a:extLst>
          </p:cNvPr>
          <p:cNvGrpSpPr>
            <a:grpSpLocks/>
          </p:cNvGrpSpPr>
          <p:nvPr/>
        </p:nvGrpSpPr>
        <p:grpSpPr bwMode="auto">
          <a:xfrm>
            <a:off x="685800" y="1905000"/>
            <a:ext cx="1676400" cy="3200400"/>
            <a:chOff x="432" y="1200"/>
            <a:chExt cx="1056" cy="2016"/>
          </a:xfrm>
        </p:grpSpPr>
        <p:sp>
          <p:nvSpPr>
            <p:cNvPr id="117772" name="Rectangle 1036">
              <a:extLst>
                <a:ext uri="{FF2B5EF4-FFF2-40B4-BE49-F238E27FC236}">
                  <a16:creationId xmlns:a16="http://schemas.microsoft.com/office/drawing/2014/main" id="{ECF07505-13ED-E14F-BF85-9C24552BD88C}"/>
                </a:ext>
              </a:extLst>
            </p:cNvPr>
            <p:cNvSpPr>
              <a:spLocks noChangeArrowheads="1"/>
            </p:cNvSpPr>
            <p:nvPr/>
          </p:nvSpPr>
          <p:spPr bwMode="auto">
            <a:xfrm>
              <a:off x="432" y="1200"/>
              <a:ext cx="576" cy="1296"/>
            </a:xfrm>
            <a:prstGeom prst="rect">
              <a:avLst/>
            </a:prstGeom>
            <a:noFill/>
            <a:ln w="34925">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7777" name="AutoShape 1041">
              <a:extLst>
                <a:ext uri="{FF2B5EF4-FFF2-40B4-BE49-F238E27FC236}">
                  <a16:creationId xmlns:a16="http://schemas.microsoft.com/office/drawing/2014/main" id="{C48819D9-9D3C-A24D-B0AE-17C89EE2491F}"/>
                </a:ext>
              </a:extLst>
            </p:cNvPr>
            <p:cNvSpPr>
              <a:spLocks noChangeArrowheads="1"/>
            </p:cNvSpPr>
            <p:nvPr/>
          </p:nvSpPr>
          <p:spPr bwMode="auto">
            <a:xfrm>
              <a:off x="480" y="2928"/>
              <a:ext cx="1008" cy="288"/>
            </a:xfrm>
            <a:prstGeom prst="wedgeRoundRectCallout">
              <a:avLst>
                <a:gd name="adj1" fmla="val -21329"/>
                <a:gd name="adj2" fmla="val -191319"/>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18800" rIns="54000" bIns="118800"/>
            <a:lstStyle/>
            <a:p>
              <a:r>
                <a:rPr lang="en-US" altLang="en-US" sz="1400">
                  <a:solidFill>
                    <a:srgbClr val="00007A"/>
                  </a:solidFill>
                </a:rPr>
                <a:t>tested program</a:t>
              </a:r>
              <a:endParaRPr lang="en-US" altLang="en-US" sz="1400" b="0"/>
            </a:p>
          </p:txBody>
        </p:sp>
      </p:grpSp>
      <p:grpSp>
        <p:nvGrpSpPr>
          <p:cNvPr id="117792" name="Group 1056">
            <a:extLst>
              <a:ext uri="{FF2B5EF4-FFF2-40B4-BE49-F238E27FC236}">
                <a16:creationId xmlns:a16="http://schemas.microsoft.com/office/drawing/2014/main" id="{4956C881-4ECC-D94E-B6AB-68F0D1CA199E}"/>
              </a:ext>
            </a:extLst>
          </p:cNvPr>
          <p:cNvGrpSpPr>
            <a:grpSpLocks/>
          </p:cNvGrpSpPr>
          <p:nvPr/>
        </p:nvGrpSpPr>
        <p:grpSpPr bwMode="auto">
          <a:xfrm>
            <a:off x="4267200" y="1676400"/>
            <a:ext cx="4038600" cy="3124200"/>
            <a:chOff x="2688" y="1056"/>
            <a:chExt cx="2544" cy="1968"/>
          </a:xfrm>
        </p:grpSpPr>
        <p:sp>
          <p:nvSpPr>
            <p:cNvPr id="117782" name="AutoShape 1046">
              <a:extLst>
                <a:ext uri="{FF2B5EF4-FFF2-40B4-BE49-F238E27FC236}">
                  <a16:creationId xmlns:a16="http://schemas.microsoft.com/office/drawing/2014/main" id="{E813DF0E-D97F-7341-B3B6-F9F7D9C0D100}"/>
                </a:ext>
              </a:extLst>
            </p:cNvPr>
            <p:cNvSpPr>
              <a:spLocks noChangeArrowheads="1"/>
            </p:cNvSpPr>
            <p:nvPr/>
          </p:nvSpPr>
          <p:spPr bwMode="auto">
            <a:xfrm>
              <a:off x="2688" y="2736"/>
              <a:ext cx="816" cy="288"/>
            </a:xfrm>
            <a:prstGeom prst="wedgeRoundRectCallout">
              <a:avLst>
                <a:gd name="adj1" fmla="val -14583"/>
                <a:gd name="adj2" fmla="val -191319"/>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26000" tIns="118800" rIns="126000" bIns="118800"/>
            <a:lstStyle/>
            <a:p>
              <a:r>
                <a:rPr lang="en-US" altLang="en-US" sz="1400">
                  <a:solidFill>
                    <a:srgbClr val="00007A"/>
                  </a:solidFill>
                </a:rPr>
                <a:t>test script</a:t>
              </a:r>
              <a:endParaRPr lang="en-US" altLang="en-US" sz="1400" b="0"/>
            </a:p>
          </p:txBody>
        </p:sp>
        <p:sp>
          <p:nvSpPr>
            <p:cNvPr id="117783" name="Rectangle 1047">
              <a:extLst>
                <a:ext uri="{FF2B5EF4-FFF2-40B4-BE49-F238E27FC236}">
                  <a16:creationId xmlns:a16="http://schemas.microsoft.com/office/drawing/2014/main" id="{B5997825-1DC8-2446-83B7-B857140E023C}"/>
                </a:ext>
              </a:extLst>
            </p:cNvPr>
            <p:cNvSpPr>
              <a:spLocks noChangeArrowheads="1"/>
            </p:cNvSpPr>
            <p:nvPr/>
          </p:nvSpPr>
          <p:spPr bwMode="auto">
            <a:xfrm>
              <a:off x="2688" y="1056"/>
              <a:ext cx="2544" cy="1248"/>
            </a:xfrm>
            <a:prstGeom prst="rect">
              <a:avLst/>
            </a:prstGeom>
            <a:noFill/>
            <a:ln w="34925">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1779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177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6DC806ED-F7D6-AA47-8EF4-C71DD03984ED}"/>
              </a:ext>
            </a:extLst>
          </p:cNvPr>
          <p:cNvSpPr>
            <a:spLocks noGrp="1" noChangeArrowheads="1"/>
          </p:cNvSpPr>
          <p:nvPr>
            <p:ph type="title"/>
          </p:nvPr>
        </p:nvSpPr>
        <p:spPr/>
        <p:txBody>
          <a:bodyPr/>
          <a:lstStyle/>
          <a:p>
            <a:r>
              <a:rPr lang="en-US" altLang="en-US"/>
              <a:t>Example: </a:t>
            </a:r>
            <a:r>
              <a:rPr lang="en-US" altLang="en-US" b="1">
                <a:latin typeface="Courier New" panose="02070309020205020404" pitchFamily="49" charset="0"/>
                <a:cs typeface="Courier New" panose="02070309020205020404" pitchFamily="49" charset="0"/>
              </a:rPr>
              <a:t>Max.asm</a:t>
            </a:r>
          </a:p>
        </p:txBody>
      </p:sp>
      <p:sp>
        <p:nvSpPr>
          <p:cNvPr id="133123" name="Text Box 3">
            <a:extLst>
              <a:ext uri="{FF2B5EF4-FFF2-40B4-BE49-F238E27FC236}">
                <a16:creationId xmlns:a16="http://schemas.microsoft.com/office/drawing/2014/main" id="{1D49623A-6B36-6745-84EB-99AEB94286B1}"/>
              </a:ext>
            </a:extLst>
          </p:cNvPr>
          <p:cNvSpPr txBox="1">
            <a:spLocks noChangeArrowheads="1"/>
          </p:cNvSpPr>
          <p:nvPr/>
        </p:nvSpPr>
        <p:spPr bwMode="auto">
          <a:xfrm>
            <a:off x="228600" y="1676400"/>
            <a:ext cx="5638800" cy="4724400"/>
          </a:xfrm>
          <a:prstGeom prst="rect">
            <a:avLst/>
          </a:prstGeom>
          <a:solidFill>
            <a:srgbClr val="F3F3FF"/>
          </a:solidFill>
          <a:ln w="9525">
            <a:solidFill>
              <a:srgbClr val="293973"/>
            </a:solidFill>
            <a:miter lim="800000"/>
            <a:headEnd/>
            <a:tailEnd/>
          </a:ln>
          <a:effectLst>
            <a:outerShdw dist="89803" dir="2700000" algn="ctr" rotWithShape="0">
              <a:srgbClr val="293973"/>
            </a:outerShdw>
          </a:effectLst>
        </p:spPr>
        <p:txBody>
          <a:bodyPr lIns="201600" tIns="190800" rIns="21600" bIns="190800"/>
          <a:lstStyle>
            <a:lvl1pPr marL="342900" indent="-342900" algn="r" rtl="1">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lnSpc>
                <a:spcPct val="50000"/>
              </a:lnSpc>
              <a:spcBef>
                <a:spcPct val="50000"/>
              </a:spcBef>
              <a:spcAft>
                <a:spcPct val="15000"/>
              </a:spcAft>
            </a:pPr>
            <a:r>
              <a:rPr lang="en-US" altLang="en-US" sz="1300">
                <a:latin typeface="Courier New" panose="02070309020205020404" pitchFamily="49" charset="0"/>
                <a:cs typeface="Courier New" panose="02070309020205020404" pitchFamily="49" charset="0"/>
              </a:rPr>
              <a:t>// Computes M[2]=max(M[0],M[1]) where M stands for RAM</a:t>
            </a:r>
          </a:p>
          <a:p>
            <a:pPr algn="l" rtl="0">
              <a:lnSpc>
                <a:spcPct val="50000"/>
              </a:lnSpc>
              <a:spcBef>
                <a:spcPct val="50000"/>
              </a:spcBef>
              <a:spcAft>
                <a:spcPct val="15000"/>
              </a:spcAft>
            </a:pPr>
            <a:r>
              <a:rPr lang="en-US" altLang="en-US" sz="1300">
                <a:latin typeface="Courier New" panose="02070309020205020404" pitchFamily="49" charset="0"/>
                <a:cs typeface="Courier New" panose="02070309020205020404" pitchFamily="49" charset="0"/>
              </a:rPr>
              <a:t>   @0</a:t>
            </a:r>
          </a:p>
          <a:p>
            <a:pPr algn="l" rtl="0">
              <a:lnSpc>
                <a:spcPct val="50000"/>
              </a:lnSpc>
              <a:spcBef>
                <a:spcPct val="50000"/>
              </a:spcBef>
              <a:spcAft>
                <a:spcPct val="15000"/>
              </a:spcAft>
            </a:pPr>
            <a:r>
              <a:rPr lang="en-US" altLang="en-US" sz="1300">
                <a:latin typeface="Courier New" panose="02070309020205020404" pitchFamily="49" charset="0"/>
                <a:cs typeface="Courier New" panose="02070309020205020404" pitchFamily="49" charset="0"/>
              </a:rPr>
              <a:t>   D=M              // D = M[0]</a:t>
            </a:r>
          </a:p>
          <a:p>
            <a:pPr algn="l" rtl="0">
              <a:lnSpc>
                <a:spcPct val="50000"/>
              </a:lnSpc>
              <a:spcBef>
                <a:spcPct val="50000"/>
              </a:spcBef>
              <a:spcAft>
                <a:spcPct val="15000"/>
              </a:spcAft>
            </a:pPr>
            <a:r>
              <a:rPr lang="en-US" altLang="en-US" sz="1300">
                <a:latin typeface="Courier New" panose="02070309020205020404" pitchFamily="49" charset="0"/>
                <a:cs typeface="Courier New" panose="02070309020205020404" pitchFamily="49" charset="0"/>
              </a:rPr>
              <a:t>   @1</a:t>
            </a:r>
          </a:p>
          <a:p>
            <a:pPr algn="l" rtl="0">
              <a:lnSpc>
                <a:spcPct val="50000"/>
              </a:lnSpc>
              <a:spcBef>
                <a:spcPct val="50000"/>
              </a:spcBef>
              <a:spcAft>
                <a:spcPct val="15000"/>
              </a:spcAft>
            </a:pPr>
            <a:r>
              <a:rPr lang="en-US" altLang="en-US" sz="1300">
                <a:latin typeface="Courier New" panose="02070309020205020404" pitchFamily="49" charset="0"/>
                <a:cs typeface="Courier New" panose="02070309020205020404" pitchFamily="49" charset="0"/>
              </a:rPr>
              <a:t>   D=D-M            // D = D - M[1]</a:t>
            </a:r>
          </a:p>
          <a:p>
            <a:pPr algn="l" rtl="0">
              <a:lnSpc>
                <a:spcPct val="50000"/>
              </a:lnSpc>
              <a:spcBef>
                <a:spcPct val="50000"/>
              </a:spcBef>
              <a:spcAft>
                <a:spcPct val="15000"/>
              </a:spcAft>
            </a:pPr>
            <a:r>
              <a:rPr lang="en-US" altLang="en-US" sz="1300">
                <a:latin typeface="Courier New" panose="02070309020205020404" pitchFamily="49" charset="0"/>
                <a:cs typeface="Courier New" panose="02070309020205020404" pitchFamily="49" charset="0"/>
              </a:rPr>
              <a:t>   @FIRST_IS_GREATER</a:t>
            </a:r>
          </a:p>
          <a:p>
            <a:pPr algn="l" rtl="0">
              <a:lnSpc>
                <a:spcPct val="50000"/>
              </a:lnSpc>
              <a:spcBef>
                <a:spcPct val="50000"/>
              </a:spcBef>
              <a:spcAft>
                <a:spcPct val="15000"/>
              </a:spcAft>
            </a:pPr>
            <a:r>
              <a:rPr lang="en-US" altLang="en-US" sz="1300">
                <a:latin typeface="Courier New" panose="02070309020205020404" pitchFamily="49" charset="0"/>
                <a:cs typeface="Courier New" panose="02070309020205020404" pitchFamily="49" charset="0"/>
              </a:rPr>
              <a:t>   D;JGT            // If D&gt;0 goto FIRST_IS_GREATER</a:t>
            </a:r>
          </a:p>
          <a:p>
            <a:pPr algn="l" rtl="0">
              <a:lnSpc>
                <a:spcPct val="50000"/>
              </a:lnSpc>
              <a:spcBef>
                <a:spcPct val="50000"/>
              </a:spcBef>
              <a:spcAft>
                <a:spcPct val="15000"/>
              </a:spcAft>
            </a:pPr>
            <a:r>
              <a:rPr lang="en-US" altLang="en-US" sz="1300">
                <a:latin typeface="Courier New" panose="02070309020205020404" pitchFamily="49" charset="0"/>
                <a:cs typeface="Courier New" panose="02070309020205020404" pitchFamily="49" charset="0"/>
              </a:rPr>
              <a:t>   @1</a:t>
            </a:r>
          </a:p>
          <a:p>
            <a:pPr algn="l" rtl="0">
              <a:lnSpc>
                <a:spcPct val="50000"/>
              </a:lnSpc>
              <a:spcBef>
                <a:spcPct val="50000"/>
              </a:spcBef>
              <a:spcAft>
                <a:spcPct val="15000"/>
              </a:spcAft>
            </a:pPr>
            <a:r>
              <a:rPr lang="en-US" altLang="en-US" sz="1300">
                <a:latin typeface="Courier New" panose="02070309020205020404" pitchFamily="49" charset="0"/>
                <a:cs typeface="Courier New" panose="02070309020205020404" pitchFamily="49" charset="0"/>
              </a:rPr>
              <a:t>   D=M              // D = M[1]</a:t>
            </a:r>
          </a:p>
          <a:p>
            <a:pPr algn="l" rtl="0">
              <a:lnSpc>
                <a:spcPct val="50000"/>
              </a:lnSpc>
              <a:spcBef>
                <a:spcPct val="50000"/>
              </a:spcBef>
              <a:spcAft>
                <a:spcPct val="15000"/>
              </a:spcAft>
            </a:pPr>
            <a:r>
              <a:rPr lang="en-US" altLang="en-US" sz="1300">
                <a:latin typeface="Courier New" panose="02070309020205020404" pitchFamily="49" charset="0"/>
                <a:cs typeface="Courier New" panose="02070309020205020404" pitchFamily="49" charset="0"/>
              </a:rPr>
              <a:t>   @SECOND_IS_GREATER</a:t>
            </a:r>
          </a:p>
          <a:p>
            <a:pPr algn="l" rtl="0">
              <a:lnSpc>
                <a:spcPct val="50000"/>
              </a:lnSpc>
              <a:spcBef>
                <a:spcPct val="50000"/>
              </a:spcBef>
              <a:spcAft>
                <a:spcPct val="15000"/>
              </a:spcAft>
            </a:pPr>
            <a:r>
              <a:rPr lang="en-US" altLang="en-US" sz="1300">
                <a:latin typeface="Courier New" panose="02070309020205020404" pitchFamily="49" charset="0"/>
                <a:cs typeface="Courier New" panose="02070309020205020404" pitchFamily="49" charset="0"/>
              </a:rPr>
              <a:t>   0;JMP            // Goto SECOND_IS_GREATER</a:t>
            </a:r>
          </a:p>
          <a:p>
            <a:pPr algn="l" rtl="0">
              <a:lnSpc>
                <a:spcPct val="50000"/>
              </a:lnSpc>
              <a:spcBef>
                <a:spcPct val="50000"/>
              </a:spcBef>
              <a:spcAft>
                <a:spcPct val="15000"/>
              </a:spcAft>
            </a:pPr>
            <a:r>
              <a:rPr lang="en-US" altLang="en-US" sz="1300">
                <a:latin typeface="Courier New" panose="02070309020205020404" pitchFamily="49" charset="0"/>
                <a:cs typeface="Courier New" panose="02070309020205020404" pitchFamily="49" charset="0"/>
              </a:rPr>
              <a:t>(FIRST_IS_GREATER)</a:t>
            </a:r>
          </a:p>
          <a:p>
            <a:pPr algn="l" rtl="0">
              <a:lnSpc>
                <a:spcPct val="50000"/>
              </a:lnSpc>
              <a:spcBef>
                <a:spcPct val="50000"/>
              </a:spcBef>
              <a:spcAft>
                <a:spcPct val="15000"/>
              </a:spcAft>
            </a:pPr>
            <a:r>
              <a:rPr lang="en-US" altLang="en-US" sz="1300">
                <a:latin typeface="Courier New" panose="02070309020205020404" pitchFamily="49" charset="0"/>
                <a:cs typeface="Courier New" panose="02070309020205020404" pitchFamily="49" charset="0"/>
              </a:rPr>
              <a:t>   @0             </a:t>
            </a:r>
          </a:p>
          <a:p>
            <a:pPr algn="l" rtl="0">
              <a:lnSpc>
                <a:spcPct val="50000"/>
              </a:lnSpc>
              <a:spcBef>
                <a:spcPct val="50000"/>
              </a:spcBef>
              <a:spcAft>
                <a:spcPct val="15000"/>
              </a:spcAft>
            </a:pPr>
            <a:r>
              <a:rPr lang="en-US" altLang="en-US" sz="1300">
                <a:latin typeface="Courier New" panose="02070309020205020404" pitchFamily="49" charset="0"/>
                <a:cs typeface="Courier New" panose="02070309020205020404" pitchFamily="49" charset="0"/>
              </a:rPr>
              <a:t>   D=M              // D=first number</a:t>
            </a:r>
          </a:p>
          <a:p>
            <a:pPr algn="l" rtl="0">
              <a:lnSpc>
                <a:spcPct val="50000"/>
              </a:lnSpc>
              <a:spcBef>
                <a:spcPct val="50000"/>
              </a:spcBef>
              <a:spcAft>
                <a:spcPct val="15000"/>
              </a:spcAft>
            </a:pPr>
            <a:r>
              <a:rPr lang="en-US" altLang="en-US" sz="1300">
                <a:latin typeface="Courier New" panose="02070309020205020404" pitchFamily="49" charset="0"/>
                <a:cs typeface="Courier New" panose="02070309020205020404" pitchFamily="49" charset="0"/>
              </a:rPr>
              <a:t>(SECOND_IS_GREATER)</a:t>
            </a:r>
          </a:p>
          <a:p>
            <a:pPr algn="l" rtl="0">
              <a:lnSpc>
                <a:spcPct val="50000"/>
              </a:lnSpc>
              <a:spcBef>
                <a:spcPct val="50000"/>
              </a:spcBef>
              <a:spcAft>
                <a:spcPct val="15000"/>
              </a:spcAft>
            </a:pPr>
            <a:r>
              <a:rPr lang="en-US" altLang="en-US" sz="1300">
                <a:latin typeface="Courier New" panose="02070309020205020404" pitchFamily="49" charset="0"/>
                <a:cs typeface="Courier New" panose="02070309020205020404" pitchFamily="49" charset="0"/>
              </a:rPr>
              <a:t>   @2</a:t>
            </a:r>
          </a:p>
          <a:p>
            <a:pPr algn="l" rtl="0">
              <a:lnSpc>
                <a:spcPct val="50000"/>
              </a:lnSpc>
              <a:spcBef>
                <a:spcPct val="50000"/>
              </a:spcBef>
              <a:spcAft>
                <a:spcPct val="15000"/>
              </a:spcAft>
            </a:pPr>
            <a:r>
              <a:rPr lang="en-US" altLang="en-US" sz="1300">
                <a:latin typeface="Courier New" panose="02070309020205020404" pitchFamily="49" charset="0"/>
                <a:cs typeface="Courier New" panose="02070309020205020404" pitchFamily="49" charset="0"/>
              </a:rPr>
              <a:t>   M=D              // M[2]=D (greater number)</a:t>
            </a:r>
          </a:p>
          <a:p>
            <a:pPr algn="l" rtl="0">
              <a:lnSpc>
                <a:spcPct val="50000"/>
              </a:lnSpc>
              <a:spcBef>
                <a:spcPct val="50000"/>
              </a:spcBef>
              <a:spcAft>
                <a:spcPct val="15000"/>
              </a:spcAft>
            </a:pPr>
            <a:r>
              <a:rPr lang="en-US" altLang="en-US" sz="1300">
                <a:latin typeface="Courier New" panose="02070309020205020404" pitchFamily="49" charset="0"/>
                <a:cs typeface="Courier New" panose="02070309020205020404" pitchFamily="49" charset="0"/>
              </a:rPr>
              <a:t>(INFINITE_LOOP)</a:t>
            </a:r>
          </a:p>
          <a:p>
            <a:pPr algn="l" rtl="0">
              <a:lnSpc>
                <a:spcPct val="50000"/>
              </a:lnSpc>
              <a:spcBef>
                <a:spcPct val="50000"/>
              </a:spcBef>
              <a:spcAft>
                <a:spcPct val="15000"/>
              </a:spcAft>
            </a:pPr>
            <a:r>
              <a:rPr lang="en-US" altLang="en-US" sz="1300">
                <a:latin typeface="Courier New" panose="02070309020205020404" pitchFamily="49" charset="0"/>
                <a:cs typeface="Courier New" panose="02070309020205020404" pitchFamily="49" charset="0"/>
              </a:rPr>
              <a:t>   @INFINITE_LOOP   // Infinite loop (our standard</a:t>
            </a:r>
          </a:p>
          <a:p>
            <a:pPr algn="l" rtl="0">
              <a:lnSpc>
                <a:spcPct val="50000"/>
              </a:lnSpc>
              <a:spcBef>
                <a:spcPct val="50000"/>
              </a:spcBef>
              <a:spcAft>
                <a:spcPct val="15000"/>
              </a:spcAft>
            </a:pPr>
            <a:r>
              <a:rPr lang="en-US" altLang="en-US" sz="1300">
                <a:latin typeface="Courier New" panose="02070309020205020404" pitchFamily="49" charset="0"/>
                <a:cs typeface="Courier New" panose="02070309020205020404" pitchFamily="49" charset="0"/>
              </a:rPr>
              <a:t>   0;JMP            // way to terminate programs).</a:t>
            </a:r>
          </a:p>
        </p:txBody>
      </p:sp>
      <p:sp>
        <p:nvSpPr>
          <p:cNvPr id="133124" name="Text Box 4">
            <a:extLst>
              <a:ext uri="{FF2B5EF4-FFF2-40B4-BE49-F238E27FC236}">
                <a16:creationId xmlns:a16="http://schemas.microsoft.com/office/drawing/2014/main" id="{39FBF005-C07C-174E-8965-9D8DF5B897BD}"/>
              </a:ext>
            </a:extLst>
          </p:cNvPr>
          <p:cNvSpPr txBox="1">
            <a:spLocks noChangeArrowheads="1"/>
          </p:cNvSpPr>
          <p:nvPr/>
        </p:nvSpPr>
        <p:spPr bwMode="auto">
          <a:xfrm>
            <a:off x="5867400" y="1066800"/>
            <a:ext cx="3276600" cy="6019800"/>
          </a:xfrm>
          <a:prstGeom prst="rect">
            <a:avLst/>
          </a:prstGeom>
          <a:noFill/>
          <a:ln>
            <a:noFill/>
          </a:ln>
          <a:effectLst/>
          <a:extLst>
            <a:ext uri="{909E8E84-426E-40DD-AFC4-6F175D3DCCD1}">
              <a14:hiddenFill xmlns:a14="http://schemas.microsoft.com/office/drawing/2010/main">
                <a:solidFill>
                  <a:srgbClr val="FFFFC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88925" indent="-187325" algn="r" rtl="1">
              <a:defRPr sz="2400">
                <a:solidFill>
                  <a:schemeClr val="tx1"/>
                </a:solidFill>
                <a:latin typeface="Times New Roman" panose="02020603050405020304" pitchFamily="18" charset="0"/>
                <a:cs typeface="Times New Roman (Hebrew)" panose="02020603050405020304" pitchFamily="18" charset="0"/>
              </a:defRPr>
            </a:lvl1pPr>
            <a:lvl2pPr marL="479425"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75000"/>
              </a:spcBef>
              <a:buClr>
                <a:srgbClr val="006600"/>
              </a:buClr>
              <a:buFont typeface="Wingdings" pitchFamily="2" charset="2"/>
              <a:buNone/>
            </a:pPr>
            <a:r>
              <a:rPr lang="en-US" altLang="en-US" sz="1800" b="0" u="sng">
                <a:solidFill>
                  <a:srgbClr val="00007A"/>
                </a:solidFill>
                <a:latin typeface="Arial" panose="020B0604020202020204" pitchFamily="34" charset="0"/>
                <a:cs typeface="Arial" panose="020B0604020202020204" pitchFamily="34" charset="0"/>
              </a:rPr>
              <a:t>Hack language at a glance:</a:t>
            </a:r>
          </a:p>
          <a:p>
            <a:pPr algn="l" rtl="0">
              <a:spcBef>
                <a:spcPct val="75000"/>
              </a:spcBef>
              <a:buClr>
                <a:srgbClr val="006600"/>
              </a:buClr>
              <a:buFont typeface="Wingdings" pitchFamily="2" charset="2"/>
              <a:buChar char="§"/>
            </a:pPr>
            <a:r>
              <a:rPr lang="en-US" altLang="en-US" sz="1600">
                <a:solidFill>
                  <a:srgbClr val="00007A"/>
                </a:solidFill>
                <a:latin typeface="Courier New" panose="02070309020205020404" pitchFamily="49" charset="0"/>
                <a:cs typeface="Courier New" panose="02070309020205020404" pitchFamily="49" charset="0"/>
              </a:rPr>
              <a:t>(label)</a:t>
            </a:r>
            <a:r>
              <a:rPr lang="en-US" altLang="en-US" sz="1600" b="0">
                <a:latin typeface="Arial" panose="020B0604020202020204" pitchFamily="34" charset="0"/>
                <a:cs typeface="Arial" panose="020B0604020202020204" pitchFamily="34" charset="0"/>
              </a:rPr>
              <a:t> // defines a label</a:t>
            </a:r>
          </a:p>
          <a:p>
            <a:pPr algn="l" rtl="0">
              <a:spcBef>
                <a:spcPct val="75000"/>
              </a:spcBef>
              <a:buClr>
                <a:srgbClr val="006600"/>
              </a:buClr>
              <a:buFont typeface="Wingdings" pitchFamily="2" charset="2"/>
              <a:buChar char="§"/>
            </a:pPr>
            <a:r>
              <a:rPr lang="en-US" altLang="en-US" sz="1600">
                <a:solidFill>
                  <a:srgbClr val="00007A"/>
                </a:solidFill>
                <a:latin typeface="Courier New" panose="02070309020205020404" pitchFamily="49" charset="0"/>
                <a:cs typeface="Courier New" panose="02070309020205020404" pitchFamily="49" charset="0"/>
              </a:rPr>
              <a:t>@xxx</a:t>
            </a:r>
            <a:r>
              <a:rPr lang="en-US" altLang="en-US" sz="1600" b="0">
                <a:latin typeface="Arial" panose="020B0604020202020204" pitchFamily="34" charset="0"/>
                <a:cs typeface="Arial" panose="020B0604020202020204" pitchFamily="34" charset="0"/>
              </a:rPr>
              <a:t>       // sets the </a:t>
            </a:r>
            <a:r>
              <a:rPr lang="en-US" altLang="en-US" sz="1600">
                <a:latin typeface="Courier New" panose="02070309020205020404" pitchFamily="49" charset="0"/>
                <a:cs typeface="Courier New" panose="02070309020205020404" pitchFamily="49" charset="0"/>
              </a:rPr>
              <a:t>A</a:t>
            </a:r>
            <a:r>
              <a:rPr lang="en-US" altLang="en-US" sz="1600" b="0">
                <a:latin typeface="Arial" panose="020B0604020202020204" pitchFamily="34" charset="0"/>
                <a:cs typeface="Arial" panose="020B0604020202020204" pitchFamily="34" charset="0"/>
              </a:rPr>
              <a:t> register </a:t>
            </a:r>
            <a:br>
              <a:rPr lang="en-US" altLang="en-US" sz="1600" b="0">
                <a:latin typeface="Arial" panose="020B0604020202020204" pitchFamily="34" charset="0"/>
                <a:cs typeface="Arial" panose="020B0604020202020204" pitchFamily="34" charset="0"/>
              </a:rPr>
            </a:br>
            <a:r>
              <a:rPr lang="en-US" altLang="en-US" sz="1600" b="0">
                <a:latin typeface="Arial" panose="020B0604020202020204" pitchFamily="34" charset="0"/>
                <a:cs typeface="Arial" panose="020B0604020202020204" pitchFamily="34" charset="0"/>
              </a:rPr>
              <a:t>                // to xxx’s value</a:t>
            </a:r>
          </a:p>
          <a:p>
            <a:pPr algn="l" rtl="0">
              <a:spcBef>
                <a:spcPct val="75000"/>
              </a:spcBef>
              <a:buClr>
                <a:srgbClr val="006600"/>
              </a:buClr>
              <a:buFont typeface="Wingdings" pitchFamily="2" charset="2"/>
              <a:buChar char="§"/>
            </a:pPr>
            <a:r>
              <a:rPr lang="en-US" altLang="en-US" sz="1600" b="0">
                <a:latin typeface="Arial" panose="020B0604020202020204" pitchFamily="34" charset="0"/>
                <a:cs typeface="Arial" panose="020B0604020202020204" pitchFamily="34" charset="0"/>
              </a:rPr>
              <a:t>The other commands are self-explanatory; Jump directives like </a:t>
            </a:r>
            <a:r>
              <a:rPr lang="en-US" altLang="en-US" sz="1600">
                <a:latin typeface="Courier New" panose="02070309020205020404" pitchFamily="49" charset="0"/>
                <a:cs typeface="Courier New" panose="02070309020205020404" pitchFamily="49" charset="0"/>
              </a:rPr>
              <a:t>JGT</a:t>
            </a:r>
            <a:r>
              <a:rPr lang="en-US" altLang="en-US" sz="1600" b="0">
                <a:latin typeface="Arial" panose="020B0604020202020204" pitchFamily="34" charset="0"/>
                <a:cs typeface="Arial" panose="020B0604020202020204" pitchFamily="34" charset="0"/>
              </a:rPr>
              <a:t> and </a:t>
            </a:r>
            <a:r>
              <a:rPr lang="en-US" altLang="en-US" sz="1600">
                <a:latin typeface="Courier New" panose="02070309020205020404" pitchFamily="49" charset="0"/>
                <a:cs typeface="Courier New" panose="02070309020205020404" pitchFamily="49" charset="0"/>
              </a:rPr>
              <a:t>JMP</a:t>
            </a:r>
            <a:r>
              <a:rPr lang="en-US" altLang="en-US" sz="1600" b="0">
                <a:latin typeface="Arial" panose="020B0604020202020204" pitchFamily="34" charset="0"/>
                <a:cs typeface="Arial" panose="020B0604020202020204" pitchFamily="34" charset="0"/>
              </a:rPr>
              <a:t> mean “Jump to the address currently stored in the </a:t>
            </a:r>
            <a:r>
              <a:rPr lang="en-US" altLang="en-US" sz="1600">
                <a:latin typeface="Courier New" panose="02070309020205020404" pitchFamily="49" charset="0"/>
                <a:cs typeface="Courier New" panose="02070309020205020404" pitchFamily="49" charset="0"/>
              </a:rPr>
              <a:t>A</a:t>
            </a:r>
            <a:r>
              <a:rPr lang="en-US" altLang="en-US" sz="1600" b="0">
                <a:latin typeface="Arial" panose="020B0604020202020204" pitchFamily="34" charset="0"/>
                <a:cs typeface="Arial" panose="020B0604020202020204" pitchFamily="34" charset="0"/>
              </a:rPr>
              <a:t> register” </a:t>
            </a:r>
          </a:p>
          <a:p>
            <a:pPr algn="l" rtl="0">
              <a:spcBef>
                <a:spcPct val="75000"/>
              </a:spcBef>
              <a:buClr>
                <a:srgbClr val="006600"/>
              </a:buClr>
              <a:buFont typeface="Wingdings" pitchFamily="2" charset="2"/>
              <a:buChar char="§"/>
            </a:pPr>
            <a:r>
              <a:rPr lang="en-US" altLang="en-US" sz="1600" b="0">
                <a:latin typeface="Arial" panose="020B0604020202020204" pitchFamily="34" charset="0"/>
                <a:cs typeface="Arial" panose="020B0604020202020204" pitchFamily="34" charset="0"/>
              </a:rPr>
              <a:t>Before any command involving a RAM location (</a:t>
            </a:r>
            <a:r>
              <a:rPr lang="en-US" altLang="en-US" sz="1600">
                <a:latin typeface="Courier New" panose="02070309020205020404" pitchFamily="49" charset="0"/>
                <a:cs typeface="Courier New" panose="02070309020205020404" pitchFamily="49" charset="0"/>
              </a:rPr>
              <a:t>M</a:t>
            </a:r>
            <a:r>
              <a:rPr lang="en-US" altLang="en-US" sz="1600" b="0">
                <a:latin typeface="Arial" panose="020B0604020202020204" pitchFamily="34" charset="0"/>
                <a:cs typeface="Arial" panose="020B0604020202020204" pitchFamily="34" charset="0"/>
              </a:rPr>
              <a:t>), the </a:t>
            </a:r>
            <a:r>
              <a:rPr lang="en-US" altLang="en-US" sz="1600">
                <a:latin typeface="Courier New" panose="02070309020205020404" pitchFamily="49" charset="0"/>
                <a:cs typeface="Courier New" panose="02070309020205020404" pitchFamily="49" charset="0"/>
              </a:rPr>
              <a:t>A</a:t>
            </a:r>
            <a:r>
              <a:rPr lang="en-US" altLang="en-US" sz="1600" b="0">
                <a:latin typeface="Arial" panose="020B0604020202020204" pitchFamily="34" charset="0"/>
                <a:cs typeface="Arial" panose="020B0604020202020204" pitchFamily="34" charset="0"/>
              </a:rPr>
              <a:t> register must be set to the desired RAM address (</a:t>
            </a:r>
            <a:r>
              <a:rPr lang="en-US" altLang="en-US" sz="1600">
                <a:latin typeface="Courier New" panose="02070309020205020404" pitchFamily="49" charset="0"/>
                <a:cs typeface="Courier New" panose="02070309020205020404" pitchFamily="49" charset="0"/>
              </a:rPr>
              <a:t>@address</a:t>
            </a:r>
            <a:r>
              <a:rPr lang="en-US" altLang="en-US" sz="1600" b="0">
                <a:latin typeface="Arial" panose="020B0604020202020204" pitchFamily="34" charset="0"/>
                <a:cs typeface="Arial" panose="020B0604020202020204" pitchFamily="34" charset="0"/>
              </a:rPr>
              <a:t>)</a:t>
            </a:r>
          </a:p>
          <a:p>
            <a:pPr algn="l" rtl="0">
              <a:spcBef>
                <a:spcPct val="75000"/>
              </a:spcBef>
              <a:buClr>
                <a:srgbClr val="006600"/>
              </a:buClr>
              <a:buFont typeface="Wingdings" pitchFamily="2" charset="2"/>
              <a:buChar char="§"/>
            </a:pPr>
            <a:r>
              <a:rPr lang="en-US" altLang="en-US" sz="1600" b="0">
                <a:latin typeface="Arial" panose="020B0604020202020204" pitchFamily="34" charset="0"/>
                <a:cs typeface="Arial" panose="020B0604020202020204" pitchFamily="34" charset="0"/>
              </a:rPr>
              <a:t>Before any command involving a jump, the </a:t>
            </a:r>
            <a:r>
              <a:rPr lang="en-US" altLang="en-US" sz="1600">
                <a:latin typeface="Courier New" panose="02070309020205020404" pitchFamily="49" charset="0"/>
                <a:cs typeface="Courier New" panose="02070309020205020404" pitchFamily="49" charset="0"/>
              </a:rPr>
              <a:t>A</a:t>
            </a:r>
            <a:r>
              <a:rPr lang="en-US" altLang="en-US" sz="1600" b="0">
                <a:latin typeface="Arial" panose="020B0604020202020204" pitchFamily="34" charset="0"/>
                <a:cs typeface="Arial" panose="020B0604020202020204" pitchFamily="34" charset="0"/>
              </a:rPr>
              <a:t> register must be set to the desired ROM address (</a:t>
            </a:r>
            <a:r>
              <a:rPr lang="en-US" altLang="en-US" sz="1600">
                <a:latin typeface="Courier New" panose="02070309020205020404" pitchFamily="49" charset="0"/>
                <a:cs typeface="Courier New" panose="02070309020205020404" pitchFamily="49" charset="0"/>
              </a:rPr>
              <a:t>@label</a:t>
            </a:r>
            <a:r>
              <a:rPr lang="en-US" altLang="en-US" sz="1600" b="0">
                <a:latin typeface="Arial" panose="020B0604020202020204" pitchFamily="34" charset="0"/>
                <a:cs typeface="Arial" panose="020B0604020202020204" pitchFamily="34" charset="0"/>
              </a:rPr>
              <a:t>).</a:t>
            </a:r>
          </a:p>
        </p:txBody>
      </p:sp>
      <p:sp>
        <p:nvSpPr>
          <p:cNvPr id="133125" name="AutoShape 5">
            <a:extLst>
              <a:ext uri="{FF2B5EF4-FFF2-40B4-BE49-F238E27FC236}">
                <a16:creationId xmlns:a16="http://schemas.microsoft.com/office/drawing/2014/main" id="{D25E7774-B996-F14E-AE6F-2D14EA5F3862}"/>
              </a:ext>
            </a:extLst>
          </p:cNvPr>
          <p:cNvSpPr>
            <a:spLocks noChangeArrowheads="1"/>
          </p:cNvSpPr>
          <p:nvPr/>
        </p:nvSpPr>
        <p:spPr bwMode="auto">
          <a:xfrm>
            <a:off x="228600" y="609600"/>
            <a:ext cx="5562600" cy="990600"/>
          </a:xfrm>
          <a:prstGeom prst="wedgeRoundRectCallout">
            <a:avLst>
              <a:gd name="adj1" fmla="val -35046"/>
              <a:gd name="adj2" fmla="val 4968"/>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46800" rIns="0"/>
          <a:lstStyle/>
          <a:p>
            <a:pPr>
              <a:spcBef>
                <a:spcPct val="50000"/>
              </a:spcBef>
            </a:pPr>
            <a:r>
              <a:rPr lang="en-US" altLang="en-US" sz="1400">
                <a:solidFill>
                  <a:srgbClr val="00007A"/>
                </a:solidFill>
              </a:rPr>
              <a:t>Note:  </a:t>
            </a:r>
            <a:r>
              <a:rPr lang="en-US" altLang="en-US" sz="1400" b="0"/>
              <a:t>For now, it is not necessary to understand either the Hack machine language or the Max program. It is only important to grasp the program’s logic.  But if you’re interested, we give a language overview on the right.</a:t>
            </a:r>
          </a:p>
        </p:txBody>
      </p:sp>
      <p:grpSp>
        <p:nvGrpSpPr>
          <p:cNvPr id="133131" name="Group 11">
            <a:extLst>
              <a:ext uri="{FF2B5EF4-FFF2-40B4-BE49-F238E27FC236}">
                <a16:creationId xmlns:a16="http://schemas.microsoft.com/office/drawing/2014/main" id="{AACA11B8-2FBE-9945-B2E8-AC2C93569FC9}"/>
              </a:ext>
            </a:extLst>
          </p:cNvPr>
          <p:cNvGrpSpPr>
            <a:grpSpLocks/>
          </p:cNvGrpSpPr>
          <p:nvPr/>
        </p:nvGrpSpPr>
        <p:grpSpPr bwMode="auto">
          <a:xfrm>
            <a:off x="7467600" y="76200"/>
            <a:ext cx="1295400" cy="922338"/>
            <a:chOff x="4704" y="48"/>
            <a:chExt cx="816" cy="581"/>
          </a:xfrm>
        </p:grpSpPr>
        <p:pic>
          <p:nvPicPr>
            <p:cNvPr id="133128" name="Picture 8">
              <a:extLst>
                <a:ext uri="{FF2B5EF4-FFF2-40B4-BE49-F238E27FC236}">
                  <a16:creationId xmlns:a16="http://schemas.microsoft.com/office/drawing/2014/main" id="{C18638B0-24D1-A44C-BC06-B8888EE168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04" y="48"/>
              <a:ext cx="816" cy="581"/>
            </a:xfrm>
            <a:prstGeom prst="rect">
              <a:avLst/>
            </a:prstGeom>
            <a:noFill/>
            <a:ln>
              <a:noFill/>
            </a:ln>
            <a:effectLst/>
            <a:extLst>
              <a:ext uri="{909E8E84-426E-40DD-AFC4-6F175D3DCCD1}">
                <a14:hiddenFill xmlns:a14="http://schemas.microsoft.com/office/drawing/2010/main">
                  <a:solidFill>
                    <a:srgbClr val="FFFFC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129" name="Rectangle 9">
              <a:extLst>
                <a:ext uri="{FF2B5EF4-FFF2-40B4-BE49-F238E27FC236}">
                  <a16:creationId xmlns:a16="http://schemas.microsoft.com/office/drawing/2014/main" id="{AE6ADEE4-A587-4847-BFCC-FB9A13287B1C}"/>
                </a:ext>
              </a:extLst>
            </p:cNvPr>
            <p:cNvSpPr>
              <a:spLocks noChangeArrowheads="1"/>
            </p:cNvSpPr>
            <p:nvPr/>
          </p:nvSpPr>
          <p:spPr bwMode="auto">
            <a:xfrm>
              <a:off x="4704" y="152"/>
              <a:ext cx="144" cy="376"/>
            </a:xfrm>
            <a:prstGeom prst="rect">
              <a:avLst/>
            </a:prstGeom>
            <a:noFill/>
            <a:ln w="34925">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33132" name="AutoShape 12">
            <a:extLst>
              <a:ext uri="{FF2B5EF4-FFF2-40B4-BE49-F238E27FC236}">
                <a16:creationId xmlns:a16="http://schemas.microsoft.com/office/drawing/2014/main" id="{54DCB3F9-47DF-1D4E-A9EE-F990073C9EF0}"/>
              </a:ext>
            </a:extLst>
          </p:cNvPr>
          <p:cNvSpPr>
            <a:spLocks noChangeArrowheads="1"/>
          </p:cNvSpPr>
          <p:nvPr/>
        </p:nvSpPr>
        <p:spPr bwMode="auto">
          <a:xfrm>
            <a:off x="6934200" y="381000"/>
            <a:ext cx="533400" cy="381000"/>
          </a:xfrm>
          <a:prstGeom prst="rightArrow">
            <a:avLst>
              <a:gd name="adj1" fmla="val 50000"/>
              <a:gd name="adj2" fmla="val 35000"/>
            </a:avLst>
          </a:prstGeom>
          <a:solidFill>
            <a:srgbClr val="FF5F3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9DA686DE-D28C-454C-8F54-D6811108B980}"/>
              </a:ext>
            </a:extLst>
          </p:cNvPr>
          <p:cNvSpPr>
            <a:spLocks noGrp="1" noChangeArrowheads="1"/>
          </p:cNvSpPr>
          <p:nvPr>
            <p:ph type="title"/>
          </p:nvPr>
        </p:nvSpPr>
        <p:spPr/>
        <p:txBody>
          <a:bodyPr/>
          <a:lstStyle/>
          <a:p>
            <a:r>
              <a:rPr lang="en-US" altLang="en-US"/>
              <a:t>Sample test script: </a:t>
            </a:r>
            <a:r>
              <a:rPr lang="en-US" altLang="en-US" b="1">
                <a:latin typeface="Courier New" panose="02070309020205020404" pitchFamily="49" charset="0"/>
                <a:cs typeface="Courier New" panose="02070309020205020404" pitchFamily="49" charset="0"/>
              </a:rPr>
              <a:t>Max.tst</a:t>
            </a:r>
          </a:p>
        </p:txBody>
      </p:sp>
      <p:sp>
        <p:nvSpPr>
          <p:cNvPr id="73732" name="Text Box 4">
            <a:extLst>
              <a:ext uri="{FF2B5EF4-FFF2-40B4-BE49-F238E27FC236}">
                <a16:creationId xmlns:a16="http://schemas.microsoft.com/office/drawing/2014/main" id="{E14FCDC0-4CB3-9E4D-8FD2-0AE91ACC2DF9}"/>
              </a:ext>
            </a:extLst>
          </p:cNvPr>
          <p:cNvSpPr txBox="1">
            <a:spLocks noChangeArrowheads="1"/>
          </p:cNvSpPr>
          <p:nvPr/>
        </p:nvSpPr>
        <p:spPr bwMode="auto">
          <a:xfrm>
            <a:off x="5257800" y="5441950"/>
            <a:ext cx="3657600" cy="838200"/>
          </a:xfrm>
          <a:prstGeom prst="rect">
            <a:avLst/>
          </a:prstGeom>
          <a:solidFill>
            <a:srgbClr val="F3F3FF"/>
          </a:solidFill>
          <a:ln w="9525">
            <a:solidFill>
              <a:srgbClr val="293973"/>
            </a:solidFill>
            <a:miter lim="800000"/>
            <a:headEnd/>
            <a:tailEnd/>
          </a:ln>
          <a:effectLst>
            <a:outerShdw dist="89803" dir="2700000" algn="ctr" rotWithShape="0">
              <a:srgbClr val="293973"/>
            </a:outerShdw>
          </a:effectLst>
        </p:spPr>
        <p:txBody>
          <a:bodyPr lIns="201600" tIns="190800" rIns="93600" bIns="190800"/>
          <a:lstStyle>
            <a:lvl1pPr marL="342900" indent="-342900" algn="r" rtl="1">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lnSpc>
                <a:spcPct val="50000"/>
              </a:lnSpc>
              <a:spcBef>
                <a:spcPct val="50000"/>
              </a:spcBef>
            </a:pPr>
            <a:r>
              <a:rPr lang="en-US" altLang="en-US" sz="1300">
                <a:latin typeface="Courier New" panose="02070309020205020404" pitchFamily="49" charset="0"/>
                <a:cs typeface="Courier New" panose="02070309020205020404" pitchFamily="49" charset="0"/>
              </a:rPr>
              <a:t>|  RAM[0]  |  RAM[1]  |  RAM[2]  |</a:t>
            </a:r>
          </a:p>
          <a:p>
            <a:pPr algn="l" rtl="0">
              <a:lnSpc>
                <a:spcPct val="50000"/>
              </a:lnSpc>
              <a:spcBef>
                <a:spcPct val="50000"/>
              </a:spcBef>
            </a:pPr>
            <a:r>
              <a:rPr lang="en-US" altLang="en-US" sz="1300">
                <a:latin typeface="Courier New" panose="02070309020205020404" pitchFamily="49" charset="0"/>
                <a:cs typeface="Courier New" panose="02070309020205020404" pitchFamily="49" charset="0"/>
              </a:rPr>
              <a:t>|      15  |      32  |      32  |</a:t>
            </a:r>
          </a:p>
          <a:p>
            <a:pPr algn="l" rtl="0">
              <a:lnSpc>
                <a:spcPct val="50000"/>
              </a:lnSpc>
              <a:spcBef>
                <a:spcPct val="50000"/>
              </a:spcBef>
            </a:pPr>
            <a:r>
              <a:rPr lang="en-US" altLang="en-US" sz="1300">
                <a:latin typeface="Courier New" panose="02070309020205020404" pitchFamily="49" charset="0"/>
                <a:cs typeface="Courier New" panose="02070309020205020404" pitchFamily="49" charset="0"/>
              </a:rPr>
              <a:t>|      47  |      22  |      47</a:t>
            </a:r>
            <a:r>
              <a:rPr lang="en-US" altLang="en-US" sz="1400"/>
              <a:t>    </a:t>
            </a:r>
            <a:r>
              <a:rPr lang="en-US" altLang="en-US" sz="1300">
                <a:latin typeface="Courier New" panose="02070309020205020404" pitchFamily="49" charset="0"/>
                <a:cs typeface="Courier New" panose="02070309020205020404" pitchFamily="49" charset="0"/>
              </a:rPr>
              <a:t>|</a:t>
            </a:r>
          </a:p>
          <a:p>
            <a:pPr algn="l" rtl="0">
              <a:lnSpc>
                <a:spcPct val="50000"/>
              </a:lnSpc>
              <a:spcBef>
                <a:spcPct val="50000"/>
              </a:spcBef>
            </a:pPr>
            <a:endParaRPr lang="en-US" altLang="en-US" sz="1300">
              <a:latin typeface="Courier New" panose="02070309020205020404" pitchFamily="49" charset="0"/>
              <a:cs typeface="Courier New" panose="02070309020205020404" pitchFamily="49" charset="0"/>
            </a:endParaRPr>
          </a:p>
        </p:txBody>
      </p:sp>
      <p:sp>
        <p:nvSpPr>
          <p:cNvPr id="73733" name="Rectangle 5">
            <a:extLst>
              <a:ext uri="{FF2B5EF4-FFF2-40B4-BE49-F238E27FC236}">
                <a16:creationId xmlns:a16="http://schemas.microsoft.com/office/drawing/2014/main" id="{84A27F79-73D9-E242-B249-7F370F76EB61}"/>
              </a:ext>
            </a:extLst>
          </p:cNvPr>
          <p:cNvSpPr>
            <a:spLocks noChangeArrowheads="1"/>
          </p:cNvSpPr>
          <p:nvPr/>
        </p:nvSpPr>
        <p:spPr bwMode="auto">
          <a:xfrm>
            <a:off x="4495800" y="685800"/>
            <a:ext cx="46482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342900" indent="-342900" algn="r" rtl="1">
              <a:tabLst>
                <a:tab pos="0" algn="l"/>
              </a:tabLst>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tabLst>
                <a:tab pos="0" algn="l"/>
              </a:tabLst>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buClr>
                <a:srgbClr val="006600"/>
              </a:buClr>
              <a:buSzPct val="110000"/>
              <a:buFont typeface="Wingdings" pitchFamily="2" charset="2"/>
              <a:buNone/>
            </a:pPr>
            <a:r>
              <a:rPr lang="en-US" altLang="en-US" sz="1600" b="0" u="sng">
                <a:latin typeface="Arial" panose="020B0604020202020204" pitchFamily="34" charset="0"/>
              </a:rPr>
              <a:t>The scripting language</a:t>
            </a:r>
          </a:p>
          <a:p>
            <a:pPr algn="l" rtl="0">
              <a:spcBef>
                <a:spcPct val="20000"/>
              </a:spcBef>
              <a:buClr>
                <a:srgbClr val="006600"/>
              </a:buClr>
              <a:buSzPct val="110000"/>
              <a:buFont typeface="Wingdings" pitchFamily="2" charset="2"/>
              <a:buNone/>
            </a:pPr>
            <a:r>
              <a:rPr lang="en-US" altLang="en-US" sz="1600" b="0" u="sng">
                <a:latin typeface="Arial" panose="020B0604020202020204" pitchFamily="34" charset="0"/>
              </a:rPr>
              <a:t>has commands for:</a:t>
            </a:r>
          </a:p>
          <a:p>
            <a:pPr algn="l" rtl="0">
              <a:spcBef>
                <a:spcPct val="30000"/>
              </a:spcBef>
              <a:buClr>
                <a:srgbClr val="006600"/>
              </a:buClr>
              <a:buSzPct val="110000"/>
              <a:buFont typeface="Wingdings" pitchFamily="2" charset="2"/>
              <a:buChar char="§"/>
            </a:pPr>
            <a:r>
              <a:rPr lang="en-US" altLang="en-US" sz="1600" b="0">
                <a:latin typeface="Arial" panose="020B0604020202020204" pitchFamily="34" charset="0"/>
              </a:rPr>
              <a:t>Loading programs</a:t>
            </a:r>
          </a:p>
          <a:p>
            <a:pPr algn="l" rtl="0">
              <a:spcBef>
                <a:spcPct val="30000"/>
              </a:spcBef>
              <a:buClr>
                <a:srgbClr val="006600"/>
              </a:buClr>
              <a:buSzPct val="110000"/>
              <a:buFont typeface="Wingdings" pitchFamily="2" charset="2"/>
              <a:buChar char="§"/>
            </a:pPr>
            <a:r>
              <a:rPr lang="en-US" altLang="en-US" sz="1600" b="0">
                <a:latin typeface="Arial" panose="020B0604020202020204" pitchFamily="34" charset="0"/>
              </a:rPr>
              <a:t>Setting up output and compare files</a:t>
            </a:r>
          </a:p>
          <a:p>
            <a:pPr algn="l" rtl="0">
              <a:spcBef>
                <a:spcPct val="30000"/>
              </a:spcBef>
              <a:buClr>
                <a:srgbClr val="006600"/>
              </a:buClr>
              <a:buSzPct val="110000"/>
              <a:buFont typeface="Wingdings" pitchFamily="2" charset="2"/>
              <a:buChar char="§"/>
            </a:pPr>
            <a:r>
              <a:rPr lang="en-US" altLang="en-US" sz="1600" b="0">
                <a:latin typeface="Arial" panose="020B0604020202020204" pitchFamily="34" charset="0"/>
              </a:rPr>
              <a:t>Writing values into RAM locations</a:t>
            </a:r>
          </a:p>
          <a:p>
            <a:pPr algn="l" rtl="0">
              <a:spcBef>
                <a:spcPct val="30000"/>
              </a:spcBef>
              <a:buClr>
                <a:srgbClr val="006600"/>
              </a:buClr>
              <a:buSzPct val="110000"/>
              <a:buFont typeface="Wingdings" pitchFamily="2" charset="2"/>
              <a:buChar char="§"/>
            </a:pPr>
            <a:r>
              <a:rPr lang="en-US" altLang="en-US" sz="1600" b="0">
                <a:latin typeface="Arial" panose="020B0604020202020204" pitchFamily="34" charset="0"/>
              </a:rPr>
              <a:t>Writing values into registers</a:t>
            </a:r>
          </a:p>
          <a:p>
            <a:pPr algn="l" rtl="0">
              <a:spcBef>
                <a:spcPct val="30000"/>
              </a:spcBef>
              <a:buClr>
                <a:srgbClr val="006600"/>
              </a:buClr>
              <a:buSzPct val="110000"/>
              <a:buFont typeface="Wingdings" pitchFamily="2" charset="2"/>
              <a:buChar char="§"/>
            </a:pPr>
            <a:r>
              <a:rPr lang="en-US" altLang="en-US" sz="1600" b="0">
                <a:latin typeface="Arial" panose="020B0604020202020204" pitchFamily="34" charset="0"/>
              </a:rPr>
              <a:t>Executing the next command (“</a:t>
            </a:r>
            <a:r>
              <a:rPr lang="en-US" altLang="en-US" sz="1300">
                <a:latin typeface="Courier New" panose="02070309020205020404" pitchFamily="49" charset="0"/>
                <a:cs typeface="Courier New" panose="02070309020205020404" pitchFamily="49" charset="0"/>
              </a:rPr>
              <a:t>ticktack</a:t>
            </a:r>
            <a:r>
              <a:rPr lang="en-US" altLang="en-US" sz="1600" b="0">
                <a:latin typeface="Arial" panose="020B0604020202020204" pitchFamily="34" charset="0"/>
              </a:rPr>
              <a:t>”)</a:t>
            </a:r>
          </a:p>
          <a:p>
            <a:pPr algn="l" rtl="0">
              <a:spcBef>
                <a:spcPct val="30000"/>
              </a:spcBef>
              <a:buClr>
                <a:srgbClr val="006600"/>
              </a:buClr>
              <a:buSzPct val="110000"/>
              <a:buFont typeface="Wingdings" pitchFamily="2" charset="2"/>
              <a:buChar char="§"/>
            </a:pPr>
            <a:r>
              <a:rPr lang="en-US" altLang="en-US" sz="1600" b="0">
                <a:latin typeface="Arial" panose="020B0604020202020204" pitchFamily="34" charset="0"/>
              </a:rPr>
              <a:t>Looping (“</a:t>
            </a:r>
            <a:r>
              <a:rPr lang="en-US" altLang="en-US" sz="1300">
                <a:latin typeface="Courier New" panose="02070309020205020404" pitchFamily="49" charset="0"/>
                <a:cs typeface="Courier New" panose="02070309020205020404" pitchFamily="49" charset="0"/>
              </a:rPr>
              <a:t>repeat</a:t>
            </a:r>
            <a:r>
              <a:rPr lang="en-US" altLang="en-US" sz="1600" b="0">
                <a:latin typeface="Arial" panose="020B0604020202020204" pitchFamily="34" charset="0"/>
              </a:rPr>
              <a:t>”)</a:t>
            </a:r>
          </a:p>
          <a:p>
            <a:pPr algn="l" rtl="0">
              <a:spcBef>
                <a:spcPct val="30000"/>
              </a:spcBef>
              <a:buClr>
                <a:srgbClr val="006600"/>
              </a:buClr>
              <a:buSzPct val="110000"/>
              <a:buFont typeface="Wingdings" pitchFamily="2" charset="2"/>
              <a:buChar char="§"/>
            </a:pPr>
            <a:r>
              <a:rPr lang="en-US" altLang="en-US" sz="1600" b="0">
                <a:latin typeface="Arial" panose="020B0604020202020204" pitchFamily="34" charset="0"/>
              </a:rPr>
              <a:t>And more (see Appendix B).</a:t>
            </a:r>
          </a:p>
          <a:p>
            <a:pPr algn="l" rtl="0">
              <a:spcBef>
                <a:spcPct val="40000"/>
              </a:spcBef>
              <a:buClr>
                <a:srgbClr val="006600"/>
              </a:buClr>
              <a:buSzPct val="110000"/>
              <a:buFont typeface="Wingdings" pitchFamily="2" charset="2"/>
              <a:buNone/>
            </a:pPr>
            <a:r>
              <a:rPr lang="en-US" altLang="en-US" sz="1600" b="0" u="sng">
                <a:latin typeface="Arial" panose="020B0604020202020204" pitchFamily="34" charset="0"/>
              </a:rPr>
              <a:t>Notes:</a:t>
            </a:r>
            <a:r>
              <a:rPr lang="en-US" altLang="en-US" sz="1600" b="0">
                <a:latin typeface="Arial" panose="020B0604020202020204" pitchFamily="34" charset="0"/>
              </a:rPr>
              <a:t> </a:t>
            </a:r>
          </a:p>
          <a:p>
            <a:pPr algn="l" rtl="0">
              <a:spcBef>
                <a:spcPct val="40000"/>
              </a:spcBef>
              <a:buClr>
                <a:srgbClr val="006600"/>
              </a:buClr>
              <a:buSzPct val="110000"/>
              <a:buFont typeface="Wingdings" pitchFamily="2" charset="2"/>
              <a:buChar char="§"/>
            </a:pPr>
            <a:r>
              <a:rPr lang="en-US" altLang="en-US" sz="1600" b="0">
                <a:latin typeface="Arial" panose="020B0604020202020204" pitchFamily="34" charset="0"/>
              </a:rPr>
              <a:t>As it turns out, the Max program requires 14 cycles to complete its execution</a:t>
            </a:r>
          </a:p>
          <a:p>
            <a:pPr algn="l" rtl="0">
              <a:spcBef>
                <a:spcPct val="40000"/>
              </a:spcBef>
              <a:buClr>
                <a:srgbClr val="006600"/>
              </a:buClr>
              <a:buSzPct val="110000"/>
              <a:buFont typeface="Wingdings" pitchFamily="2" charset="2"/>
              <a:buChar char="§"/>
            </a:pPr>
            <a:r>
              <a:rPr lang="en-US" altLang="en-US" sz="1600" b="0">
                <a:latin typeface="Arial" panose="020B0604020202020204" pitchFamily="34" charset="0"/>
              </a:rPr>
              <a:t>All relevant files </a:t>
            </a:r>
            <a:r>
              <a:rPr lang="en-US" altLang="en-US" sz="1300">
                <a:latin typeface="Courier New" panose="02070309020205020404" pitchFamily="49" charset="0"/>
                <a:cs typeface="Courier New" panose="02070309020205020404" pitchFamily="49" charset="0"/>
              </a:rPr>
              <a:t>(.asm,.tst,.cmp)</a:t>
            </a:r>
            <a:r>
              <a:rPr lang="en-US" altLang="en-US" sz="1600" b="0">
                <a:latin typeface="Arial" panose="020B0604020202020204" pitchFamily="34" charset="0"/>
              </a:rPr>
              <a:t> must </a:t>
            </a:r>
            <a:br>
              <a:rPr lang="en-US" altLang="en-US" sz="1600" b="0">
                <a:latin typeface="Arial" panose="020B0604020202020204" pitchFamily="34" charset="0"/>
              </a:rPr>
            </a:br>
            <a:r>
              <a:rPr lang="en-US" altLang="en-US" sz="1600" b="0">
                <a:latin typeface="Arial" panose="020B0604020202020204" pitchFamily="34" charset="0"/>
              </a:rPr>
              <a:t>be present in the same directory.</a:t>
            </a:r>
          </a:p>
        </p:txBody>
      </p:sp>
      <p:sp>
        <p:nvSpPr>
          <p:cNvPr id="73735" name="AutoShape 7">
            <a:extLst>
              <a:ext uri="{FF2B5EF4-FFF2-40B4-BE49-F238E27FC236}">
                <a16:creationId xmlns:a16="http://schemas.microsoft.com/office/drawing/2014/main" id="{A9336921-8B91-3C40-95C0-A467C26840C3}"/>
              </a:ext>
            </a:extLst>
          </p:cNvPr>
          <p:cNvSpPr>
            <a:spLocks noChangeArrowheads="1"/>
          </p:cNvSpPr>
          <p:nvPr/>
        </p:nvSpPr>
        <p:spPr bwMode="auto">
          <a:xfrm>
            <a:off x="4419600" y="5670550"/>
            <a:ext cx="685800" cy="457200"/>
          </a:xfrm>
          <a:prstGeom prst="rightArrow">
            <a:avLst>
              <a:gd name="adj1" fmla="val 50000"/>
              <a:gd name="adj2" fmla="val 37500"/>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3736" name="Text Box 8">
            <a:extLst>
              <a:ext uri="{FF2B5EF4-FFF2-40B4-BE49-F238E27FC236}">
                <a16:creationId xmlns:a16="http://schemas.microsoft.com/office/drawing/2014/main" id="{2C107E0C-3CD4-2247-B30B-9797EA8B0D99}"/>
              </a:ext>
            </a:extLst>
          </p:cNvPr>
          <p:cNvSpPr txBox="1">
            <a:spLocks noChangeArrowheads="1"/>
          </p:cNvSpPr>
          <p:nvPr/>
        </p:nvSpPr>
        <p:spPr bwMode="auto">
          <a:xfrm>
            <a:off x="5181600" y="5105400"/>
            <a:ext cx="1600200" cy="336550"/>
          </a:xfrm>
          <a:prstGeom prst="rect">
            <a:avLst/>
          </a:prstGeom>
          <a:noFill/>
          <a:ln>
            <a:noFill/>
          </a:ln>
          <a:effectLst/>
          <a:extLst>
            <a:ext uri="{909E8E84-426E-40DD-AFC4-6F175D3DCCD1}">
              <a14:hiddenFill xmlns:a14="http://schemas.microsoft.com/office/drawing/2010/main">
                <a:solidFill>
                  <a:srgbClr val="FFFFC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CC3300"/>
                </a:solidFill>
              </a:rPr>
              <a:t>Output</a:t>
            </a:r>
          </a:p>
        </p:txBody>
      </p:sp>
      <p:sp>
        <p:nvSpPr>
          <p:cNvPr id="73738" name="Text Box 10">
            <a:extLst>
              <a:ext uri="{FF2B5EF4-FFF2-40B4-BE49-F238E27FC236}">
                <a16:creationId xmlns:a16="http://schemas.microsoft.com/office/drawing/2014/main" id="{2F2A6AF9-03A9-DF42-96CF-F6A7424DBBA9}"/>
              </a:ext>
            </a:extLst>
          </p:cNvPr>
          <p:cNvSpPr txBox="1">
            <a:spLocks noChangeArrowheads="1"/>
          </p:cNvSpPr>
          <p:nvPr/>
        </p:nvSpPr>
        <p:spPr bwMode="auto">
          <a:xfrm>
            <a:off x="533400" y="685800"/>
            <a:ext cx="3657600" cy="5562600"/>
          </a:xfrm>
          <a:prstGeom prst="rect">
            <a:avLst/>
          </a:prstGeom>
          <a:solidFill>
            <a:srgbClr val="F3F3FF"/>
          </a:solidFill>
          <a:ln w="9525">
            <a:solidFill>
              <a:srgbClr val="293973"/>
            </a:solidFill>
            <a:miter lim="800000"/>
            <a:headEnd/>
            <a:tailEnd/>
          </a:ln>
          <a:effectLst>
            <a:outerShdw dist="89803" dir="2700000" algn="ctr" rotWithShape="0">
              <a:srgbClr val="293973"/>
            </a:outerShdw>
          </a:effectLst>
        </p:spPr>
        <p:txBody>
          <a:bodyPr lIns="309600" tIns="190800" rIns="93600" bIns="190800"/>
          <a:lstStyle>
            <a:lvl1pPr marL="342900" indent="-342900" algn="r" rtl="1">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lnSpc>
                <a:spcPct val="50000"/>
              </a:lnSpc>
              <a:spcBef>
                <a:spcPct val="50000"/>
              </a:spcBef>
            </a:pPr>
            <a:r>
              <a:rPr lang="en-US" altLang="en-US" sz="1300">
                <a:latin typeface="Courier New" panose="02070309020205020404" pitchFamily="49" charset="0"/>
                <a:cs typeface="Courier New" panose="02070309020205020404" pitchFamily="49" charset="0"/>
              </a:rPr>
              <a:t>// Load the program and set up:</a:t>
            </a:r>
          </a:p>
          <a:p>
            <a:pPr algn="l" rtl="0">
              <a:lnSpc>
                <a:spcPct val="50000"/>
              </a:lnSpc>
              <a:spcBef>
                <a:spcPct val="50000"/>
              </a:spcBef>
            </a:pPr>
            <a:r>
              <a:rPr lang="en-US" altLang="en-US" sz="1300">
                <a:latin typeface="Courier New" panose="02070309020205020404" pitchFamily="49" charset="0"/>
                <a:cs typeface="Courier New" panose="02070309020205020404" pitchFamily="49" charset="0"/>
              </a:rPr>
              <a:t>load Max.asm,</a:t>
            </a:r>
          </a:p>
          <a:p>
            <a:pPr algn="l" rtl="0">
              <a:lnSpc>
                <a:spcPct val="50000"/>
              </a:lnSpc>
              <a:spcBef>
                <a:spcPct val="50000"/>
              </a:spcBef>
            </a:pPr>
            <a:r>
              <a:rPr lang="en-US" altLang="en-US" sz="1300">
                <a:latin typeface="Courier New" panose="02070309020205020404" pitchFamily="49" charset="0"/>
                <a:cs typeface="Courier New" panose="02070309020205020404" pitchFamily="49" charset="0"/>
              </a:rPr>
              <a:t>output-file Max.out,</a:t>
            </a:r>
          </a:p>
          <a:p>
            <a:pPr algn="l" rtl="0">
              <a:lnSpc>
                <a:spcPct val="50000"/>
              </a:lnSpc>
              <a:spcBef>
                <a:spcPct val="50000"/>
              </a:spcBef>
            </a:pPr>
            <a:r>
              <a:rPr lang="en-US" altLang="en-US" sz="1300">
                <a:latin typeface="Courier New" panose="02070309020205020404" pitchFamily="49" charset="0"/>
                <a:cs typeface="Courier New" panose="02070309020205020404" pitchFamily="49" charset="0"/>
              </a:rPr>
              <a:t>compare-to  Max.cmp,</a:t>
            </a:r>
          </a:p>
          <a:p>
            <a:pPr algn="l" rtl="0">
              <a:lnSpc>
                <a:spcPct val="50000"/>
              </a:lnSpc>
              <a:spcBef>
                <a:spcPct val="50000"/>
              </a:spcBef>
            </a:pPr>
            <a:r>
              <a:rPr lang="en-US" altLang="en-US" sz="1300">
                <a:latin typeface="Courier New" panose="02070309020205020404" pitchFamily="49" charset="0"/>
                <a:cs typeface="Courier New" panose="02070309020205020404" pitchFamily="49" charset="0"/>
              </a:rPr>
              <a:t>output-list RAM[0]%D2.6.2 </a:t>
            </a:r>
          </a:p>
          <a:p>
            <a:pPr algn="l" rtl="0">
              <a:lnSpc>
                <a:spcPct val="50000"/>
              </a:lnSpc>
              <a:spcBef>
                <a:spcPct val="50000"/>
              </a:spcBef>
            </a:pPr>
            <a:r>
              <a:rPr lang="en-US" altLang="en-US" sz="1300">
                <a:latin typeface="Courier New" panose="02070309020205020404" pitchFamily="49" charset="0"/>
                <a:cs typeface="Courier New" panose="02070309020205020404" pitchFamily="49" charset="0"/>
              </a:rPr>
              <a:t>            RAM[1]%D2.6.2 </a:t>
            </a:r>
          </a:p>
          <a:p>
            <a:pPr algn="l" rtl="0">
              <a:lnSpc>
                <a:spcPct val="50000"/>
              </a:lnSpc>
              <a:spcBef>
                <a:spcPct val="50000"/>
              </a:spcBef>
            </a:pPr>
            <a:r>
              <a:rPr lang="en-US" altLang="en-US" sz="1300">
                <a:latin typeface="Courier New" panose="02070309020205020404" pitchFamily="49" charset="0"/>
                <a:cs typeface="Courier New" panose="02070309020205020404" pitchFamily="49" charset="0"/>
              </a:rPr>
              <a:t>            RAM[2]%D2.6.2;</a:t>
            </a:r>
          </a:p>
          <a:p>
            <a:pPr algn="l" rtl="0">
              <a:lnSpc>
                <a:spcPct val="50000"/>
              </a:lnSpc>
              <a:spcBef>
                <a:spcPct val="50000"/>
              </a:spcBef>
            </a:pPr>
            <a:endParaRPr lang="en-US" altLang="en-US" sz="1300">
              <a:latin typeface="Courier New" panose="02070309020205020404" pitchFamily="49" charset="0"/>
              <a:cs typeface="Courier New" panose="02070309020205020404" pitchFamily="49" charset="0"/>
            </a:endParaRPr>
          </a:p>
          <a:p>
            <a:pPr algn="l" rtl="0">
              <a:lnSpc>
                <a:spcPct val="50000"/>
              </a:lnSpc>
              <a:spcBef>
                <a:spcPct val="50000"/>
              </a:spcBef>
            </a:pPr>
            <a:r>
              <a:rPr lang="en-US" altLang="en-US" sz="1300">
                <a:latin typeface="Courier New" panose="02070309020205020404" pitchFamily="49" charset="0"/>
                <a:cs typeface="Courier New" panose="02070309020205020404" pitchFamily="49" charset="0"/>
              </a:rPr>
              <a:t>// Test 1: max(15,32)</a:t>
            </a:r>
          </a:p>
          <a:p>
            <a:pPr algn="l" rtl="0">
              <a:lnSpc>
                <a:spcPct val="50000"/>
              </a:lnSpc>
              <a:spcBef>
                <a:spcPct val="50000"/>
              </a:spcBef>
            </a:pPr>
            <a:r>
              <a:rPr lang="en-US" altLang="en-US" sz="1300">
                <a:latin typeface="Courier New" panose="02070309020205020404" pitchFamily="49" charset="0"/>
                <a:cs typeface="Courier New" panose="02070309020205020404" pitchFamily="49" charset="0"/>
              </a:rPr>
              <a:t>set RAM[0] 15,</a:t>
            </a:r>
          </a:p>
          <a:p>
            <a:pPr algn="l" rtl="0">
              <a:lnSpc>
                <a:spcPct val="50000"/>
              </a:lnSpc>
              <a:spcBef>
                <a:spcPct val="50000"/>
              </a:spcBef>
            </a:pPr>
            <a:r>
              <a:rPr lang="en-US" altLang="en-US" sz="1300">
                <a:latin typeface="Courier New" panose="02070309020205020404" pitchFamily="49" charset="0"/>
                <a:cs typeface="Courier New" panose="02070309020205020404" pitchFamily="49" charset="0"/>
              </a:rPr>
              <a:t>set RAM[1] 32;</a:t>
            </a:r>
          </a:p>
          <a:p>
            <a:pPr algn="l" rtl="0">
              <a:lnSpc>
                <a:spcPct val="50000"/>
              </a:lnSpc>
              <a:spcBef>
                <a:spcPct val="50000"/>
              </a:spcBef>
            </a:pPr>
            <a:r>
              <a:rPr lang="en-US" altLang="en-US" sz="1300">
                <a:latin typeface="Courier New" panose="02070309020205020404" pitchFamily="49" charset="0"/>
                <a:cs typeface="Courier New" panose="02070309020205020404" pitchFamily="49" charset="0"/>
              </a:rPr>
              <a:t>repeat 14 {</a:t>
            </a:r>
          </a:p>
          <a:p>
            <a:pPr algn="l" rtl="0">
              <a:lnSpc>
                <a:spcPct val="50000"/>
              </a:lnSpc>
              <a:spcBef>
                <a:spcPct val="50000"/>
              </a:spcBef>
            </a:pPr>
            <a:r>
              <a:rPr lang="en-US" altLang="en-US" sz="1300">
                <a:latin typeface="Courier New" panose="02070309020205020404" pitchFamily="49" charset="0"/>
                <a:cs typeface="Courier New" panose="02070309020205020404" pitchFamily="49" charset="0"/>
              </a:rPr>
              <a:t>  ticktock;</a:t>
            </a:r>
          </a:p>
          <a:p>
            <a:pPr algn="l" rtl="0">
              <a:lnSpc>
                <a:spcPct val="50000"/>
              </a:lnSpc>
              <a:spcBef>
                <a:spcPct val="50000"/>
              </a:spcBef>
            </a:pPr>
            <a:r>
              <a:rPr lang="en-US" altLang="en-US" sz="1300">
                <a:latin typeface="Courier New" panose="02070309020205020404" pitchFamily="49" charset="0"/>
                <a:cs typeface="Courier New" panose="02070309020205020404" pitchFamily="49" charset="0"/>
              </a:rPr>
              <a:t>}</a:t>
            </a:r>
          </a:p>
          <a:p>
            <a:pPr algn="l" rtl="0">
              <a:lnSpc>
                <a:spcPct val="50000"/>
              </a:lnSpc>
              <a:spcBef>
                <a:spcPct val="50000"/>
              </a:spcBef>
            </a:pPr>
            <a:r>
              <a:rPr lang="en-US" altLang="en-US" sz="1300">
                <a:latin typeface="Courier New" panose="02070309020205020404" pitchFamily="49" charset="0"/>
                <a:cs typeface="Courier New" panose="02070309020205020404" pitchFamily="49" charset="0"/>
              </a:rPr>
              <a:t>output;  // to the Max.out file</a:t>
            </a:r>
          </a:p>
          <a:p>
            <a:pPr algn="l" rtl="0">
              <a:lnSpc>
                <a:spcPct val="50000"/>
              </a:lnSpc>
              <a:spcBef>
                <a:spcPct val="50000"/>
              </a:spcBef>
            </a:pPr>
            <a:endParaRPr lang="en-US" altLang="en-US" sz="1300">
              <a:latin typeface="Courier New" panose="02070309020205020404" pitchFamily="49" charset="0"/>
              <a:cs typeface="Courier New" panose="02070309020205020404" pitchFamily="49" charset="0"/>
            </a:endParaRPr>
          </a:p>
          <a:p>
            <a:pPr algn="l" rtl="0">
              <a:lnSpc>
                <a:spcPct val="50000"/>
              </a:lnSpc>
              <a:spcBef>
                <a:spcPct val="50000"/>
              </a:spcBef>
            </a:pPr>
            <a:r>
              <a:rPr lang="en-US" altLang="en-US" sz="1300">
                <a:latin typeface="Courier New" panose="02070309020205020404" pitchFamily="49" charset="0"/>
                <a:cs typeface="Courier New" panose="02070309020205020404" pitchFamily="49" charset="0"/>
              </a:rPr>
              <a:t>// Test 2: max(47,22)</a:t>
            </a:r>
          </a:p>
          <a:p>
            <a:pPr algn="l" rtl="0">
              <a:lnSpc>
                <a:spcPct val="50000"/>
              </a:lnSpc>
              <a:spcBef>
                <a:spcPct val="50000"/>
              </a:spcBef>
            </a:pPr>
            <a:r>
              <a:rPr lang="en-US" altLang="en-US" sz="1300">
                <a:latin typeface="Courier New" panose="02070309020205020404" pitchFamily="49" charset="0"/>
                <a:cs typeface="Courier New" panose="02070309020205020404" pitchFamily="49" charset="0"/>
              </a:rPr>
              <a:t>set PC 0, // Reset prog. counter</a:t>
            </a:r>
          </a:p>
          <a:p>
            <a:pPr algn="l" rtl="0">
              <a:lnSpc>
                <a:spcPct val="50000"/>
              </a:lnSpc>
              <a:spcBef>
                <a:spcPct val="50000"/>
              </a:spcBef>
            </a:pPr>
            <a:r>
              <a:rPr lang="en-US" altLang="en-US" sz="1300">
                <a:latin typeface="Courier New" panose="02070309020205020404" pitchFamily="49" charset="0"/>
                <a:cs typeface="Courier New" panose="02070309020205020404" pitchFamily="49" charset="0"/>
              </a:rPr>
              <a:t>set RAM[0] 47,</a:t>
            </a:r>
          </a:p>
          <a:p>
            <a:pPr algn="l" rtl="0">
              <a:lnSpc>
                <a:spcPct val="50000"/>
              </a:lnSpc>
              <a:spcBef>
                <a:spcPct val="50000"/>
              </a:spcBef>
            </a:pPr>
            <a:r>
              <a:rPr lang="en-US" altLang="en-US" sz="1300">
                <a:latin typeface="Courier New" panose="02070309020205020404" pitchFamily="49" charset="0"/>
                <a:cs typeface="Courier New" panose="02070309020205020404" pitchFamily="49" charset="0"/>
              </a:rPr>
              <a:t>set RAM[1] 22;</a:t>
            </a:r>
          </a:p>
          <a:p>
            <a:pPr algn="l" rtl="0">
              <a:lnSpc>
                <a:spcPct val="50000"/>
              </a:lnSpc>
              <a:spcBef>
                <a:spcPct val="50000"/>
              </a:spcBef>
            </a:pPr>
            <a:r>
              <a:rPr lang="en-US" altLang="en-US" sz="1300">
                <a:latin typeface="Courier New" panose="02070309020205020404" pitchFamily="49" charset="0"/>
                <a:cs typeface="Courier New" panose="02070309020205020404" pitchFamily="49" charset="0"/>
              </a:rPr>
              <a:t>repeat 14 {</a:t>
            </a:r>
          </a:p>
          <a:p>
            <a:pPr algn="l" rtl="0">
              <a:lnSpc>
                <a:spcPct val="50000"/>
              </a:lnSpc>
              <a:spcBef>
                <a:spcPct val="50000"/>
              </a:spcBef>
            </a:pPr>
            <a:r>
              <a:rPr lang="en-US" altLang="en-US" sz="1300">
                <a:latin typeface="Courier New" panose="02070309020205020404" pitchFamily="49" charset="0"/>
                <a:cs typeface="Courier New" panose="02070309020205020404" pitchFamily="49" charset="0"/>
              </a:rPr>
              <a:t>  ticktock;</a:t>
            </a:r>
          </a:p>
          <a:p>
            <a:pPr algn="l" rtl="0">
              <a:lnSpc>
                <a:spcPct val="50000"/>
              </a:lnSpc>
              <a:spcBef>
                <a:spcPct val="50000"/>
              </a:spcBef>
            </a:pPr>
            <a:r>
              <a:rPr lang="en-US" altLang="en-US" sz="1300">
                <a:latin typeface="Courier New" panose="02070309020205020404" pitchFamily="49" charset="0"/>
                <a:cs typeface="Courier New" panose="02070309020205020404" pitchFamily="49" charset="0"/>
              </a:rPr>
              <a:t>}</a:t>
            </a:r>
          </a:p>
          <a:p>
            <a:pPr algn="l" rtl="0">
              <a:lnSpc>
                <a:spcPct val="50000"/>
              </a:lnSpc>
              <a:spcBef>
                <a:spcPct val="50000"/>
              </a:spcBef>
            </a:pPr>
            <a:r>
              <a:rPr lang="en-US" altLang="en-US" sz="1300">
                <a:latin typeface="Courier New" panose="02070309020205020404" pitchFamily="49" charset="0"/>
                <a:cs typeface="Courier New" panose="02070309020205020404" pitchFamily="49" charset="0"/>
              </a:rPr>
              <a:t>output;</a:t>
            </a:r>
          </a:p>
          <a:p>
            <a:pPr algn="l" rtl="0">
              <a:lnSpc>
                <a:spcPct val="50000"/>
              </a:lnSpc>
              <a:spcBef>
                <a:spcPct val="50000"/>
              </a:spcBef>
            </a:pPr>
            <a:endParaRPr lang="en-US" altLang="en-US" sz="1300">
              <a:latin typeface="Courier New" panose="02070309020205020404" pitchFamily="49" charset="0"/>
              <a:cs typeface="Courier New" panose="02070309020205020404" pitchFamily="49" charset="0"/>
            </a:endParaRPr>
          </a:p>
          <a:p>
            <a:pPr algn="l" rtl="0">
              <a:lnSpc>
                <a:spcPct val="50000"/>
              </a:lnSpc>
              <a:spcBef>
                <a:spcPct val="50000"/>
              </a:spcBef>
            </a:pPr>
            <a:r>
              <a:rPr lang="en-US" altLang="en-US" sz="1300">
                <a:latin typeface="Courier New" panose="02070309020205020404" pitchFamily="49" charset="0"/>
                <a:cs typeface="Courier New" panose="02070309020205020404" pitchFamily="49" charset="0"/>
              </a:rPr>
              <a:t>// test 3: max(12,12)</a:t>
            </a:r>
          </a:p>
          <a:p>
            <a:pPr algn="l" rtl="0">
              <a:lnSpc>
                <a:spcPct val="50000"/>
              </a:lnSpc>
              <a:spcBef>
                <a:spcPct val="50000"/>
              </a:spcBef>
            </a:pPr>
            <a:r>
              <a:rPr lang="en-US" altLang="en-US" sz="1300">
                <a:latin typeface="Courier New" panose="02070309020205020404" pitchFamily="49" charset="0"/>
                <a:cs typeface="Courier New" panose="02070309020205020404" pitchFamily="49" charset="0"/>
              </a:rPr>
              <a:t>// Etc.</a:t>
            </a:r>
          </a:p>
        </p:txBody>
      </p:sp>
      <p:grpSp>
        <p:nvGrpSpPr>
          <p:cNvPr id="73742" name="Group 14">
            <a:extLst>
              <a:ext uri="{FF2B5EF4-FFF2-40B4-BE49-F238E27FC236}">
                <a16:creationId xmlns:a16="http://schemas.microsoft.com/office/drawing/2014/main" id="{253530B1-1D73-6547-89A2-31F067E9721F}"/>
              </a:ext>
            </a:extLst>
          </p:cNvPr>
          <p:cNvGrpSpPr>
            <a:grpSpLocks/>
          </p:cNvGrpSpPr>
          <p:nvPr/>
        </p:nvGrpSpPr>
        <p:grpSpPr bwMode="auto">
          <a:xfrm>
            <a:off x="7467600" y="76200"/>
            <a:ext cx="1295400" cy="922338"/>
            <a:chOff x="4704" y="48"/>
            <a:chExt cx="816" cy="581"/>
          </a:xfrm>
        </p:grpSpPr>
        <p:pic>
          <p:nvPicPr>
            <p:cNvPr id="73740" name="Picture 12">
              <a:extLst>
                <a:ext uri="{FF2B5EF4-FFF2-40B4-BE49-F238E27FC236}">
                  <a16:creationId xmlns:a16="http://schemas.microsoft.com/office/drawing/2014/main" id="{03C57015-E227-6742-8DAE-F054630050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04" y="48"/>
              <a:ext cx="816" cy="581"/>
            </a:xfrm>
            <a:prstGeom prst="rect">
              <a:avLst/>
            </a:prstGeom>
            <a:noFill/>
            <a:ln>
              <a:noFill/>
            </a:ln>
            <a:effectLst/>
            <a:extLst>
              <a:ext uri="{909E8E84-426E-40DD-AFC4-6F175D3DCCD1}">
                <a14:hiddenFill xmlns:a14="http://schemas.microsoft.com/office/drawing/2010/main">
                  <a:solidFill>
                    <a:srgbClr val="FFFFC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3741" name="Rectangle 13">
              <a:extLst>
                <a:ext uri="{FF2B5EF4-FFF2-40B4-BE49-F238E27FC236}">
                  <a16:creationId xmlns:a16="http://schemas.microsoft.com/office/drawing/2014/main" id="{5D146552-EE30-7148-A91F-EA6A0BAE01C4}"/>
                </a:ext>
              </a:extLst>
            </p:cNvPr>
            <p:cNvSpPr>
              <a:spLocks noChangeArrowheads="1"/>
            </p:cNvSpPr>
            <p:nvPr/>
          </p:nvSpPr>
          <p:spPr bwMode="auto">
            <a:xfrm>
              <a:off x="5088" y="144"/>
              <a:ext cx="384" cy="192"/>
            </a:xfrm>
            <a:prstGeom prst="rect">
              <a:avLst/>
            </a:prstGeom>
            <a:noFill/>
            <a:ln w="34925">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73744" name="AutoShape 16">
            <a:extLst>
              <a:ext uri="{FF2B5EF4-FFF2-40B4-BE49-F238E27FC236}">
                <a16:creationId xmlns:a16="http://schemas.microsoft.com/office/drawing/2014/main" id="{738ED44C-E141-9C4C-A0A6-BB000466704D}"/>
              </a:ext>
            </a:extLst>
          </p:cNvPr>
          <p:cNvSpPr>
            <a:spLocks noChangeArrowheads="1"/>
          </p:cNvSpPr>
          <p:nvPr/>
        </p:nvSpPr>
        <p:spPr bwMode="auto">
          <a:xfrm>
            <a:off x="8229600" y="533400"/>
            <a:ext cx="304800" cy="533400"/>
          </a:xfrm>
          <a:prstGeom prst="upArrow">
            <a:avLst>
              <a:gd name="adj1" fmla="val 50000"/>
              <a:gd name="adj2" fmla="val 43750"/>
            </a:avLst>
          </a:prstGeom>
          <a:solidFill>
            <a:srgbClr val="FF5F3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8D4E5888-9578-C142-BC3C-A7DAD7A647E6}"/>
              </a:ext>
            </a:extLst>
          </p:cNvPr>
          <p:cNvSpPr>
            <a:spLocks noGrp="1" noChangeArrowheads="1"/>
          </p:cNvSpPr>
          <p:nvPr>
            <p:ph type="title"/>
          </p:nvPr>
        </p:nvSpPr>
        <p:spPr/>
        <p:txBody>
          <a:bodyPr/>
          <a:lstStyle/>
          <a:p>
            <a:r>
              <a:rPr lang="en-US" altLang="en-US"/>
              <a:t>Using test scripts</a:t>
            </a:r>
          </a:p>
        </p:txBody>
      </p:sp>
      <p:pic>
        <p:nvPicPr>
          <p:cNvPr id="70675" name="Picture 19">
            <a:extLst>
              <a:ext uri="{FF2B5EF4-FFF2-40B4-BE49-F238E27FC236}">
                <a16:creationId xmlns:a16="http://schemas.microsoft.com/office/drawing/2014/main" id="{B8A56071-5168-6A45-A713-BE42E4B91F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4167"/>
          <a:stretch>
            <a:fillRect/>
          </a:stretch>
        </p:blipFill>
        <p:spPr bwMode="auto">
          <a:xfrm>
            <a:off x="457200" y="685800"/>
            <a:ext cx="8229600" cy="5791200"/>
          </a:xfrm>
          <a:prstGeom prst="rect">
            <a:avLst/>
          </a:prstGeom>
          <a:noFill/>
          <a:ln>
            <a:noFill/>
          </a:ln>
          <a:effectLst/>
          <a:extLst>
            <a:ext uri="{909E8E84-426E-40DD-AFC4-6F175D3DCCD1}">
              <a14:hiddenFill xmlns:a14="http://schemas.microsoft.com/office/drawing/2010/main">
                <a:solidFill>
                  <a:srgbClr val="FFFFC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0676" name="AutoShape 20">
            <a:extLst>
              <a:ext uri="{FF2B5EF4-FFF2-40B4-BE49-F238E27FC236}">
                <a16:creationId xmlns:a16="http://schemas.microsoft.com/office/drawing/2014/main" id="{1BAB453A-5A93-914E-9A8A-6A492906D4BF}"/>
              </a:ext>
            </a:extLst>
          </p:cNvPr>
          <p:cNvSpPr>
            <a:spLocks noChangeArrowheads="1"/>
          </p:cNvSpPr>
          <p:nvPr/>
        </p:nvSpPr>
        <p:spPr bwMode="auto">
          <a:xfrm>
            <a:off x="533400" y="3352800"/>
            <a:ext cx="3352800" cy="1524000"/>
          </a:xfrm>
          <a:prstGeom prst="wedgeRoundRectCallout">
            <a:avLst>
              <a:gd name="adj1" fmla="val 15199"/>
              <a:gd name="adj2" fmla="val -32708"/>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b="0"/>
              <a:t>Interactive loading of the tested program itself (</a:t>
            </a:r>
            <a:r>
              <a:rPr lang="en-US" altLang="en-US" sz="1300">
                <a:latin typeface="Courier New" panose="02070309020205020404" pitchFamily="49" charset="0"/>
                <a:cs typeface="Courier New" panose="02070309020205020404" pitchFamily="49" charset="0"/>
              </a:rPr>
              <a:t>.asm</a:t>
            </a:r>
            <a:r>
              <a:rPr lang="en-US" altLang="en-US" b="0"/>
              <a:t> or </a:t>
            </a:r>
            <a:r>
              <a:rPr lang="en-US" altLang="en-US" sz="1300">
                <a:latin typeface="Courier New" panose="02070309020205020404" pitchFamily="49" charset="0"/>
                <a:cs typeface="Courier New" panose="02070309020205020404" pitchFamily="49" charset="0"/>
              </a:rPr>
              <a:t>.hack</a:t>
            </a:r>
            <a:r>
              <a:rPr lang="en-US" altLang="en-US" b="0"/>
              <a:t> file) is typically not necessary, since test scripts typically begin with a “load program” command.</a:t>
            </a:r>
          </a:p>
        </p:txBody>
      </p:sp>
      <p:sp>
        <p:nvSpPr>
          <p:cNvPr id="70678" name="Oval 22">
            <a:extLst>
              <a:ext uri="{FF2B5EF4-FFF2-40B4-BE49-F238E27FC236}">
                <a16:creationId xmlns:a16="http://schemas.microsoft.com/office/drawing/2014/main" id="{CD95BE67-05EB-224B-9D26-9B20EB502AA9}"/>
              </a:ext>
            </a:extLst>
          </p:cNvPr>
          <p:cNvSpPr>
            <a:spLocks noChangeArrowheads="1"/>
          </p:cNvSpPr>
          <p:nvPr/>
        </p:nvSpPr>
        <p:spPr bwMode="auto">
          <a:xfrm>
            <a:off x="6781800" y="5257800"/>
            <a:ext cx="1447800" cy="609600"/>
          </a:xfrm>
          <a:prstGeom prst="ellipse">
            <a:avLst/>
          </a:prstGeom>
          <a:noFill/>
          <a:ln w="38100">
            <a:solidFill>
              <a:srgbClr val="CC3300"/>
            </a:solidFill>
            <a:round/>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70680" name="Group 24">
            <a:extLst>
              <a:ext uri="{FF2B5EF4-FFF2-40B4-BE49-F238E27FC236}">
                <a16:creationId xmlns:a16="http://schemas.microsoft.com/office/drawing/2014/main" id="{A2E0C54C-7F43-684F-96E2-15ADC46182EE}"/>
              </a:ext>
            </a:extLst>
          </p:cNvPr>
          <p:cNvGrpSpPr>
            <a:grpSpLocks/>
          </p:cNvGrpSpPr>
          <p:nvPr/>
        </p:nvGrpSpPr>
        <p:grpSpPr bwMode="auto">
          <a:xfrm>
            <a:off x="2209800" y="990600"/>
            <a:ext cx="1905000" cy="1600200"/>
            <a:chOff x="1392" y="624"/>
            <a:chExt cx="1200" cy="1008"/>
          </a:xfrm>
        </p:grpSpPr>
        <p:sp>
          <p:nvSpPr>
            <p:cNvPr id="70677" name="Oval 21">
              <a:extLst>
                <a:ext uri="{FF2B5EF4-FFF2-40B4-BE49-F238E27FC236}">
                  <a16:creationId xmlns:a16="http://schemas.microsoft.com/office/drawing/2014/main" id="{EB25E2CD-4701-6E4E-ABB5-83F59FBF9998}"/>
                </a:ext>
              </a:extLst>
            </p:cNvPr>
            <p:cNvSpPr>
              <a:spLocks noChangeArrowheads="1"/>
            </p:cNvSpPr>
            <p:nvPr/>
          </p:nvSpPr>
          <p:spPr bwMode="auto">
            <a:xfrm>
              <a:off x="1392" y="624"/>
              <a:ext cx="288" cy="336"/>
            </a:xfrm>
            <a:prstGeom prst="ellipse">
              <a:avLst/>
            </a:prstGeom>
            <a:noFill/>
            <a:ln w="38100">
              <a:solidFill>
                <a:srgbClr val="CC3300"/>
              </a:solidFill>
              <a:round/>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0679" name="AutoShape 23">
              <a:extLst>
                <a:ext uri="{FF2B5EF4-FFF2-40B4-BE49-F238E27FC236}">
                  <a16:creationId xmlns:a16="http://schemas.microsoft.com/office/drawing/2014/main" id="{A8768583-69B0-BE40-AC5F-3B61A11C31A2}"/>
                </a:ext>
              </a:extLst>
            </p:cNvPr>
            <p:cNvSpPr>
              <a:spLocks noChangeArrowheads="1"/>
            </p:cNvSpPr>
            <p:nvPr/>
          </p:nvSpPr>
          <p:spPr bwMode="auto">
            <a:xfrm>
              <a:off x="2064" y="1200"/>
              <a:ext cx="528" cy="432"/>
            </a:xfrm>
            <a:prstGeom prst="wedgeRoundRectCallout">
              <a:avLst>
                <a:gd name="adj1" fmla="val -126514"/>
                <a:gd name="adj2" fmla="val -113889"/>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Ins="18000"/>
            <a:lstStyle/>
            <a:p>
              <a:r>
                <a:rPr lang="en-US" altLang="en-US" sz="1400" b="0"/>
                <a:t>Load a script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067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706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76"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8" name="Picture 3082">
            <a:extLst>
              <a:ext uri="{FF2B5EF4-FFF2-40B4-BE49-F238E27FC236}">
                <a16:creationId xmlns:a16="http://schemas.microsoft.com/office/drawing/2014/main" id="{9F60A029-209E-654C-9F99-BCEF6CEBC0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4167"/>
          <a:stretch>
            <a:fillRect/>
          </a:stretch>
        </p:blipFill>
        <p:spPr bwMode="auto">
          <a:xfrm>
            <a:off x="457200" y="685800"/>
            <a:ext cx="8229600" cy="5867400"/>
          </a:xfrm>
          <a:prstGeom prst="rect">
            <a:avLst/>
          </a:prstGeom>
          <a:noFill/>
          <a:ln>
            <a:noFill/>
          </a:ln>
          <a:effectLst/>
          <a:extLst>
            <a:ext uri="{909E8E84-426E-40DD-AFC4-6F175D3DCCD1}">
              <a14:hiddenFill xmlns:a14="http://schemas.microsoft.com/office/drawing/2010/main">
                <a:solidFill>
                  <a:srgbClr val="FFFFC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4931" name="Rectangle 3075">
            <a:extLst>
              <a:ext uri="{FF2B5EF4-FFF2-40B4-BE49-F238E27FC236}">
                <a16:creationId xmlns:a16="http://schemas.microsoft.com/office/drawing/2014/main" id="{FDD5C45F-A495-C844-9419-BC4B38809057}"/>
              </a:ext>
            </a:extLst>
          </p:cNvPr>
          <p:cNvSpPr>
            <a:spLocks noGrp="1" noChangeArrowheads="1"/>
          </p:cNvSpPr>
          <p:nvPr>
            <p:ph type="title"/>
          </p:nvPr>
        </p:nvSpPr>
        <p:spPr/>
        <p:txBody>
          <a:bodyPr/>
          <a:lstStyle/>
          <a:p>
            <a:r>
              <a:rPr lang="en-US" altLang="en-US"/>
              <a:t>Using test scripts</a:t>
            </a:r>
          </a:p>
        </p:txBody>
      </p:sp>
      <p:sp>
        <p:nvSpPr>
          <p:cNvPr id="124932" name="AutoShape 3076">
            <a:extLst>
              <a:ext uri="{FF2B5EF4-FFF2-40B4-BE49-F238E27FC236}">
                <a16:creationId xmlns:a16="http://schemas.microsoft.com/office/drawing/2014/main" id="{17674376-D03C-F348-9234-30A7AFB2A8BC}"/>
              </a:ext>
            </a:extLst>
          </p:cNvPr>
          <p:cNvSpPr>
            <a:spLocks noChangeArrowheads="1"/>
          </p:cNvSpPr>
          <p:nvPr/>
        </p:nvSpPr>
        <p:spPr bwMode="auto">
          <a:xfrm>
            <a:off x="685800" y="5410200"/>
            <a:ext cx="1676400" cy="609600"/>
          </a:xfrm>
          <a:prstGeom prst="wedgeRoundRectCallout">
            <a:avLst>
              <a:gd name="adj1" fmla="val -29449"/>
              <a:gd name="adj2" fmla="val -707032"/>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400" b="0"/>
              <a:t>Execute the next simulation step</a:t>
            </a:r>
          </a:p>
        </p:txBody>
      </p:sp>
      <p:sp>
        <p:nvSpPr>
          <p:cNvPr id="124933" name="AutoShape 3077">
            <a:extLst>
              <a:ext uri="{FF2B5EF4-FFF2-40B4-BE49-F238E27FC236}">
                <a16:creationId xmlns:a16="http://schemas.microsoft.com/office/drawing/2014/main" id="{6E9C00E9-4144-6944-9364-429E29DCC24C}"/>
              </a:ext>
            </a:extLst>
          </p:cNvPr>
          <p:cNvSpPr>
            <a:spLocks noChangeArrowheads="1"/>
          </p:cNvSpPr>
          <p:nvPr/>
        </p:nvSpPr>
        <p:spPr bwMode="auto">
          <a:xfrm>
            <a:off x="1600200" y="4724400"/>
            <a:ext cx="1752600" cy="533400"/>
          </a:xfrm>
          <a:prstGeom prst="wedgeRoundRectCallout">
            <a:avLst>
              <a:gd name="adj1" fmla="val -64583"/>
              <a:gd name="adj2" fmla="val -668153"/>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400" b="0"/>
              <a:t>Execute step after step repeatedly</a:t>
            </a:r>
          </a:p>
        </p:txBody>
      </p:sp>
      <p:sp>
        <p:nvSpPr>
          <p:cNvPr id="124934" name="AutoShape 3078">
            <a:extLst>
              <a:ext uri="{FF2B5EF4-FFF2-40B4-BE49-F238E27FC236}">
                <a16:creationId xmlns:a16="http://schemas.microsoft.com/office/drawing/2014/main" id="{31CDED2A-409F-2041-B76A-947EC88CB029}"/>
              </a:ext>
            </a:extLst>
          </p:cNvPr>
          <p:cNvSpPr>
            <a:spLocks noChangeArrowheads="1"/>
          </p:cNvSpPr>
          <p:nvPr/>
        </p:nvSpPr>
        <p:spPr bwMode="auto">
          <a:xfrm>
            <a:off x="2514600" y="4038600"/>
            <a:ext cx="1143000" cy="533400"/>
          </a:xfrm>
          <a:prstGeom prst="wedgeRoundRectCallout">
            <a:avLst>
              <a:gd name="adj1" fmla="val -119722"/>
              <a:gd name="adj2" fmla="val -543454"/>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400" b="0"/>
              <a:t>Pause the simulation</a:t>
            </a:r>
          </a:p>
        </p:txBody>
      </p:sp>
      <p:sp>
        <p:nvSpPr>
          <p:cNvPr id="124935" name="AutoShape 3079">
            <a:extLst>
              <a:ext uri="{FF2B5EF4-FFF2-40B4-BE49-F238E27FC236}">
                <a16:creationId xmlns:a16="http://schemas.microsoft.com/office/drawing/2014/main" id="{653E88C8-955A-2246-87FC-1F04FE060537}"/>
              </a:ext>
            </a:extLst>
          </p:cNvPr>
          <p:cNvSpPr>
            <a:spLocks noChangeArrowheads="1"/>
          </p:cNvSpPr>
          <p:nvPr/>
        </p:nvSpPr>
        <p:spPr bwMode="auto">
          <a:xfrm>
            <a:off x="3048000" y="3276600"/>
            <a:ext cx="990600" cy="609600"/>
          </a:xfrm>
          <a:prstGeom prst="wedgeRoundRectCallout">
            <a:avLst>
              <a:gd name="adj1" fmla="val -145194"/>
              <a:gd name="adj2" fmla="val -355731"/>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400" b="0"/>
              <a:t>Reset</a:t>
            </a:r>
            <a:br>
              <a:rPr lang="en-US" altLang="en-US" sz="1400" b="0"/>
            </a:br>
            <a:r>
              <a:rPr lang="en-US" altLang="en-US" sz="1400" b="0"/>
              <a:t>the script</a:t>
            </a:r>
          </a:p>
        </p:txBody>
      </p:sp>
      <p:sp>
        <p:nvSpPr>
          <p:cNvPr id="124936" name="AutoShape 3080">
            <a:extLst>
              <a:ext uri="{FF2B5EF4-FFF2-40B4-BE49-F238E27FC236}">
                <a16:creationId xmlns:a16="http://schemas.microsoft.com/office/drawing/2014/main" id="{9E0F7716-727C-E649-BCBC-79A6F32850E1}"/>
              </a:ext>
            </a:extLst>
          </p:cNvPr>
          <p:cNvSpPr>
            <a:spLocks noChangeArrowheads="1"/>
          </p:cNvSpPr>
          <p:nvPr/>
        </p:nvSpPr>
        <p:spPr bwMode="auto">
          <a:xfrm>
            <a:off x="3276600" y="1905000"/>
            <a:ext cx="838200" cy="685800"/>
          </a:xfrm>
          <a:prstGeom prst="wedgeRoundRectCallout">
            <a:avLst>
              <a:gd name="adj1" fmla="val -126514"/>
              <a:gd name="adj2" fmla="val -113889"/>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Ins="18000"/>
          <a:lstStyle/>
          <a:p>
            <a:r>
              <a:rPr lang="en-US" altLang="en-US" sz="1400" b="0"/>
              <a:t>Load a script</a:t>
            </a:r>
          </a:p>
        </p:txBody>
      </p:sp>
      <p:sp>
        <p:nvSpPr>
          <p:cNvPr id="124937" name="AutoShape 3081">
            <a:extLst>
              <a:ext uri="{FF2B5EF4-FFF2-40B4-BE49-F238E27FC236}">
                <a16:creationId xmlns:a16="http://schemas.microsoft.com/office/drawing/2014/main" id="{AE211A30-2820-DF46-985B-52E03CBDB429}"/>
              </a:ext>
            </a:extLst>
          </p:cNvPr>
          <p:cNvSpPr>
            <a:spLocks noChangeArrowheads="1"/>
          </p:cNvSpPr>
          <p:nvPr/>
        </p:nvSpPr>
        <p:spPr bwMode="auto">
          <a:xfrm>
            <a:off x="5791200" y="2514600"/>
            <a:ext cx="2362200" cy="838200"/>
          </a:xfrm>
          <a:prstGeom prst="wedgeRoundRectCallout">
            <a:avLst>
              <a:gd name="adj1" fmla="val -21440"/>
              <a:gd name="adj2" fmla="val -35796"/>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400" b="0"/>
              <a:t>Script = a series of simulation steps, each ending with a semicolon;</a:t>
            </a:r>
          </a:p>
        </p:txBody>
      </p:sp>
      <p:sp>
        <p:nvSpPr>
          <p:cNvPr id="124939" name="AutoShape 3083">
            <a:extLst>
              <a:ext uri="{FF2B5EF4-FFF2-40B4-BE49-F238E27FC236}">
                <a16:creationId xmlns:a16="http://schemas.microsoft.com/office/drawing/2014/main" id="{91B43889-FEB3-7841-9A68-BB57E7502AB2}"/>
              </a:ext>
            </a:extLst>
          </p:cNvPr>
          <p:cNvSpPr>
            <a:spLocks noChangeArrowheads="1"/>
          </p:cNvSpPr>
          <p:nvPr/>
        </p:nvSpPr>
        <p:spPr bwMode="auto">
          <a:xfrm>
            <a:off x="4572000" y="381000"/>
            <a:ext cx="838200" cy="609600"/>
          </a:xfrm>
          <a:prstGeom prst="wedgeRoundRectCallout">
            <a:avLst>
              <a:gd name="adj1" fmla="val -148296"/>
              <a:gd name="adj2" fmla="val 53384"/>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400" b="0"/>
              <a:t>Speed control</a:t>
            </a:r>
          </a:p>
        </p:txBody>
      </p:sp>
      <p:sp>
        <p:nvSpPr>
          <p:cNvPr id="124941" name="AutoShape 3085">
            <a:extLst>
              <a:ext uri="{FF2B5EF4-FFF2-40B4-BE49-F238E27FC236}">
                <a16:creationId xmlns:a16="http://schemas.microsoft.com/office/drawing/2014/main" id="{8BBA4E53-1DD6-D94D-94AB-F5D43D378080}"/>
              </a:ext>
            </a:extLst>
          </p:cNvPr>
          <p:cNvSpPr>
            <a:spLocks noChangeArrowheads="1"/>
          </p:cNvSpPr>
          <p:nvPr/>
        </p:nvSpPr>
        <p:spPr bwMode="auto">
          <a:xfrm>
            <a:off x="2438400" y="3429000"/>
            <a:ext cx="3962400" cy="1981200"/>
          </a:xfrm>
          <a:prstGeom prst="wedgeRoundRectCallout">
            <a:avLst>
              <a:gd name="adj1" fmla="val -67306"/>
              <a:gd name="adj2" fmla="val -59296"/>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5000"/>
              </a:spcBef>
              <a:buClr>
                <a:srgbClr val="006600"/>
              </a:buClr>
              <a:buFont typeface="Wingdings" pitchFamily="2" charset="2"/>
              <a:buNone/>
            </a:pPr>
            <a:r>
              <a:rPr lang="en-US" altLang="en-US" sz="1400">
                <a:solidFill>
                  <a:srgbClr val="00007A"/>
                </a:solidFill>
              </a:rPr>
              <a:t>Important point:</a:t>
            </a:r>
            <a:r>
              <a:rPr lang="en-US" altLang="en-US" sz="1400" b="0"/>
              <a:t>  Whenever an assembly program (.asm file) is loaded into the emulator, the program is assembled on the fly into machine language code, and this is the code that actually gets loaded.  In the process, all comments and white space are removed from the code, and all symbols resolve to the numbers that they stand for.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493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4941"/>
                                        </p:tgtEl>
                                        <p:attrNameLst>
                                          <p:attrName>style.visibility</p:attrName>
                                        </p:attrNameLst>
                                      </p:cBhvr>
                                      <p:to>
                                        <p:strVal val="visible"/>
                                      </p:to>
                                    </p:set>
                                  </p:childTnLst>
                                  <p:subTnLst>
                                    <p:set>
                                      <p:cBhvr override="childStyle">
                                        <p:cTn dur="1" fill="hold" display="0" masterRel="nextClick" afterEffect="1"/>
                                        <p:tgtEl>
                                          <p:spTgt spid="124941"/>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493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2493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2493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2493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249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2" grpId="0" animBg="1" autoUpdateAnimBg="0"/>
      <p:bldP spid="124933" grpId="0" animBg="1" autoUpdateAnimBg="0"/>
      <p:bldP spid="124934" grpId="0" animBg="1" autoUpdateAnimBg="0"/>
      <p:bldP spid="124935" grpId="0" animBg="1" autoUpdateAnimBg="0"/>
      <p:bldP spid="124937" grpId="0" animBg="1" autoUpdateAnimBg="0"/>
      <p:bldP spid="124939" grpId="0" animBg="1" autoUpdateAnimBg="0"/>
      <p:bldP spid="124941" grpId="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986" name="Picture 10">
            <a:extLst>
              <a:ext uri="{FF2B5EF4-FFF2-40B4-BE49-F238E27FC236}">
                <a16:creationId xmlns:a16="http://schemas.microsoft.com/office/drawing/2014/main" id="{254FE431-BB05-C445-A428-0DFE9EE9B3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4167"/>
          <a:stretch>
            <a:fillRect/>
          </a:stretch>
        </p:blipFill>
        <p:spPr bwMode="auto">
          <a:xfrm>
            <a:off x="457200" y="685800"/>
            <a:ext cx="8229600" cy="5867400"/>
          </a:xfrm>
          <a:prstGeom prst="rect">
            <a:avLst/>
          </a:prstGeom>
          <a:noFill/>
          <a:ln>
            <a:noFill/>
          </a:ln>
          <a:effectLst/>
          <a:extLst>
            <a:ext uri="{909E8E84-426E-40DD-AFC4-6F175D3DCCD1}">
              <a14:hiddenFill xmlns:a14="http://schemas.microsoft.com/office/drawing/2010/main">
                <a:solidFill>
                  <a:srgbClr val="FFFFC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6979" name="Rectangle 3">
            <a:extLst>
              <a:ext uri="{FF2B5EF4-FFF2-40B4-BE49-F238E27FC236}">
                <a16:creationId xmlns:a16="http://schemas.microsoft.com/office/drawing/2014/main" id="{A570BD1E-64F3-2F41-8D87-04C25E914884}"/>
              </a:ext>
            </a:extLst>
          </p:cNvPr>
          <p:cNvSpPr>
            <a:spLocks noGrp="1" noChangeArrowheads="1"/>
          </p:cNvSpPr>
          <p:nvPr>
            <p:ph type="title"/>
          </p:nvPr>
        </p:nvSpPr>
        <p:spPr/>
        <p:txBody>
          <a:bodyPr/>
          <a:lstStyle/>
          <a:p>
            <a:r>
              <a:rPr lang="en-US" altLang="en-US"/>
              <a:t>Using test scripts</a:t>
            </a:r>
          </a:p>
        </p:txBody>
      </p:sp>
      <p:sp>
        <p:nvSpPr>
          <p:cNvPr id="126988" name="AutoShape 12">
            <a:extLst>
              <a:ext uri="{FF2B5EF4-FFF2-40B4-BE49-F238E27FC236}">
                <a16:creationId xmlns:a16="http://schemas.microsoft.com/office/drawing/2014/main" id="{FC77C177-3DDE-0440-9151-70972B25BBD5}"/>
              </a:ext>
            </a:extLst>
          </p:cNvPr>
          <p:cNvSpPr>
            <a:spLocks noChangeArrowheads="1"/>
          </p:cNvSpPr>
          <p:nvPr/>
        </p:nvSpPr>
        <p:spPr bwMode="auto">
          <a:xfrm>
            <a:off x="4800600" y="3048000"/>
            <a:ext cx="4114800" cy="1676400"/>
          </a:xfrm>
          <a:prstGeom prst="wedgeRoundRectCallout">
            <a:avLst>
              <a:gd name="adj1" fmla="val -37037"/>
              <a:gd name="adj2" fmla="val -141194"/>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18800" rIns="0"/>
          <a:lstStyle/>
          <a:p>
            <a:r>
              <a:rPr lang="en-US" altLang="en-US" sz="1400" b="0" u="sng">
                <a:solidFill>
                  <a:srgbClr val="00007A"/>
                </a:solidFill>
              </a:rPr>
              <a:t>View options:</a:t>
            </a:r>
          </a:p>
          <a:p>
            <a:pPr>
              <a:spcBef>
                <a:spcPct val="25000"/>
              </a:spcBef>
              <a:buClr>
                <a:srgbClr val="006600"/>
              </a:buClr>
              <a:buFont typeface="Wingdings" pitchFamily="2" charset="2"/>
              <a:buChar char="§"/>
            </a:pPr>
            <a:r>
              <a:rPr lang="en-US" altLang="en-US" sz="1400">
                <a:latin typeface="Courier New" panose="02070309020205020404" pitchFamily="49" charset="0"/>
                <a:cs typeface="Courier New" panose="02070309020205020404" pitchFamily="49" charset="0"/>
              </a:rPr>
              <a:t> Script:</a:t>
            </a:r>
            <a:r>
              <a:rPr lang="en-US" altLang="en-US" sz="1400" b="0"/>
              <a:t>   Shows the current script;</a:t>
            </a:r>
          </a:p>
          <a:p>
            <a:pPr>
              <a:spcBef>
                <a:spcPct val="25000"/>
              </a:spcBef>
              <a:buClr>
                <a:srgbClr val="006600"/>
              </a:buClr>
              <a:buFont typeface="Wingdings" pitchFamily="2" charset="2"/>
              <a:buChar char="§"/>
            </a:pPr>
            <a:r>
              <a:rPr lang="en-US" altLang="en-US" sz="1400" b="0"/>
              <a:t>  </a:t>
            </a:r>
            <a:r>
              <a:rPr lang="en-US" altLang="en-US" sz="1400">
                <a:latin typeface="Courier New" panose="02070309020205020404" pitchFamily="49" charset="0"/>
                <a:cs typeface="Courier New" panose="02070309020205020404" pitchFamily="49" charset="0"/>
              </a:rPr>
              <a:t>Output:</a:t>
            </a:r>
            <a:r>
              <a:rPr lang="en-US" altLang="en-US" sz="1400" b="0"/>
              <a:t>   Shows the generated output file;</a:t>
            </a:r>
          </a:p>
          <a:p>
            <a:pPr>
              <a:spcBef>
                <a:spcPct val="25000"/>
              </a:spcBef>
              <a:buClr>
                <a:srgbClr val="006600"/>
              </a:buClr>
              <a:buFont typeface="Wingdings" pitchFamily="2" charset="2"/>
              <a:buChar char="§"/>
            </a:pPr>
            <a:r>
              <a:rPr lang="en-US" altLang="en-US" sz="1400"/>
              <a:t>  </a:t>
            </a:r>
            <a:r>
              <a:rPr lang="en-US" altLang="en-US" sz="1400">
                <a:latin typeface="Courier New" panose="02070309020205020404" pitchFamily="49" charset="0"/>
                <a:cs typeface="Courier New" panose="02070309020205020404" pitchFamily="49" charset="0"/>
              </a:rPr>
              <a:t>Compare:</a:t>
            </a:r>
            <a:r>
              <a:rPr lang="en-US" altLang="en-US" sz="1400" b="0"/>
              <a:t> Shows the given comparison file;</a:t>
            </a:r>
          </a:p>
          <a:p>
            <a:pPr>
              <a:spcBef>
                <a:spcPct val="25000"/>
              </a:spcBef>
              <a:buClr>
                <a:srgbClr val="006600"/>
              </a:buClr>
              <a:buFont typeface="Wingdings" pitchFamily="2" charset="2"/>
              <a:buChar char="§"/>
            </a:pPr>
            <a:r>
              <a:rPr lang="en-US" altLang="en-US" sz="1400"/>
              <a:t>  </a:t>
            </a:r>
            <a:r>
              <a:rPr lang="en-US" altLang="en-US" sz="1400">
                <a:latin typeface="Courier New" panose="02070309020205020404" pitchFamily="49" charset="0"/>
                <a:cs typeface="Courier New" panose="02070309020205020404" pitchFamily="49" charset="0"/>
              </a:rPr>
              <a:t>Screen:</a:t>
            </a:r>
            <a:r>
              <a:rPr lang="en-US" altLang="en-US" sz="1400" b="0"/>
              <a:t>   Shows the simulated screen.</a:t>
            </a:r>
          </a:p>
        </p:txBody>
      </p:sp>
      <p:sp>
        <p:nvSpPr>
          <p:cNvPr id="126989" name="AutoShape 13">
            <a:extLst>
              <a:ext uri="{FF2B5EF4-FFF2-40B4-BE49-F238E27FC236}">
                <a16:creationId xmlns:a16="http://schemas.microsoft.com/office/drawing/2014/main" id="{AFC20766-23CB-6141-9264-FA216EBE845C}"/>
              </a:ext>
            </a:extLst>
          </p:cNvPr>
          <p:cNvSpPr>
            <a:spLocks noChangeArrowheads="1"/>
          </p:cNvSpPr>
          <p:nvPr/>
        </p:nvSpPr>
        <p:spPr bwMode="auto">
          <a:xfrm>
            <a:off x="1219200" y="4572000"/>
            <a:ext cx="2971800" cy="914400"/>
          </a:xfrm>
          <a:prstGeom prst="wedgeRoundRectCallout">
            <a:avLst>
              <a:gd name="adj1" fmla="val -18111"/>
              <a:gd name="adj2" fmla="val 141319"/>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spcBef>
                <a:spcPct val="25000"/>
              </a:spcBef>
              <a:buClr>
                <a:srgbClr val="006600"/>
              </a:buClr>
              <a:buFont typeface="Wingdings" pitchFamily="2" charset="2"/>
              <a:buNone/>
            </a:pPr>
            <a:r>
              <a:rPr lang="en-US" altLang="en-US" sz="1400" b="0"/>
              <a:t>When the script terminates, the comparison of the script output and the compare file is reported.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698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69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8" grpId="0" animBg="1" autoUpdateAnimBg="0"/>
      <p:bldP spid="126989" grpId="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1" name="Picture 21">
            <a:extLst>
              <a:ext uri="{FF2B5EF4-FFF2-40B4-BE49-F238E27FC236}">
                <a16:creationId xmlns:a16="http://schemas.microsoft.com/office/drawing/2014/main" id="{18F89DBF-89FE-1348-B61D-CB05851CB3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4167"/>
          <a:stretch>
            <a:fillRect/>
          </a:stretch>
        </p:blipFill>
        <p:spPr bwMode="auto">
          <a:xfrm>
            <a:off x="457200" y="685800"/>
            <a:ext cx="8229600" cy="5867400"/>
          </a:xfrm>
          <a:prstGeom prst="rect">
            <a:avLst/>
          </a:prstGeom>
          <a:noFill/>
          <a:ln>
            <a:noFill/>
          </a:ln>
          <a:effectLst/>
          <a:extLst>
            <a:ext uri="{909E8E84-426E-40DD-AFC4-6F175D3DCCD1}">
              <a14:hiddenFill xmlns:a14="http://schemas.microsoft.com/office/drawing/2010/main">
                <a:solidFill>
                  <a:srgbClr val="FFFFC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682" name="Rectangle 2">
            <a:extLst>
              <a:ext uri="{FF2B5EF4-FFF2-40B4-BE49-F238E27FC236}">
                <a16:creationId xmlns:a16="http://schemas.microsoft.com/office/drawing/2014/main" id="{68620884-6F70-4344-855A-87D15C3AFC9C}"/>
              </a:ext>
            </a:extLst>
          </p:cNvPr>
          <p:cNvSpPr>
            <a:spLocks noGrp="1" noChangeArrowheads="1"/>
          </p:cNvSpPr>
          <p:nvPr>
            <p:ph type="title"/>
          </p:nvPr>
        </p:nvSpPr>
        <p:spPr/>
        <p:txBody>
          <a:bodyPr/>
          <a:lstStyle/>
          <a:p>
            <a:r>
              <a:rPr lang="en-US" altLang="en-US"/>
              <a:t>The default script </a:t>
            </a:r>
            <a:r>
              <a:rPr lang="en-US" altLang="en-US" sz="1600"/>
              <a:t> (and a deeper understanding of the CPU emulator logic)</a:t>
            </a:r>
          </a:p>
        </p:txBody>
      </p:sp>
      <p:sp>
        <p:nvSpPr>
          <p:cNvPr id="71688" name="AutoShape 8">
            <a:extLst>
              <a:ext uri="{FF2B5EF4-FFF2-40B4-BE49-F238E27FC236}">
                <a16:creationId xmlns:a16="http://schemas.microsoft.com/office/drawing/2014/main" id="{D23B88B8-6191-0C43-976B-D0D160DC13CF}"/>
              </a:ext>
            </a:extLst>
          </p:cNvPr>
          <p:cNvSpPr>
            <a:spLocks noChangeArrowheads="1"/>
          </p:cNvSpPr>
          <p:nvPr/>
        </p:nvSpPr>
        <p:spPr bwMode="auto">
          <a:xfrm>
            <a:off x="5105400" y="2819400"/>
            <a:ext cx="3352800" cy="1295400"/>
          </a:xfrm>
          <a:prstGeom prst="wedgeRoundRectCallout">
            <a:avLst>
              <a:gd name="adj1" fmla="val -38634"/>
              <a:gd name="adj2" fmla="val -119486"/>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400" b="0"/>
              <a:t>If you load a program file without first loading a script file, the emulator loads a default script (always). The default script consists of a loop that runs the computer clock infinitely. </a:t>
            </a:r>
          </a:p>
        </p:txBody>
      </p:sp>
      <p:grpSp>
        <p:nvGrpSpPr>
          <p:cNvPr id="71702" name="Group 22">
            <a:extLst>
              <a:ext uri="{FF2B5EF4-FFF2-40B4-BE49-F238E27FC236}">
                <a16:creationId xmlns:a16="http://schemas.microsoft.com/office/drawing/2014/main" id="{93558BFD-A45E-5746-B0FD-625AB1028FB3}"/>
              </a:ext>
            </a:extLst>
          </p:cNvPr>
          <p:cNvGrpSpPr>
            <a:grpSpLocks/>
          </p:cNvGrpSpPr>
          <p:nvPr/>
        </p:nvGrpSpPr>
        <p:grpSpPr bwMode="auto">
          <a:xfrm>
            <a:off x="685800" y="1066800"/>
            <a:ext cx="3429000" cy="4038600"/>
            <a:chOff x="432" y="672"/>
            <a:chExt cx="2160" cy="2544"/>
          </a:xfrm>
        </p:grpSpPr>
        <p:sp>
          <p:nvSpPr>
            <p:cNvPr id="71698" name="AutoShape 18">
              <a:extLst>
                <a:ext uri="{FF2B5EF4-FFF2-40B4-BE49-F238E27FC236}">
                  <a16:creationId xmlns:a16="http://schemas.microsoft.com/office/drawing/2014/main" id="{0B8E3EC1-58F1-EC41-A74F-65FD7CF4D9F0}"/>
                </a:ext>
              </a:extLst>
            </p:cNvPr>
            <p:cNvSpPr>
              <a:spLocks noChangeArrowheads="1"/>
            </p:cNvSpPr>
            <p:nvPr/>
          </p:nvSpPr>
          <p:spPr bwMode="auto">
            <a:xfrm>
              <a:off x="432" y="2112"/>
              <a:ext cx="2160" cy="1104"/>
            </a:xfrm>
            <a:prstGeom prst="wedgeRoundRectCallout">
              <a:avLst>
                <a:gd name="adj1" fmla="val -24630"/>
                <a:gd name="adj2" fmla="val -148009"/>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400" b="0"/>
                <a:t>Note that these run/stop buttons don’t control the program.  They control the script, which controls the computer’s clock, which causes the computer hardware to fetch and execute the program’s instructions, one instruction per clock cycle.</a:t>
              </a:r>
            </a:p>
            <a:p>
              <a:endParaRPr lang="en-US" altLang="en-US" sz="1400" b="0"/>
            </a:p>
          </p:txBody>
        </p:sp>
        <p:sp>
          <p:nvSpPr>
            <p:cNvPr id="71699" name="Rectangle 19">
              <a:extLst>
                <a:ext uri="{FF2B5EF4-FFF2-40B4-BE49-F238E27FC236}">
                  <a16:creationId xmlns:a16="http://schemas.microsoft.com/office/drawing/2014/main" id="{27C00D0D-BC4C-464E-B500-CEF77F5D84BC}"/>
                </a:ext>
              </a:extLst>
            </p:cNvPr>
            <p:cNvSpPr>
              <a:spLocks noChangeArrowheads="1"/>
            </p:cNvSpPr>
            <p:nvPr/>
          </p:nvSpPr>
          <p:spPr bwMode="auto">
            <a:xfrm>
              <a:off x="576" y="672"/>
              <a:ext cx="912" cy="288"/>
            </a:xfrm>
            <a:prstGeom prst="rect">
              <a:avLst/>
            </a:prstGeom>
            <a:noFill/>
            <a:ln w="34925">
              <a:solidFill>
                <a:srgbClr val="CC3300"/>
              </a:solidFill>
              <a:miter lim="800000"/>
              <a:headEnd/>
              <a:tailEnd/>
            </a:ln>
            <a:effectLst/>
            <a:extLst>
              <a:ext uri="{909E8E84-426E-40DD-AFC4-6F175D3DCCD1}">
                <a14:hiddenFill xmlns:a14="http://schemas.microsoft.com/office/drawing/2010/main">
                  <a:solidFill>
                    <a:srgbClr val="FFFFC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68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717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8" grpId="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a:extLst>
              <a:ext uri="{FF2B5EF4-FFF2-40B4-BE49-F238E27FC236}">
                <a16:creationId xmlns:a16="http://schemas.microsoft.com/office/drawing/2014/main" id="{8E9C1A44-E3CE-2B45-9063-FCF7BF25795E}"/>
              </a:ext>
            </a:extLst>
          </p:cNvPr>
          <p:cNvSpPr>
            <a:spLocks noGrp="1" noChangeArrowheads="1"/>
          </p:cNvSpPr>
          <p:nvPr>
            <p:ph type="title"/>
          </p:nvPr>
        </p:nvSpPr>
        <p:spPr/>
        <p:txBody>
          <a:bodyPr/>
          <a:lstStyle/>
          <a:p>
            <a:r>
              <a:rPr lang="en-US" altLang="en-US"/>
              <a:t>CPU Emulator Tutorial</a:t>
            </a:r>
          </a:p>
        </p:txBody>
      </p:sp>
      <p:pic>
        <p:nvPicPr>
          <p:cNvPr id="140291" name="Picture 3" descr="G:\PPT Presentations\Pres Training\db Prepared Photos\monitor.jpg">
            <a:extLst>
              <a:ext uri="{FF2B5EF4-FFF2-40B4-BE49-F238E27FC236}">
                <a16:creationId xmlns:a16="http://schemas.microsoft.com/office/drawing/2014/main" id="{4AF646AE-7866-444B-BD3E-EB313ADF74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219200"/>
            <a:ext cx="4572000" cy="4724400"/>
          </a:xfrm>
          <a:prstGeom prst="rect">
            <a:avLst/>
          </a:prstGeom>
          <a:noFill/>
          <a:extLst>
            <a:ext uri="{909E8E84-426E-40DD-AFC4-6F175D3DCCD1}">
              <a14:hiddenFill xmlns:a14="http://schemas.microsoft.com/office/drawing/2010/main">
                <a:solidFill>
                  <a:srgbClr val="FFFFFF"/>
                </a:solidFill>
              </a14:hiddenFill>
            </a:ext>
          </a:extLst>
        </p:spPr>
      </p:pic>
      <p:sp>
        <p:nvSpPr>
          <p:cNvPr id="140292" name="Rectangle 4">
            <a:extLst>
              <a:ext uri="{FF2B5EF4-FFF2-40B4-BE49-F238E27FC236}">
                <a16:creationId xmlns:a16="http://schemas.microsoft.com/office/drawing/2014/main" id="{CE681FF9-9CB9-BC45-ABD6-AE9C8A692459}"/>
              </a:ext>
            </a:extLst>
          </p:cNvPr>
          <p:cNvSpPr>
            <a:spLocks noChangeArrowheads="1"/>
          </p:cNvSpPr>
          <p:nvPr/>
        </p:nvSpPr>
        <p:spPr bwMode="auto">
          <a:xfrm>
            <a:off x="3276600" y="2463800"/>
            <a:ext cx="2895600"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0513" indent="-290513">
              <a:spcBef>
                <a:spcPct val="40000"/>
              </a:spcBef>
              <a:buClr>
                <a:srgbClr val="006600"/>
              </a:buClr>
              <a:buSzPct val="110000"/>
              <a:buFont typeface="Wingdings" pitchFamily="2" charset="2"/>
              <a:buChar char="§"/>
              <a:tabLst>
                <a:tab pos="0" algn="l"/>
              </a:tabLst>
              <a:defRPr sz="2000">
                <a:solidFill>
                  <a:schemeClr val="tx1"/>
                </a:solidFill>
                <a:latin typeface="Arial" panose="020B0604020202020204" pitchFamily="34" charset="0"/>
                <a:cs typeface="Times New Roman (Hebrew)" panose="02020603050405020304" pitchFamily="18" charset="0"/>
              </a:defRPr>
            </a:lvl1pPr>
            <a:lvl2pPr marL="481013">
              <a:spcBef>
                <a:spcPct val="40000"/>
              </a:spcBef>
              <a:buClr>
                <a:srgbClr val="00007A"/>
              </a:buClr>
              <a:buSzPct val="125000"/>
              <a:buChar char="•"/>
              <a:tabLst>
                <a:tab pos="0" algn="l"/>
              </a:tabLst>
              <a:defRPr>
                <a:solidFill>
                  <a:schemeClr val="tx1"/>
                </a:solidFill>
                <a:latin typeface="Arial" panose="020B0604020202020204" pitchFamily="34" charset="0"/>
                <a:cs typeface="Times New Roman (Hebrew)" panose="02020603050405020304" pitchFamily="18" charset="0"/>
              </a:defRPr>
            </a:lvl2pPr>
            <a:lvl3pPr>
              <a:spcBef>
                <a:spcPct val="40000"/>
              </a:spcBef>
              <a:buClr>
                <a:srgbClr val="A50021"/>
              </a:buClr>
              <a:buSzPct val="110000"/>
              <a:buChar char="•"/>
              <a:tabLst>
                <a:tab pos="0" algn="l"/>
              </a:tabLst>
              <a:defRPr sz="1600">
                <a:solidFill>
                  <a:schemeClr val="tx1"/>
                </a:solidFill>
                <a:latin typeface="Arial" panose="020B0604020202020204" pitchFamily="34" charset="0"/>
                <a:cs typeface="Times New Roman (Hebrew)" panose="02020603050405020304" pitchFamily="18" charset="0"/>
              </a:defRPr>
            </a:lvl3pPr>
            <a:lvl4pPr>
              <a:spcBef>
                <a:spcPct val="40000"/>
              </a:spcBef>
              <a:buChar char="–"/>
              <a:tabLst>
                <a:tab pos="0" algn="l"/>
              </a:tabLst>
              <a:defRPr sz="1600">
                <a:solidFill>
                  <a:schemeClr val="tx1"/>
                </a:solidFill>
                <a:latin typeface="Arial" panose="020B0604020202020204" pitchFamily="34" charset="0"/>
                <a:cs typeface="Times New Roman (Hebrew)" panose="02020603050405020304" pitchFamily="18" charset="0"/>
              </a:defRPr>
            </a:lvl4pPr>
            <a:lvl5pPr>
              <a:spcBef>
                <a:spcPct val="40000"/>
              </a:spcBef>
              <a:buChar char="»"/>
              <a:tabLst>
                <a:tab pos="0" algn="l"/>
              </a:tabLst>
              <a:defRPr sz="1600">
                <a:solidFill>
                  <a:schemeClr val="tx1"/>
                </a:solidFill>
                <a:latin typeface="Arial" panose="020B0604020202020204" pitchFamily="34" charset="0"/>
                <a:cs typeface="Times New Roman (Hebrew)" panose="02020603050405020304" pitchFamily="18" charset="0"/>
              </a:defRPr>
            </a:lvl5pPr>
            <a:lvl6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6pPr>
            <a:lvl7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7pPr>
            <a:lvl8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8pPr>
            <a:lvl9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9pPr>
          </a:lstStyle>
          <a:p>
            <a:pPr algn="ctr">
              <a:spcBef>
                <a:spcPct val="60000"/>
              </a:spcBef>
              <a:buFont typeface="Wingdings" pitchFamily="2" charset="2"/>
              <a:buNone/>
            </a:pPr>
            <a:r>
              <a:rPr lang="en-US" altLang="he-IL" sz="2400" u="sng">
                <a:solidFill>
                  <a:srgbClr val="000066"/>
                </a:solidFill>
              </a:rPr>
              <a:t>Part V:</a:t>
            </a:r>
          </a:p>
          <a:p>
            <a:pPr algn="ctr">
              <a:spcBef>
                <a:spcPct val="60000"/>
              </a:spcBef>
              <a:buFont typeface="Wingdings" pitchFamily="2" charset="2"/>
              <a:buNone/>
            </a:pPr>
            <a:r>
              <a:rPr lang="en-US" altLang="he-IL" sz="2400">
                <a:solidFill>
                  <a:srgbClr val="000066"/>
                </a:solidFill>
              </a:rPr>
              <a:t>Debugging</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E9E18F84-D24E-ED4C-9A98-6CE1B95A45B0}"/>
              </a:ext>
            </a:extLst>
          </p:cNvPr>
          <p:cNvSpPr>
            <a:spLocks noGrp="1" noChangeArrowheads="1"/>
          </p:cNvSpPr>
          <p:nvPr>
            <p:ph type="title"/>
          </p:nvPr>
        </p:nvSpPr>
        <p:spPr/>
        <p:txBody>
          <a:bodyPr/>
          <a:lstStyle/>
          <a:p>
            <a:r>
              <a:rPr lang="en-US" altLang="en-US"/>
              <a:t>Breakpoints: a powerful debugging tool</a:t>
            </a:r>
          </a:p>
        </p:txBody>
      </p:sp>
      <p:sp>
        <p:nvSpPr>
          <p:cNvPr id="75790" name="Rectangle 14">
            <a:extLst>
              <a:ext uri="{FF2B5EF4-FFF2-40B4-BE49-F238E27FC236}">
                <a16:creationId xmlns:a16="http://schemas.microsoft.com/office/drawing/2014/main" id="{C7BCF43E-8E58-D641-9A4B-638C3500A826}"/>
              </a:ext>
            </a:extLst>
          </p:cNvPr>
          <p:cNvSpPr>
            <a:spLocks noChangeArrowheads="1"/>
          </p:cNvSpPr>
          <p:nvPr/>
        </p:nvSpPr>
        <p:spPr bwMode="auto">
          <a:xfrm>
            <a:off x="457200" y="1066800"/>
            <a:ext cx="83820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342900" indent="-342900" algn="r" rtl="1">
              <a:tabLst>
                <a:tab pos="0" algn="l"/>
              </a:tabLst>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tabLst>
                <a:tab pos="0" algn="l"/>
              </a:tabLst>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buClr>
                <a:srgbClr val="006600"/>
              </a:buClr>
              <a:buSzPct val="110000"/>
              <a:buFont typeface="Wingdings" pitchFamily="2" charset="2"/>
              <a:buNone/>
            </a:pPr>
            <a:r>
              <a:rPr lang="en-US" altLang="en-US" sz="1600" b="0" u="sng">
                <a:latin typeface="Arial" panose="020B0604020202020204" pitchFamily="34" charset="0"/>
              </a:rPr>
              <a:t>The CPU emulator continuously keeps track of:</a:t>
            </a:r>
          </a:p>
          <a:p>
            <a:pPr algn="l" rtl="0">
              <a:spcBef>
                <a:spcPct val="40000"/>
              </a:spcBef>
              <a:buClr>
                <a:srgbClr val="006600"/>
              </a:buClr>
              <a:buSzPct val="110000"/>
              <a:buFont typeface="Wingdings" pitchFamily="2" charset="2"/>
              <a:buChar char="§"/>
            </a:pPr>
            <a:r>
              <a:rPr lang="en-US" altLang="en-US" sz="1600">
                <a:solidFill>
                  <a:srgbClr val="00007A"/>
                </a:solidFill>
                <a:latin typeface="Courier New" panose="02070309020205020404" pitchFamily="49" charset="0"/>
                <a:cs typeface="Courier New" panose="02070309020205020404" pitchFamily="49" charset="0"/>
              </a:rPr>
              <a:t>A</a:t>
            </a:r>
            <a:r>
              <a:rPr lang="en-US" altLang="en-US" sz="1600" b="0">
                <a:latin typeface="Courier New" panose="02070309020205020404" pitchFamily="49" charset="0"/>
                <a:cs typeface="Courier New" panose="02070309020205020404" pitchFamily="49" charset="0"/>
              </a:rPr>
              <a:t>:</a:t>
            </a:r>
            <a:r>
              <a:rPr lang="en-US" altLang="en-US" sz="1600" b="0">
                <a:latin typeface="Arial" panose="020B0604020202020204" pitchFamily="34" charset="0"/>
              </a:rPr>
              <a:t>            value of the A register</a:t>
            </a:r>
          </a:p>
          <a:p>
            <a:pPr algn="l" rtl="0">
              <a:spcBef>
                <a:spcPct val="40000"/>
              </a:spcBef>
              <a:buClr>
                <a:srgbClr val="006600"/>
              </a:buClr>
              <a:buSzPct val="110000"/>
              <a:buFont typeface="Wingdings" pitchFamily="2" charset="2"/>
              <a:buChar char="§"/>
            </a:pPr>
            <a:r>
              <a:rPr lang="en-US" altLang="en-US" sz="1600">
                <a:solidFill>
                  <a:srgbClr val="00007A"/>
                </a:solidFill>
                <a:latin typeface="Courier New" panose="02070309020205020404" pitchFamily="49" charset="0"/>
                <a:cs typeface="Courier New" panose="02070309020205020404" pitchFamily="49" charset="0"/>
              </a:rPr>
              <a:t>D</a:t>
            </a:r>
            <a:r>
              <a:rPr lang="en-US" altLang="en-US" sz="1600" b="0">
                <a:latin typeface="Courier New" panose="02070309020205020404" pitchFamily="49" charset="0"/>
                <a:cs typeface="Courier New" panose="02070309020205020404" pitchFamily="49" charset="0"/>
              </a:rPr>
              <a:t>:</a:t>
            </a:r>
            <a:r>
              <a:rPr lang="en-US" altLang="en-US" sz="1600" b="0">
                <a:latin typeface="Arial" panose="020B0604020202020204" pitchFamily="34" charset="0"/>
              </a:rPr>
              <a:t>            value of the D register</a:t>
            </a:r>
          </a:p>
          <a:p>
            <a:pPr algn="l" rtl="0">
              <a:spcBef>
                <a:spcPct val="40000"/>
              </a:spcBef>
              <a:buClr>
                <a:srgbClr val="006600"/>
              </a:buClr>
              <a:buSzPct val="110000"/>
              <a:buFont typeface="Wingdings" pitchFamily="2" charset="2"/>
              <a:buChar char="§"/>
            </a:pPr>
            <a:r>
              <a:rPr lang="en-US" altLang="en-US" sz="1600">
                <a:solidFill>
                  <a:srgbClr val="00007A"/>
                </a:solidFill>
                <a:latin typeface="Courier New" panose="02070309020205020404" pitchFamily="49" charset="0"/>
                <a:cs typeface="Courier New" panose="02070309020205020404" pitchFamily="49" charset="0"/>
              </a:rPr>
              <a:t>PC</a:t>
            </a:r>
            <a:r>
              <a:rPr lang="en-US" altLang="en-US" sz="1600" b="0">
                <a:latin typeface="Courier New" panose="02070309020205020404" pitchFamily="49" charset="0"/>
                <a:cs typeface="Courier New" panose="02070309020205020404" pitchFamily="49" charset="0"/>
              </a:rPr>
              <a:t>:</a:t>
            </a:r>
            <a:r>
              <a:rPr lang="en-US" altLang="en-US" sz="1600" b="0">
                <a:latin typeface="Arial" panose="020B0604020202020204" pitchFamily="34" charset="0"/>
              </a:rPr>
              <a:t>          value of the Program Counter</a:t>
            </a:r>
          </a:p>
          <a:p>
            <a:pPr algn="l" rtl="0">
              <a:spcBef>
                <a:spcPct val="40000"/>
              </a:spcBef>
              <a:buClr>
                <a:srgbClr val="006600"/>
              </a:buClr>
              <a:buSzPct val="110000"/>
              <a:buFont typeface="Wingdings" pitchFamily="2" charset="2"/>
              <a:buChar char="§"/>
            </a:pPr>
            <a:r>
              <a:rPr lang="en-US" altLang="en-US" sz="1600">
                <a:solidFill>
                  <a:srgbClr val="00007A"/>
                </a:solidFill>
                <a:latin typeface="Courier New" panose="02070309020205020404" pitchFamily="49" charset="0"/>
                <a:cs typeface="Courier New" panose="02070309020205020404" pitchFamily="49" charset="0"/>
              </a:rPr>
              <a:t>RAM[i]</a:t>
            </a:r>
            <a:r>
              <a:rPr lang="en-US" altLang="en-US" sz="1600" b="0">
                <a:latin typeface="Courier New" panose="02070309020205020404" pitchFamily="49" charset="0"/>
                <a:cs typeface="Courier New" panose="02070309020205020404" pitchFamily="49" charset="0"/>
              </a:rPr>
              <a:t>:</a:t>
            </a:r>
            <a:r>
              <a:rPr lang="en-US" altLang="en-US" sz="1600" b="0">
                <a:latin typeface="Arial" panose="020B0604020202020204" pitchFamily="34" charset="0"/>
              </a:rPr>
              <a:t>  value of any RAM location</a:t>
            </a:r>
          </a:p>
          <a:p>
            <a:pPr algn="l" rtl="0">
              <a:spcBef>
                <a:spcPct val="40000"/>
              </a:spcBef>
              <a:buClr>
                <a:srgbClr val="006600"/>
              </a:buClr>
              <a:buSzPct val="110000"/>
              <a:buFont typeface="Wingdings" pitchFamily="2" charset="2"/>
              <a:buChar char="§"/>
            </a:pPr>
            <a:r>
              <a:rPr lang="en-US" altLang="en-US" sz="1600">
                <a:solidFill>
                  <a:srgbClr val="00007A"/>
                </a:solidFill>
                <a:latin typeface="Courier New" panose="02070309020205020404" pitchFamily="49" charset="0"/>
                <a:cs typeface="Courier New" panose="02070309020205020404" pitchFamily="49" charset="0"/>
              </a:rPr>
              <a:t>time</a:t>
            </a:r>
            <a:r>
              <a:rPr lang="en-US" altLang="en-US" sz="1600" b="0">
                <a:latin typeface="Courier New" panose="02070309020205020404" pitchFamily="49" charset="0"/>
                <a:cs typeface="Courier New" panose="02070309020205020404" pitchFamily="49" charset="0"/>
              </a:rPr>
              <a:t>:</a:t>
            </a:r>
            <a:r>
              <a:rPr lang="en-US" altLang="en-US" sz="1600" b="0">
                <a:latin typeface="Arial" panose="020B0604020202020204" pitchFamily="34" charset="0"/>
              </a:rPr>
              <a:t>      number of elapsed machine cycles</a:t>
            </a:r>
          </a:p>
          <a:p>
            <a:pPr algn="l" rtl="0">
              <a:spcBef>
                <a:spcPct val="40000"/>
              </a:spcBef>
              <a:buClr>
                <a:srgbClr val="006600"/>
              </a:buClr>
              <a:buSzPct val="110000"/>
              <a:buFont typeface="Wingdings" pitchFamily="2" charset="2"/>
              <a:buChar char="§"/>
            </a:pPr>
            <a:endParaRPr lang="en-US" altLang="en-US" sz="1600" b="0">
              <a:latin typeface="Arial" panose="020B0604020202020204" pitchFamily="34" charset="0"/>
            </a:endParaRPr>
          </a:p>
          <a:p>
            <a:pPr algn="l" rtl="0">
              <a:spcBef>
                <a:spcPct val="40000"/>
              </a:spcBef>
              <a:buClr>
                <a:srgbClr val="006600"/>
              </a:buClr>
              <a:buSzPct val="110000"/>
              <a:buFont typeface="Wingdings" pitchFamily="2" charset="2"/>
              <a:buNone/>
            </a:pPr>
            <a:r>
              <a:rPr lang="en-US" altLang="en-US" sz="1600" b="0" u="sng">
                <a:latin typeface="Arial" panose="020B0604020202020204" pitchFamily="34" charset="0"/>
              </a:rPr>
              <a:t>Breakpoints:</a:t>
            </a:r>
          </a:p>
          <a:p>
            <a:pPr algn="l" rtl="0">
              <a:spcBef>
                <a:spcPct val="40000"/>
              </a:spcBef>
              <a:buClr>
                <a:srgbClr val="006600"/>
              </a:buClr>
              <a:buSzPct val="110000"/>
              <a:buFont typeface="Wingdings" pitchFamily="2" charset="2"/>
              <a:buChar char="§"/>
            </a:pPr>
            <a:r>
              <a:rPr lang="en-US" altLang="en-US" sz="1600" b="0">
                <a:latin typeface="Arial" panose="020B0604020202020204" pitchFamily="34" charset="0"/>
              </a:rPr>
              <a:t>A breakpoint is a pair &lt;variable, value&gt; where variable is one of </a:t>
            </a:r>
            <a:br>
              <a:rPr lang="en-US" altLang="en-US" sz="1600" b="0">
                <a:latin typeface="Arial" panose="020B0604020202020204" pitchFamily="34" charset="0"/>
              </a:rPr>
            </a:br>
            <a:r>
              <a:rPr lang="en-US" altLang="en-US" sz="1600" b="0">
                <a:latin typeface="Arial" panose="020B0604020202020204" pitchFamily="34" charset="0"/>
              </a:rPr>
              <a:t>{</a:t>
            </a:r>
            <a:r>
              <a:rPr lang="en-US" altLang="en-US" sz="1600">
                <a:latin typeface="Courier New" panose="02070309020205020404" pitchFamily="49" charset="0"/>
                <a:cs typeface="Courier New" panose="02070309020205020404" pitchFamily="49" charset="0"/>
              </a:rPr>
              <a:t>A</a:t>
            </a:r>
            <a:r>
              <a:rPr lang="en-US" altLang="en-US" sz="1600" b="0">
                <a:latin typeface="Arial" panose="020B0604020202020204" pitchFamily="34" charset="0"/>
              </a:rPr>
              <a:t>, </a:t>
            </a:r>
            <a:r>
              <a:rPr lang="en-US" altLang="en-US" sz="1600">
                <a:latin typeface="Courier New" panose="02070309020205020404" pitchFamily="49" charset="0"/>
                <a:cs typeface="Courier New" panose="02070309020205020404" pitchFamily="49" charset="0"/>
              </a:rPr>
              <a:t>D</a:t>
            </a:r>
            <a:r>
              <a:rPr lang="en-US" altLang="en-US" sz="1600" b="0">
                <a:latin typeface="Arial" panose="020B0604020202020204" pitchFamily="34" charset="0"/>
              </a:rPr>
              <a:t>, </a:t>
            </a:r>
            <a:r>
              <a:rPr lang="en-US" altLang="en-US" sz="1600">
                <a:latin typeface="Courier New" panose="02070309020205020404" pitchFamily="49" charset="0"/>
                <a:cs typeface="Courier New" panose="02070309020205020404" pitchFamily="49" charset="0"/>
              </a:rPr>
              <a:t>PC</a:t>
            </a:r>
            <a:r>
              <a:rPr lang="en-US" altLang="en-US" sz="1600" b="0">
                <a:latin typeface="Arial" panose="020B0604020202020204" pitchFamily="34" charset="0"/>
              </a:rPr>
              <a:t>, </a:t>
            </a:r>
            <a:r>
              <a:rPr lang="en-US" altLang="en-US" sz="1600">
                <a:latin typeface="Courier New" panose="02070309020205020404" pitchFamily="49" charset="0"/>
                <a:cs typeface="Courier New" panose="02070309020205020404" pitchFamily="49" charset="0"/>
              </a:rPr>
              <a:t>RAM[i]</a:t>
            </a:r>
            <a:r>
              <a:rPr lang="en-US" altLang="en-US" sz="1600" b="0">
                <a:latin typeface="Arial" panose="020B0604020202020204" pitchFamily="34" charset="0"/>
                <a:cs typeface="Arial" panose="020B0604020202020204" pitchFamily="34" charset="0"/>
              </a:rPr>
              <a:t>, </a:t>
            </a:r>
            <a:r>
              <a:rPr lang="en-US" altLang="en-US" sz="1600">
                <a:latin typeface="Courier New" panose="02070309020205020404" pitchFamily="49" charset="0"/>
                <a:cs typeface="Courier New" panose="02070309020205020404" pitchFamily="49" charset="0"/>
              </a:rPr>
              <a:t>time</a:t>
            </a:r>
            <a:r>
              <a:rPr lang="en-US" altLang="en-US" sz="1600" b="0">
                <a:latin typeface="Arial" panose="020B0604020202020204" pitchFamily="34" charset="0"/>
              </a:rPr>
              <a:t>} and </a:t>
            </a:r>
            <a:r>
              <a:rPr lang="en-US" altLang="en-US" sz="1600">
                <a:latin typeface="Courier New" panose="02070309020205020404" pitchFamily="49" charset="0"/>
                <a:cs typeface="Courier New" panose="02070309020205020404" pitchFamily="49" charset="0"/>
              </a:rPr>
              <a:t>i</a:t>
            </a:r>
            <a:r>
              <a:rPr lang="en-US" altLang="en-US" sz="1600" b="0">
                <a:latin typeface="Arial" panose="020B0604020202020204" pitchFamily="34" charset="0"/>
              </a:rPr>
              <a:t> is between 0 and 32K.</a:t>
            </a:r>
          </a:p>
          <a:p>
            <a:pPr algn="l" rtl="0">
              <a:spcBef>
                <a:spcPct val="40000"/>
              </a:spcBef>
              <a:buClr>
                <a:srgbClr val="006600"/>
              </a:buClr>
              <a:buSzPct val="110000"/>
              <a:buFont typeface="Wingdings" pitchFamily="2" charset="2"/>
              <a:buChar char="§"/>
            </a:pPr>
            <a:r>
              <a:rPr lang="en-US" altLang="en-US" sz="1600" b="0">
                <a:latin typeface="Arial" panose="020B0604020202020204" pitchFamily="34" charset="0"/>
              </a:rPr>
              <a:t>Breakpoints can be declared either interactively, or via script commands.</a:t>
            </a:r>
          </a:p>
          <a:p>
            <a:pPr algn="l" rtl="0">
              <a:spcBef>
                <a:spcPct val="40000"/>
              </a:spcBef>
              <a:buClr>
                <a:srgbClr val="006600"/>
              </a:buClr>
              <a:buSzPct val="110000"/>
              <a:buFont typeface="Wingdings" pitchFamily="2" charset="2"/>
              <a:buChar char="§"/>
            </a:pPr>
            <a:r>
              <a:rPr lang="en-US" altLang="en-US" sz="1600" b="0">
                <a:latin typeface="Arial" panose="020B0604020202020204" pitchFamily="34" charset="0"/>
              </a:rPr>
              <a:t>For each declared breakpoint, when the variable reaches the value, the </a:t>
            </a:r>
            <a:br>
              <a:rPr lang="en-US" altLang="en-US" sz="1600" b="0">
                <a:latin typeface="Arial" panose="020B0604020202020204" pitchFamily="34" charset="0"/>
              </a:rPr>
            </a:br>
            <a:r>
              <a:rPr lang="en-US" altLang="en-US" sz="1600" b="0">
                <a:latin typeface="Arial" panose="020B0604020202020204" pitchFamily="34" charset="0"/>
              </a:rPr>
              <a:t>emulator pauses the program’s execution with a proper message.</a:t>
            </a:r>
          </a:p>
          <a:p>
            <a:pPr algn="l" rtl="0">
              <a:spcBef>
                <a:spcPct val="40000"/>
              </a:spcBef>
              <a:buClr>
                <a:srgbClr val="006600"/>
              </a:buClr>
              <a:buSzPct val="110000"/>
              <a:buFont typeface="Wingdings" pitchFamily="2" charset="2"/>
              <a:buChar char="§"/>
            </a:pPr>
            <a:endParaRPr lang="en-US" altLang="en-US" sz="1600" b="0">
              <a:latin typeface="Arial" panose="020B06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8525" name="Picture 45">
            <a:extLst>
              <a:ext uri="{FF2B5EF4-FFF2-40B4-BE49-F238E27FC236}">
                <a16:creationId xmlns:a16="http://schemas.microsoft.com/office/drawing/2014/main" id="{15F5A583-9536-CE49-B5C3-DF7E8E8F04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685800"/>
            <a:ext cx="8229600" cy="5867400"/>
          </a:xfrm>
          <a:prstGeom prst="rect">
            <a:avLst/>
          </a:prstGeom>
          <a:noFill/>
          <a:ln>
            <a:noFill/>
          </a:ln>
          <a:effectLst/>
          <a:extLst>
            <a:ext uri="{909E8E84-426E-40DD-AFC4-6F175D3DCCD1}">
              <a14:hiddenFill xmlns:a14="http://schemas.microsoft.com/office/drawing/2010/main">
                <a:solidFill>
                  <a:srgbClr val="FFFFC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8498" name="Rectangle 18">
            <a:extLst>
              <a:ext uri="{FF2B5EF4-FFF2-40B4-BE49-F238E27FC236}">
                <a16:creationId xmlns:a16="http://schemas.microsoft.com/office/drawing/2014/main" id="{801EF1B7-4D6E-134F-AE39-5B0D4754B4E2}"/>
              </a:ext>
            </a:extLst>
          </p:cNvPr>
          <p:cNvSpPr>
            <a:spLocks noChangeArrowheads="1"/>
          </p:cNvSpPr>
          <p:nvPr/>
        </p:nvSpPr>
        <p:spPr bwMode="auto">
          <a:xfrm>
            <a:off x="457200" y="152400"/>
            <a:ext cx="8332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b"/>
          <a:lstStyle>
            <a:lvl1pPr algn="r" rtl="1">
              <a:defRPr sz="2400">
                <a:solidFill>
                  <a:schemeClr val="tx1"/>
                </a:solidFill>
                <a:latin typeface="Times New Roman" panose="02020603050405020304" pitchFamily="18" charset="0"/>
                <a:cs typeface="Times New Roman (Hebrew)" panose="02020603050405020304" pitchFamily="18" charset="0"/>
              </a:defRPr>
            </a:lvl1pPr>
            <a:lvl2pPr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marL="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9144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1371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18288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r>
              <a:rPr lang="en-US" altLang="en-US" b="0">
                <a:solidFill>
                  <a:schemeClr val="tx2"/>
                </a:solidFill>
                <a:latin typeface="Arial" panose="020B0604020202020204" pitchFamily="34" charset="0"/>
                <a:cs typeface="Arial" panose="020B0604020202020204" pitchFamily="34" charset="0"/>
              </a:rPr>
              <a:t>Breakpoints declaration</a:t>
            </a:r>
          </a:p>
        </p:txBody>
      </p:sp>
      <p:pic>
        <p:nvPicPr>
          <p:cNvPr id="148517" name="Picture 37">
            <a:extLst>
              <a:ext uri="{FF2B5EF4-FFF2-40B4-BE49-F238E27FC236}">
                <a16:creationId xmlns:a16="http://schemas.microsoft.com/office/drawing/2014/main" id="{85BA80A7-AAA1-E94E-9293-F270AA4B8A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2057400"/>
            <a:ext cx="2000250" cy="3905250"/>
          </a:xfrm>
          <a:prstGeom prst="rect">
            <a:avLst/>
          </a:prstGeom>
          <a:noFill/>
          <a:ln>
            <a:noFill/>
          </a:ln>
          <a:effectLst/>
          <a:extLst>
            <a:ext uri="{909E8E84-426E-40DD-AFC4-6F175D3DCCD1}">
              <a14:hiddenFill xmlns:a14="http://schemas.microsoft.com/office/drawing/2010/main">
                <a:solidFill>
                  <a:srgbClr val="FFFFC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8518" name="AutoShape 38">
            <a:extLst>
              <a:ext uri="{FF2B5EF4-FFF2-40B4-BE49-F238E27FC236}">
                <a16:creationId xmlns:a16="http://schemas.microsoft.com/office/drawing/2014/main" id="{0DDC2E89-004D-5F41-B1EE-7664057787D7}"/>
              </a:ext>
            </a:extLst>
          </p:cNvPr>
          <p:cNvSpPr>
            <a:spLocks noChangeArrowheads="1"/>
          </p:cNvSpPr>
          <p:nvPr/>
        </p:nvSpPr>
        <p:spPr bwMode="auto">
          <a:xfrm>
            <a:off x="1219200" y="2286000"/>
            <a:ext cx="1219200" cy="838200"/>
          </a:xfrm>
          <a:prstGeom prst="wedgeRoundRectCallout">
            <a:avLst>
              <a:gd name="adj1" fmla="val 66407"/>
              <a:gd name="adj2" fmla="val -136366"/>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400" b="0"/>
              <a:t>1. Open the breakpoints panel</a:t>
            </a:r>
          </a:p>
        </p:txBody>
      </p:sp>
      <p:sp>
        <p:nvSpPr>
          <p:cNvPr id="148519" name="Oval 39">
            <a:extLst>
              <a:ext uri="{FF2B5EF4-FFF2-40B4-BE49-F238E27FC236}">
                <a16:creationId xmlns:a16="http://schemas.microsoft.com/office/drawing/2014/main" id="{162C2405-5DD2-C144-A8FF-7C6F8BBC2F1A}"/>
              </a:ext>
            </a:extLst>
          </p:cNvPr>
          <p:cNvSpPr>
            <a:spLocks noChangeArrowheads="1"/>
          </p:cNvSpPr>
          <p:nvPr/>
        </p:nvSpPr>
        <p:spPr bwMode="auto">
          <a:xfrm>
            <a:off x="2590800" y="990600"/>
            <a:ext cx="457200" cy="533400"/>
          </a:xfrm>
          <a:prstGeom prst="ellipse">
            <a:avLst/>
          </a:prstGeom>
          <a:noFill/>
          <a:ln w="38100">
            <a:solidFill>
              <a:srgbClr val="CC3300"/>
            </a:solidFill>
            <a:round/>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520" name="AutoShape 40">
            <a:extLst>
              <a:ext uri="{FF2B5EF4-FFF2-40B4-BE49-F238E27FC236}">
                <a16:creationId xmlns:a16="http://schemas.microsoft.com/office/drawing/2014/main" id="{A5CC9AB1-1E3D-C44C-9D92-9730F8E19EFD}"/>
              </a:ext>
            </a:extLst>
          </p:cNvPr>
          <p:cNvSpPr>
            <a:spLocks noChangeArrowheads="1"/>
          </p:cNvSpPr>
          <p:nvPr/>
        </p:nvSpPr>
        <p:spPr bwMode="auto">
          <a:xfrm>
            <a:off x="1143000" y="4724400"/>
            <a:ext cx="1447800" cy="838200"/>
          </a:xfrm>
          <a:prstGeom prst="wedgeRoundRectCallout">
            <a:avLst>
              <a:gd name="adj1" fmla="val 95833"/>
              <a:gd name="adj2" fmla="val 57199"/>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400" b="0"/>
              <a:t>3. Add, delete, or update breakpoints</a:t>
            </a:r>
          </a:p>
        </p:txBody>
      </p:sp>
      <p:grpSp>
        <p:nvGrpSpPr>
          <p:cNvPr id="148521" name="Group 41">
            <a:extLst>
              <a:ext uri="{FF2B5EF4-FFF2-40B4-BE49-F238E27FC236}">
                <a16:creationId xmlns:a16="http://schemas.microsoft.com/office/drawing/2014/main" id="{F74598F7-62BE-0644-91D2-A88986CB1249}"/>
              </a:ext>
            </a:extLst>
          </p:cNvPr>
          <p:cNvGrpSpPr>
            <a:grpSpLocks/>
          </p:cNvGrpSpPr>
          <p:nvPr/>
        </p:nvGrpSpPr>
        <p:grpSpPr bwMode="auto">
          <a:xfrm>
            <a:off x="2971800" y="1447800"/>
            <a:ext cx="4648200" cy="1600200"/>
            <a:chOff x="1872" y="912"/>
            <a:chExt cx="2928" cy="1008"/>
          </a:xfrm>
        </p:grpSpPr>
        <p:sp>
          <p:nvSpPr>
            <p:cNvPr id="148522" name="Rectangle 42">
              <a:extLst>
                <a:ext uri="{FF2B5EF4-FFF2-40B4-BE49-F238E27FC236}">
                  <a16:creationId xmlns:a16="http://schemas.microsoft.com/office/drawing/2014/main" id="{80E7CC2B-90D8-E24B-A79E-C2A96AB5DEBD}"/>
                </a:ext>
              </a:extLst>
            </p:cNvPr>
            <p:cNvSpPr>
              <a:spLocks noChangeArrowheads="1"/>
            </p:cNvSpPr>
            <p:nvPr/>
          </p:nvSpPr>
          <p:spPr bwMode="auto">
            <a:xfrm>
              <a:off x="1872" y="1440"/>
              <a:ext cx="1152" cy="480"/>
            </a:xfrm>
            <a:prstGeom prst="rect">
              <a:avLst/>
            </a:prstGeom>
            <a:noFill/>
            <a:ln w="34925">
              <a:solidFill>
                <a:srgbClr val="CC3300"/>
              </a:solidFill>
              <a:miter lim="800000"/>
              <a:headEnd/>
              <a:tailEnd/>
            </a:ln>
            <a:effectLst/>
            <a:extLst>
              <a:ext uri="{909E8E84-426E-40DD-AFC4-6F175D3DCCD1}">
                <a14:hiddenFill xmlns:a14="http://schemas.microsoft.com/office/drawing/2010/main">
                  <a:solidFill>
                    <a:srgbClr val="FFFFC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523" name="AutoShape 43">
              <a:extLst>
                <a:ext uri="{FF2B5EF4-FFF2-40B4-BE49-F238E27FC236}">
                  <a16:creationId xmlns:a16="http://schemas.microsoft.com/office/drawing/2014/main" id="{9E3AF45F-756F-8246-9224-D43475045038}"/>
                </a:ext>
              </a:extLst>
            </p:cNvPr>
            <p:cNvSpPr>
              <a:spLocks noChangeArrowheads="1"/>
            </p:cNvSpPr>
            <p:nvPr/>
          </p:nvSpPr>
          <p:spPr bwMode="auto">
            <a:xfrm>
              <a:off x="3840" y="912"/>
              <a:ext cx="960" cy="528"/>
            </a:xfrm>
            <a:prstGeom prst="wedgeRoundRectCallout">
              <a:avLst>
                <a:gd name="adj1" fmla="val -124273"/>
                <a:gd name="adj2" fmla="val 83903"/>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400" b="0"/>
                <a:t>2. Previously-declared breakpoints</a:t>
              </a:r>
            </a:p>
          </p:txBody>
        </p:sp>
      </p:grpSp>
      <p:sp>
        <p:nvSpPr>
          <p:cNvPr id="148524" name="Oval 44">
            <a:extLst>
              <a:ext uri="{FF2B5EF4-FFF2-40B4-BE49-F238E27FC236}">
                <a16:creationId xmlns:a16="http://schemas.microsoft.com/office/drawing/2014/main" id="{0A1570FB-FAED-0742-8827-64CFEC68DC27}"/>
              </a:ext>
            </a:extLst>
          </p:cNvPr>
          <p:cNvSpPr>
            <a:spLocks noChangeArrowheads="1"/>
          </p:cNvSpPr>
          <p:nvPr/>
        </p:nvSpPr>
        <p:spPr bwMode="auto">
          <a:xfrm>
            <a:off x="3276600" y="5334000"/>
            <a:ext cx="457200" cy="533400"/>
          </a:xfrm>
          <a:prstGeom prst="ellipse">
            <a:avLst/>
          </a:prstGeom>
          <a:noFill/>
          <a:ln w="38100">
            <a:solidFill>
              <a:srgbClr val="CC3300"/>
            </a:solidFill>
            <a:round/>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851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4851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4851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4852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4852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485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518" grpId="0" animBg="1" autoUpdateAnimBg="0"/>
      <p:bldP spid="148520" grpId="0" animBg="1"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0553" name="Picture 25">
            <a:extLst>
              <a:ext uri="{FF2B5EF4-FFF2-40B4-BE49-F238E27FC236}">
                <a16:creationId xmlns:a16="http://schemas.microsoft.com/office/drawing/2014/main" id="{C6B7A613-2201-744A-8FC7-A90E0D86B5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685800"/>
            <a:ext cx="8229600" cy="5867400"/>
          </a:xfrm>
          <a:prstGeom prst="rect">
            <a:avLst/>
          </a:prstGeom>
          <a:noFill/>
          <a:ln>
            <a:noFill/>
          </a:ln>
          <a:effectLst/>
          <a:extLst>
            <a:ext uri="{909E8E84-426E-40DD-AFC4-6F175D3DCCD1}">
              <a14:hiddenFill xmlns:a14="http://schemas.microsoft.com/office/drawing/2010/main">
                <a:solidFill>
                  <a:srgbClr val="FFFFC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0543" name="Rectangle 15">
            <a:extLst>
              <a:ext uri="{FF2B5EF4-FFF2-40B4-BE49-F238E27FC236}">
                <a16:creationId xmlns:a16="http://schemas.microsoft.com/office/drawing/2014/main" id="{93505074-235E-534E-BBDB-B1C68DB17309}"/>
              </a:ext>
            </a:extLst>
          </p:cNvPr>
          <p:cNvSpPr>
            <a:spLocks noChangeArrowheads="1"/>
          </p:cNvSpPr>
          <p:nvPr/>
        </p:nvSpPr>
        <p:spPr bwMode="auto">
          <a:xfrm>
            <a:off x="457200" y="152400"/>
            <a:ext cx="8332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b"/>
          <a:lstStyle>
            <a:lvl1pPr algn="r" rtl="1">
              <a:defRPr sz="2400">
                <a:solidFill>
                  <a:schemeClr val="tx1"/>
                </a:solidFill>
                <a:latin typeface="Times New Roman" panose="02020603050405020304" pitchFamily="18" charset="0"/>
                <a:cs typeface="Times New Roman (Hebrew)" panose="02020603050405020304" pitchFamily="18" charset="0"/>
              </a:defRPr>
            </a:lvl1pPr>
            <a:lvl2pPr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marL="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9144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1371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18288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r>
              <a:rPr lang="en-US" altLang="en-US" b="0">
                <a:solidFill>
                  <a:schemeClr val="tx2"/>
                </a:solidFill>
                <a:latin typeface="Arial" panose="020B0604020202020204" pitchFamily="34" charset="0"/>
                <a:cs typeface="Arial" panose="020B0604020202020204" pitchFamily="34" charset="0"/>
              </a:rPr>
              <a:t>Breakpoints declaration</a:t>
            </a:r>
          </a:p>
        </p:txBody>
      </p:sp>
      <p:pic>
        <p:nvPicPr>
          <p:cNvPr id="150545" name="Picture 17">
            <a:extLst>
              <a:ext uri="{FF2B5EF4-FFF2-40B4-BE49-F238E27FC236}">
                <a16:creationId xmlns:a16="http://schemas.microsoft.com/office/drawing/2014/main" id="{41504095-676A-7345-9177-FBC288DA07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2057400"/>
            <a:ext cx="2000250" cy="3905250"/>
          </a:xfrm>
          <a:prstGeom prst="rect">
            <a:avLst/>
          </a:prstGeom>
          <a:noFill/>
          <a:ln>
            <a:noFill/>
          </a:ln>
          <a:effectLst/>
          <a:extLst>
            <a:ext uri="{909E8E84-426E-40DD-AFC4-6F175D3DCCD1}">
              <a14:hiddenFill xmlns:a14="http://schemas.microsoft.com/office/drawing/2010/main">
                <a:solidFill>
                  <a:srgbClr val="FFFFC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0546" name="Rectangle 18">
            <a:extLst>
              <a:ext uri="{FF2B5EF4-FFF2-40B4-BE49-F238E27FC236}">
                <a16:creationId xmlns:a16="http://schemas.microsoft.com/office/drawing/2014/main" id="{0F8B3362-FC0E-8B43-A264-584838A9B414}"/>
              </a:ext>
            </a:extLst>
          </p:cNvPr>
          <p:cNvSpPr>
            <a:spLocks noChangeArrowheads="1"/>
          </p:cNvSpPr>
          <p:nvPr/>
        </p:nvSpPr>
        <p:spPr bwMode="auto">
          <a:xfrm>
            <a:off x="2971800" y="2286000"/>
            <a:ext cx="1828800" cy="762000"/>
          </a:xfrm>
          <a:prstGeom prst="rect">
            <a:avLst/>
          </a:prstGeom>
          <a:noFill/>
          <a:ln w="34925">
            <a:solidFill>
              <a:srgbClr val="CC3300"/>
            </a:solidFill>
            <a:miter lim="800000"/>
            <a:headEnd/>
            <a:tailEnd/>
          </a:ln>
          <a:effectLst/>
          <a:extLst>
            <a:ext uri="{909E8E84-426E-40DD-AFC4-6F175D3DCCD1}">
              <a14:hiddenFill xmlns:a14="http://schemas.microsoft.com/office/drawing/2010/main">
                <a:solidFill>
                  <a:srgbClr val="FFFFC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150547" name="Picture 19">
            <a:extLst>
              <a:ext uri="{FF2B5EF4-FFF2-40B4-BE49-F238E27FC236}">
                <a16:creationId xmlns:a16="http://schemas.microsoft.com/office/drawing/2014/main" id="{5745C0F4-F9BE-5A4F-84E0-D716661915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3276600"/>
            <a:ext cx="3048000" cy="1524000"/>
          </a:xfrm>
          <a:prstGeom prst="rect">
            <a:avLst/>
          </a:prstGeom>
          <a:noFill/>
          <a:ln>
            <a:noFill/>
          </a:ln>
          <a:effectLst/>
          <a:extLst>
            <a:ext uri="{909E8E84-426E-40DD-AFC4-6F175D3DCCD1}">
              <a14:hiddenFill xmlns:a14="http://schemas.microsoft.com/office/drawing/2010/main">
                <a:solidFill>
                  <a:srgbClr val="FFFFC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0548" name="Oval 20">
            <a:extLst>
              <a:ext uri="{FF2B5EF4-FFF2-40B4-BE49-F238E27FC236}">
                <a16:creationId xmlns:a16="http://schemas.microsoft.com/office/drawing/2014/main" id="{234F3865-7274-8145-9836-51B86BCC4049}"/>
              </a:ext>
            </a:extLst>
          </p:cNvPr>
          <p:cNvSpPr>
            <a:spLocks noChangeArrowheads="1"/>
          </p:cNvSpPr>
          <p:nvPr/>
        </p:nvSpPr>
        <p:spPr bwMode="auto">
          <a:xfrm>
            <a:off x="3276600" y="5334000"/>
            <a:ext cx="457200" cy="533400"/>
          </a:xfrm>
          <a:prstGeom prst="ellipse">
            <a:avLst/>
          </a:prstGeom>
          <a:noFill/>
          <a:ln w="38100">
            <a:solidFill>
              <a:srgbClr val="CC3300"/>
            </a:solidFill>
            <a:round/>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0549" name="AutoShape 21">
            <a:extLst>
              <a:ext uri="{FF2B5EF4-FFF2-40B4-BE49-F238E27FC236}">
                <a16:creationId xmlns:a16="http://schemas.microsoft.com/office/drawing/2014/main" id="{13283CBA-F665-E849-828A-D8A13DA9C93E}"/>
              </a:ext>
            </a:extLst>
          </p:cNvPr>
          <p:cNvSpPr>
            <a:spLocks noChangeArrowheads="1"/>
          </p:cNvSpPr>
          <p:nvPr/>
        </p:nvSpPr>
        <p:spPr bwMode="auto">
          <a:xfrm>
            <a:off x="1447800" y="3962400"/>
            <a:ext cx="1828800" cy="838200"/>
          </a:xfrm>
          <a:prstGeom prst="wedgeRoundRectCallout">
            <a:avLst>
              <a:gd name="adj1" fmla="val 106944"/>
              <a:gd name="adj2" fmla="val -50000"/>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400" b="0"/>
              <a:t>2. Enter the value at which the break should occur</a:t>
            </a:r>
          </a:p>
        </p:txBody>
      </p:sp>
      <p:sp>
        <p:nvSpPr>
          <p:cNvPr id="150550" name="Oval 22">
            <a:extLst>
              <a:ext uri="{FF2B5EF4-FFF2-40B4-BE49-F238E27FC236}">
                <a16:creationId xmlns:a16="http://schemas.microsoft.com/office/drawing/2014/main" id="{E45340F0-3AF1-0241-BFAC-B4F1A2B59A69}"/>
              </a:ext>
            </a:extLst>
          </p:cNvPr>
          <p:cNvSpPr>
            <a:spLocks noChangeArrowheads="1"/>
          </p:cNvSpPr>
          <p:nvPr/>
        </p:nvSpPr>
        <p:spPr bwMode="auto">
          <a:xfrm>
            <a:off x="4648200" y="4114800"/>
            <a:ext cx="914400" cy="762000"/>
          </a:xfrm>
          <a:prstGeom prst="ellipse">
            <a:avLst/>
          </a:prstGeom>
          <a:noFill/>
          <a:ln w="38100">
            <a:solidFill>
              <a:srgbClr val="CC3300"/>
            </a:solidFill>
            <a:round/>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0551" name="AutoShape 23">
            <a:extLst>
              <a:ext uri="{FF2B5EF4-FFF2-40B4-BE49-F238E27FC236}">
                <a16:creationId xmlns:a16="http://schemas.microsoft.com/office/drawing/2014/main" id="{EC608C23-9FDD-DB4A-9966-FB5370CE4541}"/>
              </a:ext>
            </a:extLst>
          </p:cNvPr>
          <p:cNvSpPr>
            <a:spLocks noChangeArrowheads="1"/>
          </p:cNvSpPr>
          <p:nvPr/>
        </p:nvSpPr>
        <p:spPr bwMode="auto">
          <a:xfrm>
            <a:off x="6172200" y="1828800"/>
            <a:ext cx="2057400" cy="838200"/>
          </a:xfrm>
          <a:prstGeom prst="wedgeRoundRectCallout">
            <a:avLst>
              <a:gd name="adj1" fmla="val -26310"/>
              <a:gd name="adj2" fmla="val 165907"/>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400" b="0"/>
              <a:t>1. Select the system variable on which you want to break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055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054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505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49" grpId="0" animBg="1" autoUpdateAnimBg="0"/>
      <p:bldP spid="150551" grpId="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573" name="Picture 21">
            <a:extLst>
              <a:ext uri="{FF2B5EF4-FFF2-40B4-BE49-F238E27FC236}">
                <a16:creationId xmlns:a16="http://schemas.microsoft.com/office/drawing/2014/main" id="{74B45949-35A3-1B48-BEED-630B0E74CB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685800"/>
            <a:ext cx="8229600" cy="5867400"/>
          </a:xfrm>
          <a:prstGeom prst="rect">
            <a:avLst/>
          </a:prstGeom>
          <a:noFill/>
          <a:ln>
            <a:noFill/>
          </a:ln>
          <a:effectLst/>
          <a:extLst>
            <a:ext uri="{909E8E84-426E-40DD-AFC4-6F175D3DCCD1}">
              <a14:hiddenFill xmlns:a14="http://schemas.microsoft.com/office/drawing/2010/main">
                <a:solidFill>
                  <a:srgbClr val="FFFFC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1567" name="Rectangle 15">
            <a:extLst>
              <a:ext uri="{FF2B5EF4-FFF2-40B4-BE49-F238E27FC236}">
                <a16:creationId xmlns:a16="http://schemas.microsoft.com/office/drawing/2014/main" id="{8CE49F95-6947-C740-AEE2-0F18A7F0559B}"/>
              </a:ext>
            </a:extLst>
          </p:cNvPr>
          <p:cNvSpPr>
            <a:spLocks noChangeArrowheads="1"/>
          </p:cNvSpPr>
          <p:nvPr/>
        </p:nvSpPr>
        <p:spPr bwMode="auto">
          <a:xfrm>
            <a:off x="457200" y="152400"/>
            <a:ext cx="8332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b"/>
          <a:lstStyle>
            <a:lvl1pPr algn="r" rtl="1">
              <a:defRPr sz="2400">
                <a:solidFill>
                  <a:schemeClr val="tx1"/>
                </a:solidFill>
                <a:latin typeface="Times New Roman" panose="02020603050405020304" pitchFamily="18" charset="0"/>
                <a:cs typeface="Times New Roman (Hebrew)" panose="02020603050405020304" pitchFamily="18" charset="0"/>
              </a:defRPr>
            </a:lvl1pPr>
            <a:lvl2pPr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marL="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9144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1371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18288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r>
              <a:rPr lang="en-US" altLang="en-US" b="0">
                <a:solidFill>
                  <a:schemeClr val="tx2"/>
                </a:solidFill>
                <a:latin typeface="Arial" panose="020B0604020202020204" pitchFamily="34" charset="0"/>
                <a:cs typeface="Arial" panose="020B0604020202020204" pitchFamily="34" charset="0"/>
              </a:rPr>
              <a:t>Breakpoints usage</a:t>
            </a:r>
          </a:p>
        </p:txBody>
      </p:sp>
      <p:pic>
        <p:nvPicPr>
          <p:cNvPr id="151568" name="Picture 16">
            <a:extLst>
              <a:ext uri="{FF2B5EF4-FFF2-40B4-BE49-F238E27FC236}">
                <a16:creationId xmlns:a16="http://schemas.microsoft.com/office/drawing/2014/main" id="{D17486E2-8737-6F4C-B940-563FD05A4B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2057400"/>
            <a:ext cx="2000250" cy="3905250"/>
          </a:xfrm>
          <a:prstGeom prst="rect">
            <a:avLst/>
          </a:prstGeom>
          <a:noFill/>
          <a:ln>
            <a:noFill/>
          </a:ln>
          <a:effectLst/>
          <a:extLst>
            <a:ext uri="{909E8E84-426E-40DD-AFC4-6F175D3DCCD1}">
              <a14:hiddenFill xmlns:a14="http://schemas.microsoft.com/office/drawing/2010/main">
                <a:solidFill>
                  <a:srgbClr val="FFFFC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1569" name="AutoShape 17">
            <a:extLst>
              <a:ext uri="{FF2B5EF4-FFF2-40B4-BE49-F238E27FC236}">
                <a16:creationId xmlns:a16="http://schemas.microsoft.com/office/drawing/2014/main" id="{C8B3A947-0CF1-E24E-930F-2DB298E0267C}"/>
              </a:ext>
            </a:extLst>
          </p:cNvPr>
          <p:cNvSpPr>
            <a:spLocks noChangeArrowheads="1"/>
          </p:cNvSpPr>
          <p:nvPr/>
        </p:nvSpPr>
        <p:spPr bwMode="auto">
          <a:xfrm>
            <a:off x="5257800" y="2133600"/>
            <a:ext cx="1219200" cy="609600"/>
          </a:xfrm>
          <a:prstGeom prst="wedgeRoundRectCallout">
            <a:avLst>
              <a:gd name="adj1" fmla="val -110676"/>
              <a:gd name="adj2" fmla="val 109116"/>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400" b="0"/>
              <a:t>1. New breakpoint</a:t>
            </a:r>
          </a:p>
        </p:txBody>
      </p:sp>
      <p:sp>
        <p:nvSpPr>
          <p:cNvPr id="151570" name="AutoShape 18">
            <a:extLst>
              <a:ext uri="{FF2B5EF4-FFF2-40B4-BE49-F238E27FC236}">
                <a16:creationId xmlns:a16="http://schemas.microsoft.com/office/drawing/2014/main" id="{47C62D3E-883B-6247-8E76-4029A67F3F60}"/>
              </a:ext>
            </a:extLst>
          </p:cNvPr>
          <p:cNvSpPr>
            <a:spLocks noChangeArrowheads="1"/>
          </p:cNvSpPr>
          <p:nvPr/>
        </p:nvSpPr>
        <p:spPr bwMode="auto">
          <a:xfrm>
            <a:off x="4648200" y="3581400"/>
            <a:ext cx="3429000" cy="2133600"/>
          </a:xfrm>
          <a:prstGeom prst="wedgeRoundRectCallout">
            <a:avLst>
              <a:gd name="adj1" fmla="val -32407"/>
              <a:gd name="adj2" fmla="val 523"/>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400" b="0"/>
              <a:t>3. When the </a:t>
            </a:r>
            <a:r>
              <a:rPr lang="en-US" altLang="en-US" sz="1400">
                <a:latin typeface="Courier New" panose="02070309020205020404" pitchFamily="49" charset="0"/>
                <a:cs typeface="Courier New" panose="02070309020205020404" pitchFamily="49" charset="0"/>
              </a:rPr>
              <a:t>A</a:t>
            </a:r>
            <a:r>
              <a:rPr lang="en-US" altLang="en-US" sz="1400" b="0"/>
              <a:t> register will be 2, </a:t>
            </a:r>
            <a:r>
              <a:rPr lang="en-US" altLang="en-US" sz="1400">
                <a:latin typeface="Courier New" panose="02070309020205020404" pitchFamily="49" charset="0"/>
                <a:cs typeface="Courier New" panose="02070309020205020404" pitchFamily="49" charset="0"/>
              </a:rPr>
              <a:t>or RAM[20]</a:t>
            </a:r>
            <a:r>
              <a:rPr lang="en-US" altLang="en-US" sz="1400" b="0"/>
              <a:t> will be 5, or 12 time units (cycles) will elapse, or </a:t>
            </a:r>
            <a:r>
              <a:rPr lang="en-US" altLang="en-US" sz="1400">
                <a:latin typeface="Courier New" panose="02070309020205020404" pitchFamily="49" charset="0"/>
                <a:cs typeface="Courier New" panose="02070309020205020404" pitchFamily="49" charset="0"/>
              </a:rPr>
              <a:t>RAM[21]</a:t>
            </a:r>
            <a:r>
              <a:rPr lang="en-US" altLang="en-US" sz="1400" b="0"/>
              <a:t> will be 200, the emulator will pause the program’s execution with an appropriate message.</a:t>
            </a:r>
          </a:p>
          <a:p>
            <a:endParaRPr lang="en-US" altLang="en-US" sz="1400" b="0"/>
          </a:p>
          <a:p>
            <a:r>
              <a:rPr lang="en-US" altLang="en-US" sz="1400">
                <a:solidFill>
                  <a:srgbClr val="993300"/>
                </a:solidFill>
              </a:rPr>
              <a:t>A powerful debugging tool!</a:t>
            </a:r>
          </a:p>
        </p:txBody>
      </p:sp>
      <p:sp>
        <p:nvSpPr>
          <p:cNvPr id="151571" name="AutoShape 19">
            <a:extLst>
              <a:ext uri="{FF2B5EF4-FFF2-40B4-BE49-F238E27FC236}">
                <a16:creationId xmlns:a16="http://schemas.microsoft.com/office/drawing/2014/main" id="{DB728FCA-E59E-C945-B84B-3C439FD8F957}"/>
              </a:ext>
            </a:extLst>
          </p:cNvPr>
          <p:cNvSpPr>
            <a:spLocks noChangeArrowheads="1"/>
          </p:cNvSpPr>
          <p:nvPr/>
        </p:nvSpPr>
        <p:spPr bwMode="auto">
          <a:xfrm>
            <a:off x="1219200" y="2514600"/>
            <a:ext cx="1219200" cy="609600"/>
          </a:xfrm>
          <a:prstGeom prst="wedgeRoundRectCallout">
            <a:avLst>
              <a:gd name="adj1" fmla="val -36588"/>
              <a:gd name="adj2" fmla="val -222134"/>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400" b="0"/>
              <a:t>2. Run the program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157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15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70" grpId="0" animBg="1" autoUpdateAnimBg="0"/>
      <p:bldP spid="151571" grpId="0" animBg="1" autoUpdateAnimBg="0"/>
    </p:bldLst>
  </p:timing>
</p:sld>
</file>

<file path=ppt/theme/theme1.xml><?xml version="1.0" encoding="utf-8"?>
<a:theme xmlns:a="http://schemas.openxmlformats.org/drawingml/2006/main" name="ed_valu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9999"/>
      </a:hlink>
      <a:folHlink>
        <a:srgbClr val="006666"/>
      </a:folHlink>
    </a:clrScheme>
    <a:fontScheme name="ed_value">
      <a:majorFont>
        <a:latin typeface="Arial"/>
        <a:ea typeface=""/>
        <a:cs typeface="Arial"/>
      </a:majorFont>
      <a:minorFont>
        <a:latin typeface="Arial"/>
        <a:ea typeface=""/>
        <a:cs typeface="Times New Roman (Hebrew)"/>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he-IL" altLang="en-US" sz="1600" b="1" i="0" u="none" strike="noStrike" cap="none" normalizeH="0" baseline="0" smtClean="0">
            <a:ln>
              <a:noFill/>
            </a:ln>
            <a:solidFill>
              <a:schemeClr val="tx1"/>
            </a:solidFill>
            <a:effectLst/>
            <a:latin typeface="Arial" panose="020B0604020202020204" pitchFamily="34" charset="0"/>
            <a:cs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he-IL" altLang="en-US" sz="1600" b="1" i="0" u="none" strike="noStrike" cap="none" normalizeH="0" baseline="0" smtClean="0">
            <a:ln>
              <a:noFill/>
            </a:ln>
            <a:solidFill>
              <a:schemeClr val="tx1"/>
            </a:solidFill>
            <a:effectLst/>
            <a:latin typeface="Arial" panose="020B0604020202020204" pitchFamily="34" charset="0"/>
            <a:cs typeface="Arial" panose="020B0604020202020204" pitchFamily="34" charset="0"/>
          </a:defRPr>
        </a:defPPr>
      </a:lstStyle>
    </a:lnDef>
  </a:objectDefaults>
  <a:extraClrSchemeLst>
    <a:extraClrScheme>
      <a:clrScheme name="ed_valu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ed_valu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ed_valu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ed_valu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ed_valu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ed_valu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ed_valu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Designs\Artsy.pot</Template>
  <TotalTime>5967</TotalTime>
  <Words>2972</Words>
  <Application>Microsoft Macintosh PowerPoint</Application>
  <PresentationFormat>On-screen Show (4:3)</PresentationFormat>
  <Paragraphs>291</Paragraphs>
  <Slides>39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 Unicode MS</vt:lpstr>
      <vt:lpstr>Arial</vt:lpstr>
      <vt:lpstr>Comic Sans MS</vt:lpstr>
      <vt:lpstr>Courier New</vt:lpstr>
      <vt:lpstr>Times New Roman</vt:lpstr>
      <vt:lpstr>Wingdings</vt:lpstr>
      <vt:lpstr>ed_value</vt:lpstr>
      <vt:lpstr>CPU Emulator Tutorial</vt:lpstr>
      <vt:lpstr>Background</vt:lpstr>
      <vt:lpstr>The book’s software suite</vt:lpstr>
      <vt:lpstr>Tutorial Objective</vt:lpstr>
      <vt:lpstr>The Hack computer</vt:lpstr>
      <vt:lpstr>CPU Emulator Tutorial</vt:lpstr>
      <vt:lpstr>CPU Emulator Tutorial</vt:lpstr>
      <vt:lpstr>The Hack Computer Platform (simulated)</vt:lpstr>
      <vt:lpstr>The Hack Computer Platform</vt:lpstr>
      <vt:lpstr>Instruction memory</vt:lpstr>
      <vt:lpstr>Data memory (RAM)</vt:lpstr>
      <vt:lpstr>Registers</vt:lpstr>
      <vt:lpstr>Arithmetic/Logic Unit</vt:lpstr>
      <vt:lpstr>CPU Emulator Tutorial</vt:lpstr>
      <vt:lpstr>I/O devices: screen and keyboard</vt:lpstr>
      <vt:lpstr>Screen action demo</vt:lpstr>
      <vt:lpstr>Keyboard action demo</vt:lpstr>
      <vt:lpstr>Keyboard action demo</vt:lpstr>
      <vt:lpstr>CPU Emulator Tutorial</vt:lpstr>
      <vt:lpstr>Loading a program</vt:lpstr>
      <vt:lpstr>Loading a program</vt:lpstr>
      <vt:lpstr>Running a program</vt:lpstr>
      <vt:lpstr>Running a program</vt:lpstr>
      <vt:lpstr>Hack programming at a glance (optional)</vt:lpstr>
      <vt:lpstr>Animation options</vt:lpstr>
      <vt:lpstr>CPU Emulator Tutorial</vt:lpstr>
      <vt:lpstr>Interactive VS Script-Based Simulation</vt:lpstr>
      <vt:lpstr>The basic setting</vt:lpstr>
      <vt:lpstr>Example: Max.asm</vt:lpstr>
      <vt:lpstr>Sample test script: Max.tst</vt:lpstr>
      <vt:lpstr>Using test scripts</vt:lpstr>
      <vt:lpstr>Using test scripts</vt:lpstr>
      <vt:lpstr>Using test scripts</vt:lpstr>
      <vt:lpstr>The default script  (and a deeper understanding of the CPU emulator logic)</vt:lpstr>
      <vt:lpstr>CPU Emulator Tutorial</vt:lpstr>
      <vt:lpstr>Breakpoints: a powerful debugging tool</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Lecture Name </dc:title>
  <dc:creator>Shimon Schocken</dc:creator>
  <cp:lastModifiedBy>Schocken Shimon</cp:lastModifiedBy>
  <cp:revision>424</cp:revision>
  <dcterms:created xsi:type="dcterms:W3CDTF">2002-09-27T17:30:27Z</dcterms:created>
  <dcterms:modified xsi:type="dcterms:W3CDTF">2023-02-09T14:28:47Z</dcterms:modified>
</cp:coreProperties>
</file>
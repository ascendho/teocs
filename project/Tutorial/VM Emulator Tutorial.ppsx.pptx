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slideshow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300" r:id="rId5"/>
    <p:sldId id="262" r:id="rId6"/>
    <p:sldId id="281" r:id="rId7"/>
    <p:sldId id="297" r:id="rId8"/>
    <p:sldId id="305" r:id="rId9"/>
    <p:sldId id="263" r:id="rId10"/>
    <p:sldId id="299" r:id="rId11"/>
    <p:sldId id="284" r:id="rId12"/>
    <p:sldId id="308" r:id="rId13"/>
    <p:sldId id="309" r:id="rId14"/>
    <p:sldId id="317" r:id="rId15"/>
    <p:sldId id="288" r:id="rId16"/>
    <p:sldId id="302" r:id="rId17"/>
    <p:sldId id="312" r:id="rId18"/>
    <p:sldId id="290" r:id="rId19"/>
    <p:sldId id="311" r:id="rId20"/>
    <p:sldId id="292" r:id="rId21"/>
    <p:sldId id="294" r:id="rId22"/>
    <p:sldId id="295" r:id="rId23"/>
    <p:sldId id="296" r:id="rId24"/>
    <p:sldId id="314" r:id="rId25"/>
    <p:sldId id="315" r:id="rId26"/>
    <p:sldId id="316" r:id="rId27"/>
    <p:sldId id="318" r:id="rId28"/>
    <p:sldId id="319" r:id="rId29"/>
    <p:sldId id="323" r:id="rId30"/>
    <p:sldId id="324" r:id="rId31"/>
    <p:sldId id="325" r:id="rId32"/>
    <p:sldId id="326" r:id="rId33"/>
    <p:sldId id="275" r:id="rId34"/>
  </p:sldIdLst>
  <p:sldSz cx="9144000" cy="6858000" type="screen4x3"/>
  <p:notesSz cx="6858000" cy="9144000"/>
  <p:defaultTextStyle>
    <a:defPPr>
      <a:defRPr lang="he-IL"/>
    </a:defPPr>
    <a:lvl1pPr algn="ctr" rtl="0" fontAlgn="base">
      <a:spcBef>
        <a:spcPct val="0"/>
      </a:spcBef>
      <a:spcAft>
        <a:spcPct val="0"/>
      </a:spcAft>
      <a:defRPr sz="2000" kern="1200">
        <a:solidFill>
          <a:schemeClr val="tx2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ctr" rtl="0" fontAlgn="base">
      <a:spcBef>
        <a:spcPct val="0"/>
      </a:spcBef>
      <a:spcAft>
        <a:spcPct val="0"/>
      </a:spcAft>
      <a:defRPr sz="2000" kern="1200">
        <a:solidFill>
          <a:schemeClr val="tx2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ctr" rtl="0" fontAlgn="base">
      <a:spcBef>
        <a:spcPct val="0"/>
      </a:spcBef>
      <a:spcAft>
        <a:spcPct val="0"/>
      </a:spcAft>
      <a:defRPr sz="2000" kern="1200">
        <a:solidFill>
          <a:schemeClr val="tx2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ctr" rtl="0" fontAlgn="base">
      <a:spcBef>
        <a:spcPct val="0"/>
      </a:spcBef>
      <a:spcAft>
        <a:spcPct val="0"/>
      </a:spcAft>
      <a:defRPr sz="2000" kern="1200">
        <a:solidFill>
          <a:schemeClr val="tx2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ctr" rtl="0" fontAlgn="base">
      <a:spcBef>
        <a:spcPct val="0"/>
      </a:spcBef>
      <a:spcAft>
        <a:spcPct val="0"/>
      </a:spcAft>
      <a:defRPr sz="2000" kern="1200">
        <a:solidFill>
          <a:schemeClr val="tx2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chemeClr val="tx2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chemeClr val="tx2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chemeClr val="tx2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chemeClr val="tx2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82" autoAdjust="0"/>
    <p:restoredTop sz="90938"/>
  </p:normalViewPr>
  <p:slideViewPr>
    <p:cSldViewPr>
      <p:cViewPr varScale="1">
        <p:scale>
          <a:sx n="95" d="100"/>
          <a:sy n="95" d="100"/>
        </p:scale>
        <p:origin x="236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2.xml"/><Relationship Id="rId13" Type="http://schemas.openxmlformats.org/officeDocument/2006/relationships/slide" Target="slides/slide29.xml"/><Relationship Id="rId3" Type="http://schemas.openxmlformats.org/officeDocument/2006/relationships/slide" Target="slides/slide15.xml"/><Relationship Id="rId7" Type="http://schemas.openxmlformats.org/officeDocument/2006/relationships/slide" Target="slides/slide21.xml"/><Relationship Id="rId12" Type="http://schemas.openxmlformats.org/officeDocument/2006/relationships/slide" Target="slides/slide28.xml"/><Relationship Id="rId2" Type="http://schemas.openxmlformats.org/officeDocument/2006/relationships/slide" Target="slides/slide3.xml"/><Relationship Id="rId16" Type="http://schemas.openxmlformats.org/officeDocument/2006/relationships/slide" Target="slides/slide32.xml"/><Relationship Id="rId1" Type="http://schemas.openxmlformats.org/officeDocument/2006/relationships/slide" Target="slides/slide1.xml"/><Relationship Id="rId6" Type="http://schemas.openxmlformats.org/officeDocument/2006/relationships/slide" Target="slides/slide20.xml"/><Relationship Id="rId11" Type="http://schemas.openxmlformats.org/officeDocument/2006/relationships/slide" Target="slides/slide26.xml"/><Relationship Id="rId5" Type="http://schemas.openxmlformats.org/officeDocument/2006/relationships/slide" Target="slides/slide19.xml"/><Relationship Id="rId15" Type="http://schemas.openxmlformats.org/officeDocument/2006/relationships/slide" Target="slides/slide31.xml"/><Relationship Id="rId10" Type="http://schemas.openxmlformats.org/officeDocument/2006/relationships/slide" Target="slides/slide25.xml"/><Relationship Id="rId4" Type="http://schemas.openxmlformats.org/officeDocument/2006/relationships/slide" Target="slides/slide18.xml"/><Relationship Id="rId9" Type="http://schemas.openxmlformats.org/officeDocument/2006/relationships/slide" Target="slides/slide23.xml"/><Relationship Id="rId14" Type="http://schemas.openxmlformats.org/officeDocument/2006/relationships/slide" Target="slides/slide3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25C3-C0A4-5D4F-B47D-5EDF6ACEB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47BD2-4424-FB49-9354-00B9F17D3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34841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29138-304F-EB49-837F-08523C453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9E32B-C551-1A45-9470-2B02C9E45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5664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44C9-1628-1348-AC94-2A69628B9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74757-E7DC-BA43-B6A6-ACDDCA204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0288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9FAB-AC87-C04D-911A-00AA0BD78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BC7CE-9EA8-5840-ACA4-5F74675078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762000"/>
            <a:ext cx="4089400" cy="5486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84D38-B2BD-A742-9F33-B7FE4FDCB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9000" y="762000"/>
            <a:ext cx="4090988" cy="5486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734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A0AA-FBA4-594D-8D51-F0AFE53F5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398D5-8C15-E348-A06B-D1280BEBC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7E6D1-F67B-5242-95F3-E32A0D653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B6088F-0837-674F-9ACF-C5F7E4AA9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58054-75F7-4440-9208-0A730B1B6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1723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61C4A-0C9F-6043-830E-CF5027E9F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3791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670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6A42-615F-B241-B77A-7FB7844A4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C414C-3D33-A548-AA69-2248C2FBF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8B49A-73CF-AF41-9F44-FFD92D669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260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49C35-72AA-4B4F-8855-CC73FCB2A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CDD438-F8AE-594B-A3E2-C051BA9D0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CC54F-8A75-C240-B000-6CC6C4FE2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882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BE00-E1C7-BF44-B21B-25834248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49D47-8FC5-F44C-A3C7-7F456F8D4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092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1F5179-9F39-AC4A-A699-F1180F495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7188" y="152400"/>
            <a:ext cx="20828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F7778-EDF7-3545-B477-9B3DDC289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97588" cy="60960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7038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../slides/slide4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17">
            <a:extLst>
              <a:ext uri="{FF2B5EF4-FFF2-40B4-BE49-F238E27FC236}">
                <a16:creationId xmlns:a16="http://schemas.microsoft.com/office/drawing/2014/main" id="{E8FE8A42-419B-F04D-A8F9-AA58EE614F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042" name="Line 18">
            <a:extLst>
              <a:ext uri="{FF2B5EF4-FFF2-40B4-BE49-F238E27FC236}">
                <a16:creationId xmlns:a16="http://schemas.microsoft.com/office/drawing/2014/main" id="{640BFBB8-3D63-0444-A101-6768AF8BF4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09600"/>
            <a:ext cx="8180388" cy="0"/>
          </a:xfrm>
          <a:prstGeom prst="line">
            <a:avLst/>
          </a:prstGeom>
          <a:noFill/>
          <a:ln w="9525">
            <a:solidFill>
              <a:srgbClr val="B058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" name="Rectangle 20">
            <a:extLst>
              <a:ext uri="{FF2B5EF4-FFF2-40B4-BE49-F238E27FC236}">
                <a16:creationId xmlns:a16="http://schemas.microsoft.com/office/drawing/2014/main" id="{0E83433E-071A-F649-9629-CCBE3BC30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2000"/>
            <a:ext cx="8332788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45720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he-IL"/>
              <a:t>First level bullet</a:t>
            </a:r>
          </a:p>
          <a:p>
            <a:pPr lvl="1"/>
            <a:r>
              <a:rPr lang="en-US" altLang="he-IL"/>
              <a:t>Second level bullet</a:t>
            </a:r>
          </a:p>
          <a:p>
            <a:pPr lvl="2"/>
            <a:r>
              <a:rPr lang="en-US" altLang="he-IL"/>
              <a:t>Third level</a:t>
            </a:r>
          </a:p>
          <a:p>
            <a:pPr lvl="3"/>
            <a:r>
              <a:rPr lang="en-US" altLang="he-IL"/>
              <a:t>Fourth level</a:t>
            </a:r>
          </a:p>
          <a:p>
            <a:pPr lvl="4"/>
            <a:r>
              <a:rPr lang="en-US" altLang="he-IL"/>
              <a:t>Fifth level</a:t>
            </a:r>
            <a:endParaRPr lang="en-US" altLang="en-US"/>
          </a:p>
        </p:txBody>
      </p:sp>
      <p:sp>
        <p:nvSpPr>
          <p:cNvPr id="1045" name="Text Box 21">
            <a:extLst>
              <a:ext uri="{FF2B5EF4-FFF2-40B4-BE49-F238E27FC236}">
                <a16:creationId xmlns:a16="http://schemas.microsoft.com/office/drawing/2014/main" id="{A553F7CB-29B2-8B44-872C-F1121555D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6507163"/>
            <a:ext cx="9144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anchor="b">
            <a:spAutoFit/>
          </a:bodyPr>
          <a:lstStyle/>
          <a:p>
            <a:pPr algn="l"/>
            <a:r>
              <a:rPr lang="en-US" altLang="en-US" sz="1200">
                <a:solidFill>
                  <a:schemeClr val="tx1"/>
                </a:solidFill>
              </a:rPr>
              <a:t>Slide </a:t>
            </a:r>
            <a:fld id="{8A57A681-EC9E-854F-BAC4-57DAF0FD392A}" type="slidenum">
              <a:rPr lang="en-US" altLang="en-US" sz="1200">
                <a:solidFill>
                  <a:schemeClr val="tx1"/>
                </a:solidFill>
              </a:rPr>
              <a:pPr algn="l"/>
              <a:t>‹#›</a:t>
            </a:fld>
            <a:r>
              <a:rPr lang="en-US" altLang="en-US" sz="1200">
                <a:solidFill>
                  <a:schemeClr val="tx1"/>
                </a:solidFill>
              </a:rPr>
              <a:t>/34</a:t>
            </a:r>
          </a:p>
        </p:txBody>
      </p:sp>
      <p:sp>
        <p:nvSpPr>
          <p:cNvPr id="1046" name="Text Box 22">
            <a:extLst>
              <a:ext uri="{FF2B5EF4-FFF2-40B4-BE49-F238E27FC236}">
                <a16:creationId xmlns:a16="http://schemas.microsoft.com/office/drawing/2014/main" id="{6C891295-08ED-8240-9A8A-3E4F967B6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507163"/>
            <a:ext cx="3429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anchor="b">
            <a:spAutoFit/>
          </a:bodyPr>
          <a:lstStyle/>
          <a:p>
            <a:pPr algn="l"/>
            <a:r>
              <a:rPr lang="en-US" altLang="en-US" sz="1200" dirty="0">
                <a:solidFill>
                  <a:schemeClr val="tx1"/>
                </a:solidFill>
              </a:rPr>
              <a:t>VM Emulator Tutorial, www.nand2tetris.org</a:t>
            </a:r>
          </a:p>
        </p:txBody>
      </p:sp>
      <p:sp>
        <p:nvSpPr>
          <p:cNvPr id="1048" name="Line 24">
            <a:extLst>
              <a:ext uri="{FF2B5EF4-FFF2-40B4-BE49-F238E27FC236}">
                <a16:creationId xmlns:a16="http://schemas.microsoft.com/office/drawing/2014/main" id="{BC495F14-FCC0-D44D-B129-74DEDFB4260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33400" y="6477000"/>
            <a:ext cx="8077200" cy="0"/>
          </a:xfrm>
          <a:prstGeom prst="line">
            <a:avLst/>
          </a:prstGeom>
          <a:noFill/>
          <a:ln w="9525">
            <a:solidFill>
              <a:srgbClr val="B058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1" name="Text Box 27">
            <a:extLst>
              <a:ext uri="{FF2B5EF4-FFF2-40B4-BE49-F238E27FC236}">
                <a16:creationId xmlns:a16="http://schemas.microsoft.com/office/drawing/2014/main" id="{419E0CF5-ED86-864C-B949-23CF130F7E1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67200" y="6507163"/>
            <a:ext cx="12954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anchor="b">
            <a:spAutoFit/>
          </a:bodyPr>
          <a:lstStyle/>
          <a:p>
            <a:pPr algn="l"/>
            <a:r>
              <a:rPr lang="en-US" altLang="en-US" sz="1200">
                <a:solidFill>
                  <a:schemeClr val="tx1"/>
                </a:solidFill>
                <a:hlinkClick r:id="rId13" action="ppaction://hlinksldjump"/>
              </a:rPr>
              <a:t>Tutorial Index</a:t>
            </a:r>
            <a:endParaRPr lang="en-US" altLang="en-US" sz="12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40000"/>
        </a:spcBef>
        <a:spcAft>
          <a:spcPct val="0"/>
        </a:spcAft>
        <a:buClr>
          <a:srgbClr val="006600"/>
        </a:buClr>
        <a:buSzPct val="110000"/>
        <a:buFont typeface="Wingdings" pitchFamily="2" charset="2"/>
        <a:buChar char="§"/>
        <a:tabLst>
          <a:tab pos="0" algn="l"/>
        </a:tabLst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40000"/>
        </a:spcBef>
        <a:spcAft>
          <a:spcPct val="0"/>
        </a:spcAft>
        <a:buClr>
          <a:srgbClr val="00007A"/>
        </a:buClr>
        <a:buSzPct val="125000"/>
        <a:buChar char="•"/>
        <a:tabLst>
          <a:tab pos="0" algn="l"/>
        </a:tabLst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40000"/>
        </a:spcBef>
        <a:spcAft>
          <a:spcPct val="0"/>
        </a:spcAft>
        <a:buClr>
          <a:srgbClr val="A50021"/>
        </a:buClr>
        <a:buSzPct val="110000"/>
        <a:buChar char="•"/>
        <a:tabLst>
          <a:tab pos="0" algn="l"/>
        </a:tabLst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40000"/>
        </a:spcBef>
        <a:spcAft>
          <a:spcPct val="0"/>
        </a:spcAft>
        <a:buChar char="–"/>
        <a:tabLst>
          <a:tab pos="0" algn="l"/>
        </a:tabLst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40000"/>
        </a:spcBef>
        <a:spcAft>
          <a:spcPct val="0"/>
        </a:spcAft>
        <a:buChar char="»"/>
        <a:tabLst>
          <a:tab pos="0" algn="l"/>
        </a:tabLst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and2tetris.or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6.xml"/><Relationship Id="rId4" Type="http://schemas.openxmlformats.org/officeDocument/2006/relationships/slide" Target="slide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02" name="Picture 2" descr="D:\My Document\My Pictures\OPENOAM.jpg">
            <a:extLst>
              <a:ext uri="{FF2B5EF4-FFF2-40B4-BE49-F238E27FC236}">
                <a16:creationId xmlns:a16="http://schemas.microsoft.com/office/drawing/2014/main" id="{F245E67C-429D-9046-AA19-C48AA0714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03" name="Rectangle 3">
            <a:extLst>
              <a:ext uri="{FF2B5EF4-FFF2-40B4-BE49-F238E27FC236}">
                <a16:creationId xmlns:a16="http://schemas.microsoft.com/office/drawing/2014/main" id="{BDFE1BA2-5A0D-724D-9F24-D586D6A8C8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2220913"/>
            <a:ext cx="6400800" cy="3148554"/>
          </a:xfrm>
          <a:noFill/>
          <a:ln/>
        </p:spPr>
        <p:txBody>
          <a:bodyPr rIns="0">
            <a:spAutoFit/>
          </a:bodyPr>
          <a:lstStyle/>
          <a:p>
            <a:pPr marL="508000" indent="-508000">
              <a:spcBef>
                <a:spcPct val="0"/>
              </a:spcBef>
            </a:pPr>
            <a:r>
              <a:rPr lang="en-US" altLang="en-US" sz="1600" dirty="0"/>
              <a:t>This program is part of the software suite</a:t>
            </a:r>
          </a:p>
          <a:p>
            <a:pPr marL="508000" indent="-508000">
              <a:spcBef>
                <a:spcPct val="0"/>
              </a:spcBef>
            </a:pPr>
            <a:r>
              <a:rPr lang="en-US" altLang="en-US" sz="1600" dirty="0"/>
              <a:t>that accompanies the book</a:t>
            </a:r>
          </a:p>
          <a:p>
            <a:pPr marL="508000" indent="-508000">
              <a:spcBef>
                <a:spcPct val="60000"/>
              </a:spcBef>
            </a:pPr>
            <a:r>
              <a:rPr lang="en-US" altLang="en-US" sz="2000" b="1" i="1" dirty="0">
                <a:solidFill>
                  <a:srgbClr val="00007A"/>
                </a:solidFill>
                <a:cs typeface="Arial" panose="020B0604020202020204" pitchFamily="34" charset="0"/>
              </a:rPr>
              <a:t>The Elements of Computing Systems</a:t>
            </a:r>
            <a:endParaRPr lang="en-US" altLang="en-US" sz="2000" b="1" dirty="0">
              <a:solidFill>
                <a:srgbClr val="00007A"/>
              </a:solidFill>
              <a:cs typeface="Arial" panose="020B0604020202020204" pitchFamily="34" charset="0"/>
            </a:endParaRPr>
          </a:p>
          <a:p>
            <a:pPr marL="508000" indent="-508000">
              <a:spcBef>
                <a:spcPct val="20000"/>
              </a:spcBef>
            </a:pPr>
            <a:r>
              <a:rPr lang="en-US" altLang="en-US" sz="1600" dirty="0">
                <a:solidFill>
                  <a:srgbClr val="00007A"/>
                </a:solidFill>
                <a:cs typeface="Arial" panose="020B0604020202020204" pitchFamily="34" charset="0"/>
              </a:rPr>
              <a:t>by Noam Nisan and Shimon Schocken</a:t>
            </a:r>
          </a:p>
          <a:p>
            <a:pPr marL="508000" indent="-508000">
              <a:spcBef>
                <a:spcPct val="60000"/>
              </a:spcBef>
            </a:pPr>
            <a:r>
              <a:rPr lang="en-US" altLang="en-US" sz="1600" dirty="0"/>
              <a:t>MIT Press</a:t>
            </a:r>
          </a:p>
          <a:p>
            <a:pPr marL="508000" indent="-508000">
              <a:spcBef>
                <a:spcPct val="60000"/>
              </a:spcBef>
            </a:pPr>
            <a:r>
              <a:rPr lang="en-US" altLang="en-US" sz="1600" u="sng" dirty="0">
                <a:hlinkClick r:id="rId3"/>
              </a:rPr>
              <a:t>www.nand2tetris.org</a:t>
            </a:r>
            <a:endParaRPr lang="en-US" altLang="en-US" sz="1600" u="sng" dirty="0"/>
          </a:p>
          <a:p>
            <a:pPr marL="508000" indent="-508000">
              <a:spcBef>
                <a:spcPct val="60000"/>
              </a:spcBef>
            </a:pPr>
            <a:r>
              <a:rPr lang="en-US" altLang="en-US" sz="1600" dirty="0"/>
              <a:t>Developed by students at the</a:t>
            </a:r>
          </a:p>
          <a:p>
            <a:pPr marL="508000" indent="-508000">
              <a:spcBef>
                <a:spcPct val="0"/>
              </a:spcBef>
            </a:pPr>
            <a:r>
              <a:rPr lang="en-US" altLang="en-US" sz="1600" dirty="0"/>
              <a:t>Efi Arazi School of Computer Science at Reichman University</a:t>
            </a:r>
          </a:p>
          <a:p>
            <a:pPr marL="508000" indent="-508000">
              <a:spcBef>
                <a:spcPct val="60000"/>
              </a:spcBef>
            </a:pPr>
            <a:r>
              <a:rPr lang="en-US" altLang="en-US" sz="1600" dirty="0"/>
              <a:t>Chief Software Architect: </a:t>
            </a:r>
            <a:r>
              <a:rPr lang="en-US" altLang="en-US" sz="1600" dirty="0" err="1"/>
              <a:t>Yaron</a:t>
            </a:r>
            <a:r>
              <a:rPr lang="en-US" altLang="en-US" sz="1600" dirty="0"/>
              <a:t> </a:t>
            </a:r>
            <a:r>
              <a:rPr lang="en-US" altLang="en-US" sz="1600" dirty="0" err="1"/>
              <a:t>Ukrainitz</a:t>
            </a:r>
            <a:endParaRPr lang="en-US" altLang="en-US" sz="1600" dirty="0"/>
          </a:p>
        </p:txBody>
      </p:sp>
      <p:sp>
        <p:nvSpPr>
          <p:cNvPr id="204804" name="Rectangle 4">
            <a:extLst>
              <a:ext uri="{FF2B5EF4-FFF2-40B4-BE49-F238E27FC236}">
                <a16:creationId xmlns:a16="http://schemas.microsoft.com/office/drawing/2014/main" id="{27C04F14-6EC9-B548-982E-D5909F28C50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85900" y="1524000"/>
            <a:ext cx="6172200" cy="533400"/>
          </a:xfrm>
          <a:noFill/>
          <a:ln/>
        </p:spPr>
        <p:txBody>
          <a:bodyPr anchor="t"/>
          <a:lstStyle/>
          <a:p>
            <a:r>
              <a:rPr lang="en-US" altLang="en-US" sz="2800">
                <a:solidFill>
                  <a:srgbClr val="00007A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VM Emulator Tutorial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:a16="http://schemas.microsoft.com/office/drawing/2014/main" id="{E86FD442-A864-0D48-BFD8-DA7ECB83CC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Background</a:t>
            </a:r>
          </a:p>
        </p:txBody>
      </p:sp>
      <p:pic>
        <p:nvPicPr>
          <p:cNvPr id="205827" name="Picture 3" descr="C:\Documents and Settings\Administrator\Application Data\Microsoft\Media Catalog\Downloaded Clips\cl31\j0123413.wmf">
            <a:extLst>
              <a:ext uri="{FF2B5EF4-FFF2-40B4-BE49-F238E27FC236}">
                <a16:creationId xmlns:a16="http://schemas.microsoft.com/office/drawing/2014/main" id="{A81764ED-B6EA-C248-8F1B-AC70BEB37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708660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828" name="Text Box 4">
            <a:extLst>
              <a:ext uri="{FF2B5EF4-FFF2-40B4-BE49-F238E27FC236}">
                <a16:creationId xmlns:a16="http://schemas.microsoft.com/office/drawing/2014/main" id="{EF53C203-3E23-1B40-BDBB-C0E4D7CED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116013"/>
            <a:ext cx="5257800" cy="412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1600" i="1">
                <a:solidFill>
                  <a:schemeClr val="tx1"/>
                </a:solidFill>
                <a:latin typeface="Comic Sans MS" panose="030F0902030302020204" pitchFamily="66" charset="0"/>
              </a:rPr>
              <a:t>The Elements of Computing Systems</a:t>
            </a:r>
            <a:r>
              <a:rPr lang="en-US" altLang="en-US" sz="1600">
                <a:solidFill>
                  <a:schemeClr val="tx1"/>
                </a:solidFill>
                <a:latin typeface="Comic Sans MS" panose="030F0902030302020204" pitchFamily="66" charset="0"/>
              </a:rPr>
              <a:t> evolves around the construction of a complete computer system, done in the framework of a 1- or 2-semester course.</a:t>
            </a:r>
          </a:p>
          <a:p>
            <a:pPr algn="l">
              <a:spcBef>
                <a:spcPct val="50000"/>
              </a:spcBef>
            </a:pPr>
            <a:r>
              <a:rPr lang="en-US" altLang="en-US" sz="1600">
                <a:solidFill>
                  <a:schemeClr val="tx1"/>
                </a:solidFill>
                <a:latin typeface="Comic Sans MS" panose="030F0902030302020204" pitchFamily="66" charset="0"/>
              </a:rPr>
              <a:t>In the first part of the book/course, we build the hardware platform of a simple yet powerful computer, called Hack.  In the second part, we build the computer’s software hierarchy, consisting of an assembler, a virtual machine, a simple Java-like language called Jack, a compiler for it, and a mini operating system, written in Jack.</a:t>
            </a:r>
          </a:p>
          <a:p>
            <a:pPr algn="l">
              <a:spcBef>
                <a:spcPct val="50000"/>
              </a:spcBef>
            </a:pPr>
            <a:r>
              <a:rPr lang="en-US" altLang="en-US" sz="1600">
                <a:solidFill>
                  <a:schemeClr val="tx1"/>
                </a:solidFill>
                <a:latin typeface="Comic Sans MS" panose="030F0902030302020204" pitchFamily="66" charset="0"/>
              </a:rPr>
              <a:t>The book/course is completely self-contained, requiring only programming as a pre-requisite.</a:t>
            </a:r>
          </a:p>
          <a:p>
            <a:pPr algn="l">
              <a:spcBef>
                <a:spcPct val="50000"/>
              </a:spcBef>
            </a:pPr>
            <a:r>
              <a:rPr lang="en-US" altLang="en-US" sz="1600">
                <a:solidFill>
                  <a:schemeClr val="tx1"/>
                </a:solidFill>
                <a:latin typeface="Comic Sans MS" panose="030F0902030302020204" pitchFamily="66" charset="0"/>
              </a:rPr>
              <a:t>The book’s web site includes some 200 test programs, test scripts, and all the software </a:t>
            </a:r>
            <a:br>
              <a:rPr lang="en-US" altLang="en-US" sz="1600">
                <a:solidFill>
                  <a:schemeClr val="tx1"/>
                </a:solidFill>
                <a:latin typeface="Comic Sans MS" panose="030F0902030302020204" pitchFamily="66" charset="0"/>
              </a:rPr>
            </a:br>
            <a:r>
              <a:rPr lang="en-US" altLang="en-US" sz="1600">
                <a:solidFill>
                  <a:schemeClr val="tx1"/>
                </a:solidFill>
                <a:latin typeface="Comic Sans MS" panose="030F0902030302020204" pitchFamily="66" charset="0"/>
              </a:rPr>
              <a:t>tools necessary for doing all the projects.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:a16="http://schemas.microsoft.com/office/drawing/2014/main" id="{A2504B11-6BAC-264D-995C-C50526965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971800"/>
            <a:ext cx="4724400" cy="1371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anchorCtr="1"/>
          <a:lstStyle>
            <a:lvl1pPr marL="193675" indent="-193675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766763" indent="-28575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marL="1185863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marL="1604963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marL="2057400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None/>
            </a:pPr>
            <a:r>
              <a:rPr lang="en-US" altLang="en-US" sz="2000" u="sng">
                <a:latin typeface="Arial" panose="020B0604020202020204" pitchFamily="34" charset="0"/>
              </a:rPr>
              <a:t>Translators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Assembler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JackCompiler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algn="l" rtl="0">
              <a:spcBef>
                <a:spcPct val="50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Used to translate from high-level to low-level;</a:t>
            </a:r>
          </a:p>
          <a:p>
            <a:pPr algn="l" rtl="0">
              <a:spcBef>
                <a:spcPct val="50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600">
                <a:solidFill>
                  <a:srgbClr val="0000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Developed by the students, using the book’s specs; Executable solutions supplied by us.</a:t>
            </a: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C94A6978-D8D9-F541-A10C-FA43D92A2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343400"/>
            <a:ext cx="4572000" cy="1828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anchorCtr="1"/>
          <a:lstStyle>
            <a:lvl1pPr marL="193675" indent="-193675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766763" indent="-28575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marL="1185863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marL="1604963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marL="2057400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None/>
            </a:pPr>
            <a:r>
              <a:rPr lang="en-US" altLang="en-US" sz="2000" u="sng">
                <a:latin typeface="Arial" panose="020B0604020202020204" pitchFamily="34" charset="0"/>
              </a:rPr>
              <a:t>Other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spcBef>
                <a:spcPct val="50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Bin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: simulators and translators software;</a:t>
            </a:r>
          </a:p>
          <a:p>
            <a:pPr algn="l" rtl="0">
              <a:spcBef>
                <a:spcPct val="50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builtIn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: executable versions of all the logic gates and chips mentioned in the book;</a:t>
            </a:r>
          </a:p>
          <a:p>
            <a:pPr algn="l" rtl="0">
              <a:spcBef>
                <a:spcPct val="50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: executable version of the Jack OS;</a:t>
            </a:r>
          </a:p>
          <a:p>
            <a:pPr algn="l" rtl="0">
              <a:spcBef>
                <a:spcPct val="50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TextComparer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: a text comparison utility.</a:t>
            </a:r>
            <a:endParaRPr lang="en-US" altLang="en-US" sz="1600">
              <a:solidFill>
                <a:srgbClr val="0000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852" name="Rectangle 4">
            <a:extLst>
              <a:ext uri="{FF2B5EF4-FFF2-40B4-BE49-F238E27FC236}">
                <a16:creationId xmlns:a16="http://schemas.microsoft.com/office/drawing/2014/main" id="{7D29B6CF-4A2B-724B-A746-FED2ADDD8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685800"/>
            <a:ext cx="4876800" cy="228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anchorCtr="1"/>
          <a:lstStyle>
            <a:lvl1pPr marL="246063" indent="-246063" algn="r" rtl="1">
              <a:tabLst>
                <a:tab pos="1936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819150" indent="-285750" algn="r" rtl="1">
              <a:tabLst>
                <a:tab pos="1936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marL="1238250" indent="-228600" algn="r" rtl="1">
              <a:tabLst>
                <a:tab pos="1936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marL="1657350" indent="-228600" algn="r" rtl="1">
              <a:tabLst>
                <a:tab pos="1936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marL="2076450" indent="-228600" algn="r" rtl="1">
              <a:tabLst>
                <a:tab pos="1936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253365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1936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299085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1936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344805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1936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390525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1936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None/>
            </a:pPr>
            <a:r>
              <a:rPr lang="en-US" altLang="en-US" sz="1400">
                <a:latin typeface="Arial" panose="020B0604020202020204" pitchFamily="34" charset="0"/>
              </a:rPr>
              <a:t>(All the supplied tools are dual-platform:</a:t>
            </a:r>
            <a:r>
              <a:rPr lang="en-US" altLang="en-US" sz="14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Xxx.bat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starts</a:t>
            </a:r>
            <a:b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Xxx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in Windows, and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Xxx.sh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starts it in Unix)</a:t>
            </a:r>
          </a:p>
          <a:p>
            <a:pPr algn="l" rtl="0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None/>
            </a:pPr>
            <a:r>
              <a:rPr lang="en-US" altLang="en-US" sz="2000" u="sng">
                <a:latin typeface="Arial" panose="020B0604020202020204" pitchFamily="34" charset="0"/>
              </a:rPr>
              <a:t>Simulators</a:t>
            </a:r>
            <a:r>
              <a:rPr lang="en-US" altLang="en-US" sz="2000">
                <a:latin typeface="Arial" panose="020B0604020202020204" pitchFamily="34" charset="0"/>
              </a:rPr>
              <a:t> 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HardwareSimulator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CPUEmulator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VMEmulator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algn="l" rtl="0">
              <a:spcBef>
                <a:spcPct val="50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Used to build hardware platforms and</a:t>
            </a:r>
            <a:b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execute programs;</a:t>
            </a:r>
          </a:p>
          <a:p>
            <a:pPr algn="l" rtl="0">
              <a:spcBef>
                <a:spcPct val="50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600">
                <a:solidFill>
                  <a:srgbClr val="0000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Supplied by us.</a:t>
            </a:r>
          </a:p>
        </p:txBody>
      </p:sp>
      <p:pic>
        <p:nvPicPr>
          <p:cNvPr id="206853" name="Picture 5">
            <a:extLst>
              <a:ext uri="{FF2B5EF4-FFF2-40B4-BE49-F238E27FC236}">
                <a16:creationId xmlns:a16="http://schemas.microsoft.com/office/drawing/2014/main" id="{139E5BEB-8074-5144-8FF6-C1D5E06CF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56" t="15625" r="27344" b="31250"/>
          <a:stretch>
            <a:fillRect/>
          </a:stretch>
        </p:blipFill>
        <p:spPr bwMode="auto">
          <a:xfrm>
            <a:off x="457200" y="914400"/>
            <a:ext cx="3300413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6854" name="Rectangle 6">
            <a:extLst>
              <a:ext uri="{FF2B5EF4-FFF2-40B4-BE49-F238E27FC236}">
                <a16:creationId xmlns:a16="http://schemas.microsoft.com/office/drawing/2014/main" id="{3338E13C-8CF5-D346-82D3-3E29BEFA0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Book’s Software Suite</a:t>
            </a:r>
          </a:p>
        </p:txBody>
      </p:sp>
      <p:grpSp>
        <p:nvGrpSpPr>
          <p:cNvPr id="206855" name="Group 7">
            <a:extLst>
              <a:ext uri="{FF2B5EF4-FFF2-40B4-BE49-F238E27FC236}">
                <a16:creationId xmlns:a16="http://schemas.microsoft.com/office/drawing/2014/main" id="{593EBECF-1FB1-D048-B842-DFF2F83F599B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219575"/>
            <a:ext cx="3429000" cy="1724025"/>
            <a:chOff x="240" y="1122"/>
            <a:chExt cx="2160" cy="1086"/>
          </a:xfrm>
        </p:grpSpPr>
        <p:sp>
          <p:nvSpPr>
            <p:cNvPr id="206856" name="Rectangle 8">
              <a:extLst>
                <a:ext uri="{FF2B5EF4-FFF2-40B4-BE49-F238E27FC236}">
                  <a16:creationId xmlns:a16="http://schemas.microsoft.com/office/drawing/2014/main" id="{23AFF03A-C35D-B74A-8457-5579CE0CB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920"/>
              <a:ext cx="2160" cy="288"/>
            </a:xfrm>
            <a:prstGeom prst="rect">
              <a:avLst/>
            </a:prstGeom>
            <a:noFill/>
            <a:ln w="25400">
              <a:solidFill>
                <a:srgbClr val="CC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6E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 rIns="54000" anchor="ctr"/>
            <a:lstStyle/>
            <a:p>
              <a:endParaRPr lang="en-US"/>
            </a:p>
          </p:txBody>
        </p:sp>
        <p:sp>
          <p:nvSpPr>
            <p:cNvPr id="206857" name="AutoShape 9">
              <a:extLst>
                <a:ext uri="{FF2B5EF4-FFF2-40B4-BE49-F238E27FC236}">
                  <a16:creationId xmlns:a16="http://schemas.microsoft.com/office/drawing/2014/main" id="{41B1B392-DB39-1042-9B3B-CEC8369D4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122"/>
              <a:ext cx="864" cy="510"/>
            </a:xfrm>
            <a:prstGeom prst="roundRect">
              <a:avLst>
                <a:gd name="adj" fmla="val 16667"/>
              </a:avLst>
            </a:prstGeom>
            <a:solidFill>
              <a:srgbClr val="FFDDC3"/>
            </a:solidFill>
            <a:ln w="19050">
              <a:solidFill>
                <a:srgbClr val="BD520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50000"/>
                </a:spcBef>
                <a:buClr>
                  <a:srgbClr val="006600"/>
                </a:buClr>
                <a:buFont typeface="Wingdings" pitchFamily="2" charset="2"/>
                <a:buNone/>
              </a:pPr>
              <a:r>
                <a:rPr lang="en-US" altLang="en-US" sz="1400">
                  <a:solidFill>
                    <a:schemeClr val="tx1"/>
                  </a:solidFill>
                </a:rPr>
                <a:t>This tutorial is about the</a:t>
              </a:r>
              <a:br>
                <a:rPr lang="en-US" altLang="en-US" sz="1400">
                  <a:solidFill>
                    <a:schemeClr val="tx1"/>
                  </a:solidFill>
                </a:rPr>
              </a:br>
              <a:r>
                <a:rPr lang="en-US" altLang="en-US" sz="1400" b="1">
                  <a:solidFill>
                    <a:schemeClr val="tx1"/>
                  </a:solidFill>
                </a:rPr>
                <a:t>VM emulator</a:t>
              </a:r>
            </a:p>
          </p:txBody>
        </p:sp>
        <p:cxnSp>
          <p:nvCxnSpPr>
            <p:cNvPr id="206858" name="AutoShape 10">
              <a:extLst>
                <a:ext uri="{FF2B5EF4-FFF2-40B4-BE49-F238E27FC236}">
                  <a16:creationId xmlns:a16="http://schemas.microsoft.com/office/drawing/2014/main" id="{90EC4F56-5EF3-6D48-9CB8-3CB981F8E321}"/>
                </a:ext>
              </a:extLst>
            </p:cNvPr>
            <p:cNvCxnSpPr>
              <a:cxnSpLocks noChangeShapeType="1"/>
              <a:stCxn id="206857" idx="2"/>
              <a:endCxn id="206859" idx="2"/>
            </p:cNvCxnSpPr>
            <p:nvPr/>
          </p:nvCxnSpPr>
          <p:spPr bwMode="auto">
            <a:xfrm>
              <a:off x="1248" y="1638"/>
              <a:ext cx="0" cy="282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6859" name="Rectangle 11">
              <a:extLst>
                <a:ext uri="{FF2B5EF4-FFF2-40B4-BE49-F238E27FC236}">
                  <a16:creationId xmlns:a16="http://schemas.microsoft.com/office/drawing/2014/main" id="{CD0DAC80-B331-E642-97CA-6926D0350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776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0" grpId="0" animBg="1" autoUpdateAnimBg="0"/>
      <p:bldP spid="206851" grpId="0" animBg="1" autoUpdateAnimBg="0"/>
      <p:bldP spid="206852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>
            <a:extLst>
              <a:ext uri="{FF2B5EF4-FFF2-40B4-BE49-F238E27FC236}">
                <a16:creationId xmlns:a16="http://schemas.microsoft.com/office/drawing/2014/main" id="{CAB760CA-3F45-9141-BB82-84DFF1A568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VM Emulator Tutorial</a:t>
            </a:r>
          </a:p>
        </p:txBody>
      </p:sp>
      <p:sp>
        <p:nvSpPr>
          <p:cNvPr id="257029" name="Text Box 5">
            <a:extLst>
              <a:ext uri="{FF2B5EF4-FFF2-40B4-BE49-F238E27FC236}">
                <a16:creationId xmlns:a16="http://schemas.microsoft.com/office/drawing/2014/main" id="{A977EA61-779B-2A49-ACFB-E02DC3174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582738"/>
            <a:ext cx="6172200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09600" indent="-609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1066800" indent="-609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marL="1524000" indent="-609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marL="1981200" indent="-609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marL="2438400" indent="-609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2895600" indent="-609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3352800" indent="-609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3810000" indent="-609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4267200" indent="-609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>
              <a:spcBef>
                <a:spcPct val="100000"/>
              </a:spcBef>
              <a:buClr>
                <a:srgbClr val="006600"/>
              </a:buClr>
              <a:buSzPct val="110000"/>
              <a:buFont typeface="Wingdings" pitchFamily="2" charset="2"/>
              <a:buAutoNum type="romanUcPeriod"/>
            </a:pPr>
            <a:r>
              <a:rPr lang="en-US" altLang="en-US" sz="1800">
                <a:latin typeface="Arial" panose="020B0604020202020204" pitchFamily="34" charset="0"/>
                <a:hlinkClick r:id="rId2" action="ppaction://hlinksldjump"/>
              </a:rPr>
              <a:t>Getting Started</a:t>
            </a:r>
            <a:endParaRPr lang="en-US" altLang="en-US" sz="1800">
              <a:latin typeface="Arial" panose="020B0604020202020204" pitchFamily="34" charset="0"/>
            </a:endParaRPr>
          </a:p>
          <a:p>
            <a:pPr algn="l" rtl="0">
              <a:spcBef>
                <a:spcPct val="100000"/>
              </a:spcBef>
              <a:buClr>
                <a:srgbClr val="006600"/>
              </a:buClr>
              <a:buSzPct val="110000"/>
              <a:buFont typeface="Wingdings" pitchFamily="2" charset="2"/>
              <a:buAutoNum type="romanUcPeriod"/>
            </a:pPr>
            <a:r>
              <a:rPr lang="en-US" altLang="en-US" sz="1800">
                <a:latin typeface="Arial" panose="020B0604020202020204" pitchFamily="34" charset="0"/>
                <a:hlinkClick r:id="rId3" action="ppaction://hlinksldjump"/>
              </a:rPr>
              <a:t>Using Scripts</a:t>
            </a:r>
            <a:endParaRPr lang="en-US" altLang="en-US" sz="1800">
              <a:latin typeface="Arial" panose="020B0604020202020204" pitchFamily="34" charset="0"/>
            </a:endParaRPr>
          </a:p>
          <a:p>
            <a:pPr algn="l" rtl="0">
              <a:spcBef>
                <a:spcPct val="100000"/>
              </a:spcBef>
              <a:buClr>
                <a:srgbClr val="006600"/>
              </a:buClr>
              <a:buSzPct val="110000"/>
              <a:buFont typeface="Wingdings" pitchFamily="2" charset="2"/>
              <a:buAutoNum type="romanUcPeriod"/>
            </a:pPr>
            <a:r>
              <a:rPr lang="en-US" altLang="en-US" sz="1800">
                <a:latin typeface="Arial" panose="020B0604020202020204" pitchFamily="34" charset="0"/>
                <a:hlinkClick r:id="rId4" action="ppaction://hlinksldjump"/>
              </a:rPr>
              <a:t>Debugging</a:t>
            </a: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49" name="Picture 5" descr="G:\PPT Presentations\Pres Training\db Prepared Photos\monitor.jpg">
            <a:extLst>
              <a:ext uri="{FF2B5EF4-FFF2-40B4-BE49-F238E27FC236}">
                <a16:creationId xmlns:a16="http://schemas.microsoft.com/office/drawing/2014/main" id="{5F16F798-5BCB-2444-B535-73A925D3E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219200"/>
            <a:ext cx="45720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950" name="Rectangle 6">
            <a:extLst>
              <a:ext uri="{FF2B5EF4-FFF2-40B4-BE49-F238E27FC236}">
                <a16:creationId xmlns:a16="http://schemas.microsoft.com/office/drawing/2014/main" id="{8CFF8F46-E229-614B-9772-E09647AD8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438400"/>
            <a:ext cx="304800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90513" indent="-290513" algn="l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1pPr>
            <a:lvl2pPr marL="481013" algn="l">
              <a:spcBef>
                <a:spcPct val="40000"/>
              </a:spcBef>
              <a:buClr>
                <a:srgbClr val="00007A"/>
              </a:buClr>
              <a:buSzPct val="125000"/>
              <a:buChar char="•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2pPr>
            <a:lvl3pPr algn="l">
              <a:spcBef>
                <a:spcPct val="40000"/>
              </a:spcBef>
              <a:buClr>
                <a:srgbClr val="A50021"/>
              </a:buClr>
              <a:buSzPct val="110000"/>
              <a:buChar char="•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3pPr>
            <a:lvl4pPr algn="l">
              <a:spcBef>
                <a:spcPct val="40000"/>
              </a:spcBef>
              <a:buChar char="–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4pPr>
            <a:lvl5pPr algn="l">
              <a:spcBef>
                <a:spcPct val="40000"/>
              </a:spcBef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5pPr>
            <a:lvl6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6pPr>
            <a:lvl7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7pPr>
            <a:lvl8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8pPr>
            <a:lvl9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9pPr>
          </a:lstStyle>
          <a:p>
            <a:pPr algn="ctr">
              <a:spcBef>
                <a:spcPct val="60000"/>
              </a:spcBef>
              <a:buFont typeface="Wingdings" pitchFamily="2" charset="2"/>
              <a:buNone/>
            </a:pPr>
            <a:r>
              <a:rPr lang="en-US" altLang="he-IL" sz="2400" b="1" u="sng">
                <a:solidFill>
                  <a:srgbClr val="000066"/>
                </a:solidFill>
              </a:rPr>
              <a:t>Part I:</a:t>
            </a:r>
          </a:p>
          <a:p>
            <a:pPr algn="ctr">
              <a:spcBef>
                <a:spcPct val="60000"/>
              </a:spcBef>
              <a:buFont typeface="Wingdings" pitchFamily="2" charset="2"/>
              <a:buNone/>
            </a:pPr>
            <a:r>
              <a:rPr lang="en-US" altLang="he-IL" sz="2400" b="1">
                <a:solidFill>
                  <a:srgbClr val="000066"/>
                </a:solidFill>
              </a:rPr>
              <a:t>Getting Started</a:t>
            </a:r>
          </a:p>
        </p:txBody>
      </p:sp>
      <p:sp>
        <p:nvSpPr>
          <p:cNvPr id="210952" name="Rectangle 8">
            <a:extLst>
              <a:ext uri="{FF2B5EF4-FFF2-40B4-BE49-F238E27FC236}">
                <a16:creationId xmlns:a16="http://schemas.microsoft.com/office/drawing/2014/main" id="{17C8E25E-C49B-7342-8C6C-778A828CD4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VM Emulator Tutorial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670945EE-BE66-7A48-8B2A-D50CD9CD2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Typical Origin of VM Programs</a:t>
            </a: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E6E4F4A8-C95B-F242-A059-2972F65549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0" y="1143000"/>
            <a:ext cx="3581400" cy="46482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0"/>
              </a:spcBef>
            </a:pPr>
            <a:r>
              <a:rPr lang="en-US" altLang="en-US"/>
              <a:t>VM programs are normally written by compilers</a:t>
            </a:r>
          </a:p>
          <a:p>
            <a:pPr>
              <a:lnSpc>
                <a:spcPct val="90000"/>
              </a:lnSpc>
              <a:spcBef>
                <a:spcPct val="100000"/>
              </a:spcBef>
            </a:pPr>
            <a:r>
              <a:rPr lang="en-US" altLang="en-US"/>
              <a:t>For example, the Jack compiler (chapters 10-11) generates VM programs</a:t>
            </a:r>
          </a:p>
          <a:p>
            <a:pPr>
              <a:lnSpc>
                <a:spcPct val="90000"/>
              </a:lnSpc>
              <a:spcBef>
                <a:spcPct val="100000"/>
              </a:spcBef>
            </a:pPr>
            <a:r>
              <a:rPr lang="en-US" altLang="en-US"/>
              <a:t>The VM program can be translated further into machine language, and then executed on a host computer</a:t>
            </a:r>
          </a:p>
          <a:p>
            <a:pPr>
              <a:lnSpc>
                <a:spcPct val="90000"/>
              </a:lnSpc>
              <a:spcBef>
                <a:spcPct val="100000"/>
              </a:spcBef>
            </a:pPr>
            <a:r>
              <a:rPr lang="en-US" altLang="en-US"/>
              <a:t>Alternatively, the same VM program can be emulated as-is on a VM emulator.</a:t>
            </a:r>
          </a:p>
        </p:txBody>
      </p:sp>
      <p:graphicFrame>
        <p:nvGraphicFramePr>
          <p:cNvPr id="230405" name="Object 5">
            <a:extLst>
              <a:ext uri="{FF2B5EF4-FFF2-40B4-BE49-F238E27FC236}">
                <a16:creationId xmlns:a16="http://schemas.microsoft.com/office/drawing/2014/main" id="{50336512-09CA-4E45-80E8-BB72BD258E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685800"/>
          <a:ext cx="4191000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306800" imgH="16268700" progId="Visio.Drawing.6">
                  <p:embed/>
                </p:oleObj>
              </mc:Choice>
              <mc:Fallback>
                <p:oleObj name="VISIO" r:id="rId2" imgW="16306800" imgH="162687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5" t="12079" r="32651"/>
                      <a:stretch>
                        <a:fillRect/>
                      </a:stretch>
                    </p:blipFill>
                    <p:spPr bwMode="auto">
                      <a:xfrm>
                        <a:off x="685800" y="685800"/>
                        <a:ext cx="4191000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06" name="AutoShape 6">
            <a:extLst>
              <a:ext uri="{FF2B5EF4-FFF2-40B4-BE49-F238E27FC236}">
                <a16:creationId xmlns:a16="http://schemas.microsoft.com/office/drawing/2014/main" id="{D1908C0A-486C-FD46-B874-7CB9881DA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133600"/>
            <a:ext cx="990600" cy="609600"/>
          </a:xfrm>
          <a:prstGeom prst="wedgeRoundRectCallout">
            <a:avLst>
              <a:gd name="adj1" fmla="val -17468"/>
              <a:gd name="adj2" fmla="val 147398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/>
          <a:p>
            <a:pPr algn="l">
              <a:spcAft>
                <a:spcPct val="30000"/>
              </a:spcAft>
            </a:pPr>
            <a:r>
              <a:rPr lang="en-US" altLang="en-US" sz="1400">
                <a:solidFill>
                  <a:srgbClr val="00007A"/>
                </a:solidFill>
              </a:rPr>
              <a:t>Supplied by us</a:t>
            </a:r>
          </a:p>
        </p:txBody>
      </p:sp>
      <p:sp>
        <p:nvSpPr>
          <p:cNvPr id="230407" name="AutoShape 7">
            <a:extLst>
              <a:ext uri="{FF2B5EF4-FFF2-40B4-BE49-F238E27FC236}">
                <a16:creationId xmlns:a16="http://schemas.microsoft.com/office/drawing/2014/main" id="{2175AA9A-78EC-634D-8464-00267E860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133600"/>
            <a:ext cx="914400" cy="762000"/>
          </a:xfrm>
          <a:prstGeom prst="wedgeRoundRectCallout">
            <a:avLst>
              <a:gd name="adj1" fmla="val -1907"/>
              <a:gd name="adj2" fmla="val 104167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/>
          <a:p>
            <a:pPr algn="l">
              <a:spcAft>
                <a:spcPct val="30000"/>
              </a:spcAft>
            </a:pPr>
            <a:r>
              <a:rPr lang="en-US" altLang="en-US" sz="1400">
                <a:solidFill>
                  <a:srgbClr val="00007A"/>
                </a:solidFill>
              </a:rPr>
              <a:t>Built in projects 7 and 8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30408" name="Oval 8">
            <a:extLst>
              <a:ext uri="{FF2B5EF4-FFF2-40B4-BE49-F238E27FC236}">
                <a16:creationId xmlns:a16="http://schemas.microsoft.com/office/drawing/2014/main" id="{F09B0013-FDFA-FB47-9AC5-E1D3F3FAC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09800"/>
            <a:ext cx="1143000" cy="7620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3" grpId="0" build="p" autoUpdateAnimBg="0"/>
      <p:bldP spid="230406" grpId="0" animBg="1" autoUpdateAnimBg="0"/>
      <p:bldP spid="230407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1027">
            <a:extLst>
              <a:ext uri="{FF2B5EF4-FFF2-40B4-BE49-F238E27FC236}">
                <a16:creationId xmlns:a16="http://schemas.microsoft.com/office/drawing/2014/main" id="{3736D779-1F48-3A4A-9E7F-E85820A7BA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Pong game (user view)</a:t>
            </a:r>
          </a:p>
        </p:txBody>
      </p:sp>
      <p:grpSp>
        <p:nvGrpSpPr>
          <p:cNvPr id="252960" name="Group 1056">
            <a:extLst>
              <a:ext uri="{FF2B5EF4-FFF2-40B4-BE49-F238E27FC236}">
                <a16:creationId xmlns:a16="http://schemas.microsoft.com/office/drawing/2014/main" id="{FEC8732D-17FF-E04A-9C03-95913AE9D2D9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838200"/>
            <a:ext cx="8001000" cy="4343400"/>
            <a:chOff x="768" y="864"/>
            <a:chExt cx="4368" cy="2256"/>
          </a:xfrm>
        </p:grpSpPr>
        <p:pic>
          <p:nvPicPr>
            <p:cNvPr id="252941" name="Picture 1037">
              <a:extLst>
                <a:ext uri="{FF2B5EF4-FFF2-40B4-BE49-F238E27FC236}">
                  <a16:creationId xmlns:a16="http://schemas.microsoft.com/office/drawing/2014/main" id="{2697C885-8753-444E-ADAF-B96CB2ABDA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64" t="13705" b="51408"/>
            <a:stretch>
              <a:fillRect/>
            </a:stretch>
          </p:blipFill>
          <p:spPr bwMode="auto">
            <a:xfrm>
              <a:off x="768" y="864"/>
              <a:ext cx="4368" cy="21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52959" name="Picture 1055">
              <a:extLst>
                <a:ext uri="{FF2B5EF4-FFF2-40B4-BE49-F238E27FC236}">
                  <a16:creationId xmlns:a16="http://schemas.microsoft.com/office/drawing/2014/main" id="{96BE5D9E-3589-D248-98C4-320541ADB8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64" t="13705" b="85529"/>
            <a:stretch>
              <a:fillRect/>
            </a:stretch>
          </p:blipFill>
          <p:spPr bwMode="auto">
            <a:xfrm>
              <a:off x="768" y="3024"/>
              <a:ext cx="4368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52961" name="Rectangle 1057">
            <a:extLst>
              <a:ext uri="{FF2B5EF4-FFF2-40B4-BE49-F238E27FC236}">
                <a16:creationId xmlns:a16="http://schemas.microsoft.com/office/drawing/2014/main" id="{BEE81287-5999-5B47-8800-1D28E08E2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638800"/>
            <a:ext cx="83327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anchorCtr="1"/>
          <a:lstStyle>
            <a:lvl1pPr marL="342900" indent="-3429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742950" indent="-28575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marL="1143000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marL="1600200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marL="2057400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rgbClr val="00007A"/>
                </a:solidFill>
                <a:latin typeface="Arial" panose="020B0604020202020204" pitchFamily="34" charset="0"/>
              </a:rPr>
              <a:t>Now let’s go behind the scene ...</a:t>
            </a:r>
          </a:p>
          <a:p>
            <a:pPr algn="l" rtl="0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endParaRPr lang="en-US" altLang="en-US">
              <a:solidFill>
                <a:srgbClr val="00007A"/>
              </a:solidFill>
              <a:latin typeface="Arial" panose="020B0604020202020204" pitchFamily="34" charset="0"/>
            </a:endParaRPr>
          </a:p>
          <a:p>
            <a:pPr algn="l" rtl="0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endParaRPr lang="en-US" altLang="en-US">
              <a:solidFill>
                <a:srgbClr val="00007A"/>
              </a:solidFill>
              <a:latin typeface="Arial" panose="020B0604020202020204" pitchFamily="34" charset="0"/>
            </a:endParaRPr>
          </a:p>
        </p:txBody>
      </p:sp>
      <p:grpSp>
        <p:nvGrpSpPr>
          <p:cNvPr id="252971" name="Group 1067">
            <a:extLst>
              <a:ext uri="{FF2B5EF4-FFF2-40B4-BE49-F238E27FC236}">
                <a16:creationId xmlns:a16="http://schemas.microsoft.com/office/drawing/2014/main" id="{13DB30BE-001F-0A4D-95A9-D671A5C9D703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133600"/>
            <a:ext cx="2286000" cy="1295400"/>
            <a:chOff x="2688" y="1344"/>
            <a:chExt cx="1440" cy="816"/>
          </a:xfrm>
        </p:grpSpPr>
        <p:sp>
          <p:nvSpPr>
            <p:cNvPr id="252964" name="Rectangle 1060">
              <a:extLst>
                <a:ext uri="{FF2B5EF4-FFF2-40B4-BE49-F238E27FC236}">
                  <a16:creationId xmlns:a16="http://schemas.microsoft.com/office/drawing/2014/main" id="{7CCFCFC8-19A5-C540-A2FE-E91BB8FE9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344"/>
              <a:ext cx="1008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Comic Sans MS" panose="030F0902030302020204" pitchFamily="66" charset="0"/>
                </a:rPr>
                <a:t>Ball moves and bounces off the walls “randomly”</a:t>
              </a:r>
              <a:endParaRPr lang="en-US" altLang="en-US" sz="1600">
                <a:latin typeface="Comic Sans MS" panose="030F0902030302020204" pitchFamily="66" charset="0"/>
              </a:endParaRPr>
            </a:p>
          </p:txBody>
        </p:sp>
        <p:sp>
          <p:nvSpPr>
            <p:cNvPr id="252966" name="Freeform 1062">
              <a:extLst>
                <a:ext uri="{FF2B5EF4-FFF2-40B4-BE49-F238E27FC236}">
                  <a16:creationId xmlns:a16="http://schemas.microsoft.com/office/drawing/2014/main" id="{B7E05482-7ED4-5046-9A9C-2FF1A84191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648" y="1728"/>
              <a:ext cx="480" cy="432"/>
            </a:xfrm>
            <a:custGeom>
              <a:avLst/>
              <a:gdLst>
                <a:gd name="T0" fmla="*/ 0 w 418"/>
                <a:gd name="T1" fmla="*/ 381 h 381"/>
                <a:gd name="T2" fmla="*/ 51 w 418"/>
                <a:gd name="T3" fmla="*/ 161 h 381"/>
                <a:gd name="T4" fmla="*/ 74 w 418"/>
                <a:gd name="T5" fmla="*/ 261 h 381"/>
                <a:gd name="T6" fmla="*/ 241 w 418"/>
                <a:gd name="T7" fmla="*/ 0 h 381"/>
                <a:gd name="T8" fmla="*/ 295 w 418"/>
                <a:gd name="T9" fmla="*/ 132 h 381"/>
                <a:gd name="T10" fmla="*/ 418 w 418"/>
                <a:gd name="T11" fmla="*/ 207 h 381"/>
                <a:gd name="T12" fmla="*/ 134 w 418"/>
                <a:gd name="T13" fmla="*/ 330 h 381"/>
                <a:gd name="T14" fmla="*/ 226 w 418"/>
                <a:gd name="T15" fmla="*/ 368 h 381"/>
                <a:gd name="T16" fmla="*/ 0 w 418"/>
                <a:gd name="T17" fmla="*/ 381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8" h="381">
                  <a:moveTo>
                    <a:pt x="0" y="381"/>
                  </a:moveTo>
                  <a:lnTo>
                    <a:pt x="51" y="161"/>
                  </a:lnTo>
                  <a:lnTo>
                    <a:pt x="74" y="261"/>
                  </a:lnTo>
                  <a:lnTo>
                    <a:pt x="241" y="0"/>
                  </a:lnTo>
                  <a:lnTo>
                    <a:pt x="295" y="132"/>
                  </a:lnTo>
                  <a:lnTo>
                    <a:pt x="418" y="207"/>
                  </a:lnTo>
                  <a:lnTo>
                    <a:pt x="134" y="330"/>
                  </a:lnTo>
                  <a:lnTo>
                    <a:pt x="226" y="368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2972" name="Group 1068">
            <a:extLst>
              <a:ext uri="{FF2B5EF4-FFF2-40B4-BE49-F238E27FC236}">
                <a16:creationId xmlns:a16="http://schemas.microsoft.com/office/drawing/2014/main" id="{BD4E7195-4D19-994A-B276-1654D2CDC318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305175"/>
            <a:ext cx="2438400" cy="1038225"/>
            <a:chOff x="2256" y="2082"/>
            <a:chExt cx="1536" cy="654"/>
          </a:xfrm>
        </p:grpSpPr>
        <p:sp>
          <p:nvSpPr>
            <p:cNvPr id="252967" name="Freeform 1063">
              <a:extLst>
                <a:ext uri="{FF2B5EF4-FFF2-40B4-BE49-F238E27FC236}">
                  <a16:creationId xmlns:a16="http://schemas.microsoft.com/office/drawing/2014/main" id="{37A6B2C9-FBBD-DF49-AABD-1C4D19320E5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12" y="2304"/>
              <a:ext cx="480" cy="432"/>
            </a:xfrm>
            <a:custGeom>
              <a:avLst/>
              <a:gdLst>
                <a:gd name="T0" fmla="*/ 0 w 418"/>
                <a:gd name="T1" fmla="*/ 381 h 381"/>
                <a:gd name="T2" fmla="*/ 51 w 418"/>
                <a:gd name="T3" fmla="*/ 161 h 381"/>
                <a:gd name="T4" fmla="*/ 74 w 418"/>
                <a:gd name="T5" fmla="*/ 261 h 381"/>
                <a:gd name="T6" fmla="*/ 241 w 418"/>
                <a:gd name="T7" fmla="*/ 0 h 381"/>
                <a:gd name="T8" fmla="*/ 295 w 418"/>
                <a:gd name="T9" fmla="*/ 132 h 381"/>
                <a:gd name="T10" fmla="*/ 418 w 418"/>
                <a:gd name="T11" fmla="*/ 207 h 381"/>
                <a:gd name="T12" fmla="*/ 134 w 418"/>
                <a:gd name="T13" fmla="*/ 330 h 381"/>
                <a:gd name="T14" fmla="*/ 226 w 418"/>
                <a:gd name="T15" fmla="*/ 368 h 381"/>
                <a:gd name="T16" fmla="*/ 0 w 418"/>
                <a:gd name="T17" fmla="*/ 381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8" h="381">
                  <a:moveTo>
                    <a:pt x="0" y="381"/>
                  </a:moveTo>
                  <a:lnTo>
                    <a:pt x="51" y="161"/>
                  </a:lnTo>
                  <a:lnTo>
                    <a:pt x="74" y="261"/>
                  </a:lnTo>
                  <a:lnTo>
                    <a:pt x="241" y="0"/>
                  </a:lnTo>
                  <a:lnTo>
                    <a:pt x="295" y="132"/>
                  </a:lnTo>
                  <a:lnTo>
                    <a:pt x="418" y="207"/>
                  </a:lnTo>
                  <a:lnTo>
                    <a:pt x="134" y="330"/>
                  </a:lnTo>
                  <a:lnTo>
                    <a:pt x="226" y="368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2969" name="Rectangle 1065">
              <a:extLst>
                <a:ext uri="{FF2B5EF4-FFF2-40B4-BE49-F238E27FC236}">
                  <a16:creationId xmlns:a16="http://schemas.microsoft.com/office/drawing/2014/main" id="{B4D82D37-0667-B346-9722-68C21C681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082"/>
              <a:ext cx="1200" cy="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Comic Sans MS" panose="030F0902030302020204" pitchFamily="66" charset="0"/>
                </a:rPr>
                <a:t>User move the bat left and right, trying to hit the ball</a:t>
              </a:r>
              <a:endParaRPr lang="en-US" altLang="en-US" sz="1600">
                <a:latin typeface="Comic Sans MS" panose="030F0902030302020204" pitchFamily="66" charset="0"/>
              </a:endParaRPr>
            </a:p>
          </p:txBody>
        </p:sp>
      </p:grpSp>
      <p:grpSp>
        <p:nvGrpSpPr>
          <p:cNvPr id="252973" name="Group 1069">
            <a:extLst>
              <a:ext uri="{FF2B5EF4-FFF2-40B4-BE49-F238E27FC236}">
                <a16:creationId xmlns:a16="http://schemas.microsoft.com/office/drawing/2014/main" id="{6B2AA735-A202-1F40-9F5B-97DAC5632920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695575"/>
            <a:ext cx="1219200" cy="1647825"/>
            <a:chOff x="576" y="1698"/>
            <a:chExt cx="768" cy="1038"/>
          </a:xfrm>
        </p:grpSpPr>
        <p:sp>
          <p:nvSpPr>
            <p:cNvPr id="252968" name="Freeform 1064">
              <a:extLst>
                <a:ext uri="{FF2B5EF4-FFF2-40B4-BE49-F238E27FC236}">
                  <a16:creationId xmlns:a16="http://schemas.microsoft.com/office/drawing/2014/main" id="{DB33492F-CCF1-3045-B0C3-E093F67BDA40}"/>
                </a:ext>
              </a:extLst>
            </p:cNvPr>
            <p:cNvSpPr>
              <a:spLocks/>
            </p:cNvSpPr>
            <p:nvPr/>
          </p:nvSpPr>
          <p:spPr bwMode="auto">
            <a:xfrm rot="7599004" flipH="1" flipV="1">
              <a:off x="634" y="2198"/>
              <a:ext cx="576" cy="499"/>
            </a:xfrm>
            <a:custGeom>
              <a:avLst/>
              <a:gdLst>
                <a:gd name="T0" fmla="*/ 0 w 418"/>
                <a:gd name="T1" fmla="*/ 381 h 381"/>
                <a:gd name="T2" fmla="*/ 51 w 418"/>
                <a:gd name="T3" fmla="*/ 161 h 381"/>
                <a:gd name="T4" fmla="*/ 74 w 418"/>
                <a:gd name="T5" fmla="*/ 261 h 381"/>
                <a:gd name="T6" fmla="*/ 241 w 418"/>
                <a:gd name="T7" fmla="*/ 0 h 381"/>
                <a:gd name="T8" fmla="*/ 295 w 418"/>
                <a:gd name="T9" fmla="*/ 132 h 381"/>
                <a:gd name="T10" fmla="*/ 418 w 418"/>
                <a:gd name="T11" fmla="*/ 207 h 381"/>
                <a:gd name="T12" fmla="*/ 134 w 418"/>
                <a:gd name="T13" fmla="*/ 330 h 381"/>
                <a:gd name="T14" fmla="*/ 226 w 418"/>
                <a:gd name="T15" fmla="*/ 368 h 381"/>
                <a:gd name="T16" fmla="*/ 0 w 418"/>
                <a:gd name="T17" fmla="*/ 381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8" h="381">
                  <a:moveTo>
                    <a:pt x="0" y="381"/>
                  </a:moveTo>
                  <a:lnTo>
                    <a:pt x="51" y="161"/>
                  </a:lnTo>
                  <a:lnTo>
                    <a:pt x="74" y="261"/>
                  </a:lnTo>
                  <a:lnTo>
                    <a:pt x="241" y="0"/>
                  </a:lnTo>
                  <a:lnTo>
                    <a:pt x="295" y="132"/>
                  </a:lnTo>
                  <a:lnTo>
                    <a:pt x="418" y="207"/>
                  </a:lnTo>
                  <a:lnTo>
                    <a:pt x="134" y="330"/>
                  </a:lnTo>
                  <a:lnTo>
                    <a:pt x="226" y="368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2970" name="Rectangle 1066">
              <a:extLst>
                <a:ext uri="{FF2B5EF4-FFF2-40B4-BE49-F238E27FC236}">
                  <a16:creationId xmlns:a16="http://schemas.microsoft.com/office/drawing/2014/main" id="{87F2D076-3F0F-664F-B070-89029BF2D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698"/>
              <a:ext cx="768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Comic Sans MS" panose="030F0902030302020204" pitchFamily="66" charset="0"/>
                </a:rPr>
                <a:t>Number of successful hits</a:t>
              </a:r>
              <a:endParaRPr lang="en-US" altLang="en-US" sz="1600">
                <a:latin typeface="Comic Sans MS" panose="030F0902030302020204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6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210" name="Picture 18">
            <a:extLst>
              <a:ext uri="{FF2B5EF4-FFF2-40B4-BE49-F238E27FC236}">
                <a16:creationId xmlns:a16="http://schemas.microsoft.com/office/drawing/2014/main" id="{6D9E4AD4-5989-2849-B9B5-15B931FD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8077200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4195" name="Rectangle 3">
            <a:extLst>
              <a:ext uri="{FF2B5EF4-FFF2-40B4-BE49-F238E27FC236}">
                <a16:creationId xmlns:a16="http://schemas.microsoft.com/office/drawing/2014/main" id="{D17E1770-5189-D949-AB6A-3A0F1ACC0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VM Emulator at a Glance</a:t>
            </a:r>
          </a:p>
        </p:txBody>
      </p:sp>
      <p:sp>
        <p:nvSpPr>
          <p:cNvPr id="264196" name="AutoShape 4">
            <a:extLst>
              <a:ext uri="{FF2B5EF4-FFF2-40B4-BE49-F238E27FC236}">
                <a16:creationId xmlns:a16="http://schemas.microsoft.com/office/drawing/2014/main" id="{10D98F2A-53ED-374C-B799-2DB6091AC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914400"/>
            <a:ext cx="1219200" cy="1219200"/>
          </a:xfrm>
          <a:prstGeom prst="wedgeRoundRectCallout">
            <a:avLst>
              <a:gd name="adj1" fmla="val -24741"/>
              <a:gd name="adj2" fmla="val 73046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/>
          <a:p>
            <a:pPr algn="l">
              <a:spcAft>
                <a:spcPct val="30000"/>
              </a:spcAft>
            </a:pPr>
            <a:r>
              <a:rPr lang="en-US" altLang="en-US" sz="1400" u="sng">
                <a:solidFill>
                  <a:srgbClr val="00007A"/>
                </a:solidFill>
              </a:rPr>
              <a:t>VM program</a:t>
            </a:r>
            <a:br>
              <a:rPr lang="en-US" altLang="en-US" sz="1400" u="sng">
                <a:solidFill>
                  <a:srgbClr val="00007A"/>
                </a:solidFill>
              </a:rPr>
            </a:br>
            <a:r>
              <a:rPr lang="en-US" altLang="en-US" sz="1400">
                <a:solidFill>
                  <a:schemeClr val="tx1"/>
                </a:solidFill>
              </a:rPr>
              <a:t>(In this example:</a:t>
            </a:r>
            <a:br>
              <a:rPr lang="en-US" altLang="en-US" sz="1400">
                <a:solidFill>
                  <a:schemeClr val="tx1"/>
                </a:solidFill>
              </a:rPr>
            </a:br>
            <a:r>
              <a:rPr lang="en-US" altLang="en-US" sz="1400">
                <a:solidFill>
                  <a:schemeClr val="tx1"/>
                </a:solidFill>
              </a:rPr>
              <a:t>Pong code</a:t>
            </a:r>
            <a:br>
              <a:rPr lang="en-US" altLang="en-US" sz="1400">
                <a:solidFill>
                  <a:schemeClr val="tx1"/>
                </a:solidFill>
              </a:rPr>
            </a:br>
            <a:r>
              <a:rPr lang="en-US" altLang="en-US" sz="1400">
                <a:solidFill>
                  <a:schemeClr val="tx1"/>
                </a:solidFill>
              </a:rPr>
              <a:t>+ OS code)</a:t>
            </a:r>
          </a:p>
        </p:txBody>
      </p:sp>
      <p:sp>
        <p:nvSpPr>
          <p:cNvPr id="264197" name="AutoShape 5">
            <a:extLst>
              <a:ext uri="{FF2B5EF4-FFF2-40B4-BE49-F238E27FC236}">
                <a16:creationId xmlns:a16="http://schemas.microsoft.com/office/drawing/2014/main" id="{176A1B93-2899-AE4C-B9E4-D9919EA55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295400"/>
            <a:ext cx="1828800" cy="914400"/>
          </a:xfrm>
          <a:prstGeom prst="wedgeRoundRectCallout">
            <a:avLst>
              <a:gd name="adj1" fmla="val -17361"/>
              <a:gd name="adj2" fmla="val 28648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/>
          <a:p>
            <a:pPr algn="l">
              <a:spcAft>
                <a:spcPct val="30000"/>
              </a:spcAft>
            </a:pPr>
            <a:r>
              <a:rPr lang="en-US" altLang="en-US" sz="1400" u="sng">
                <a:solidFill>
                  <a:srgbClr val="000099"/>
                </a:solidFill>
              </a:rPr>
              <a:t>Screen:</a:t>
            </a:r>
          </a:p>
          <a:p>
            <a:pPr algn="l">
              <a:spcAft>
                <a:spcPct val="30000"/>
              </a:spcAft>
            </a:pPr>
            <a:r>
              <a:rPr lang="en-US" altLang="en-US" sz="1400">
                <a:solidFill>
                  <a:schemeClr val="tx1"/>
                </a:solidFill>
              </a:rPr>
              <a:t>(In this example: Pong game action)</a:t>
            </a:r>
          </a:p>
        </p:txBody>
      </p:sp>
      <p:grpSp>
        <p:nvGrpSpPr>
          <p:cNvPr id="264198" name="Group 6">
            <a:extLst>
              <a:ext uri="{FF2B5EF4-FFF2-40B4-BE49-F238E27FC236}">
                <a16:creationId xmlns:a16="http://schemas.microsoft.com/office/drawing/2014/main" id="{E523B375-D4E6-B84A-BEA5-25474AF30252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1524000"/>
            <a:ext cx="1600200" cy="4724400"/>
            <a:chOff x="1728" y="960"/>
            <a:chExt cx="1008" cy="2976"/>
          </a:xfrm>
        </p:grpSpPr>
        <p:sp>
          <p:nvSpPr>
            <p:cNvPr id="264199" name="Rectangle 7">
              <a:extLst>
                <a:ext uri="{FF2B5EF4-FFF2-40B4-BE49-F238E27FC236}">
                  <a16:creationId xmlns:a16="http://schemas.microsoft.com/office/drawing/2014/main" id="{2713D4CB-0211-B04C-A386-CB0754809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960"/>
              <a:ext cx="1008" cy="2976"/>
            </a:xfrm>
            <a:prstGeom prst="rect">
              <a:avLst/>
            </a:prstGeom>
            <a:noFill/>
            <a:ln w="47625">
              <a:solidFill>
                <a:srgbClr val="CC33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6E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4200" name="AutoShape 8">
              <a:extLst>
                <a:ext uri="{FF2B5EF4-FFF2-40B4-BE49-F238E27FC236}">
                  <a16:creationId xmlns:a16="http://schemas.microsoft.com/office/drawing/2014/main" id="{B3ACE528-4C22-CA45-860D-C448EDC70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392"/>
              <a:ext cx="672" cy="528"/>
            </a:xfrm>
            <a:prstGeom prst="wedgeRoundRectCallout">
              <a:avLst>
                <a:gd name="adj1" fmla="val -35713"/>
                <a:gd name="adj2" fmla="val -759"/>
                <a:gd name="adj3" fmla="val 16667"/>
              </a:avLst>
            </a:prstGeom>
            <a:solidFill>
              <a:srgbClr val="FFFFC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Ins="0"/>
            <a:lstStyle/>
            <a:p>
              <a:pPr algn="l">
                <a:spcAft>
                  <a:spcPct val="30000"/>
                </a:spcAft>
              </a:pPr>
              <a:r>
                <a:rPr lang="en-US" altLang="en-US" sz="1400" u="sng">
                  <a:solidFill>
                    <a:srgbClr val="00007A"/>
                  </a:solidFill>
                </a:rPr>
                <a:t>Virtual memory segments</a:t>
              </a:r>
            </a:p>
          </p:txBody>
        </p:sp>
      </p:grpSp>
      <p:sp>
        <p:nvSpPr>
          <p:cNvPr id="264201" name="AutoShape 9">
            <a:extLst>
              <a:ext uri="{FF2B5EF4-FFF2-40B4-BE49-F238E27FC236}">
                <a16:creationId xmlns:a16="http://schemas.microsoft.com/office/drawing/2014/main" id="{601A1DFF-B22D-1642-8CAF-EC95A533F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667000"/>
            <a:ext cx="1066800" cy="609600"/>
          </a:xfrm>
          <a:prstGeom prst="wedgeRoundRectCallout">
            <a:avLst>
              <a:gd name="adj1" fmla="val -19644"/>
              <a:gd name="adj2" fmla="val 121356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/>
          <a:p>
            <a:pPr algn="l">
              <a:spcAft>
                <a:spcPct val="30000"/>
              </a:spcAft>
            </a:pPr>
            <a:r>
              <a:rPr lang="en-US" altLang="en-US" sz="1400" u="sng">
                <a:solidFill>
                  <a:srgbClr val="00007A"/>
                </a:solidFill>
              </a:rPr>
              <a:t>Keyboard enabler</a:t>
            </a:r>
          </a:p>
        </p:txBody>
      </p:sp>
      <p:sp>
        <p:nvSpPr>
          <p:cNvPr id="264202" name="AutoShape 10">
            <a:extLst>
              <a:ext uri="{FF2B5EF4-FFF2-40B4-BE49-F238E27FC236}">
                <a16:creationId xmlns:a16="http://schemas.microsoft.com/office/drawing/2014/main" id="{12B97A1D-EC7D-7345-B033-9C9A67E87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733800"/>
            <a:ext cx="1981200" cy="1143000"/>
          </a:xfrm>
          <a:prstGeom prst="wedgeRoundRectCallout">
            <a:avLst>
              <a:gd name="adj1" fmla="val -75722"/>
              <a:gd name="adj2" fmla="val -3333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18000"/>
          <a:lstStyle/>
          <a:p>
            <a:pPr algn="l">
              <a:spcAft>
                <a:spcPct val="30000"/>
              </a:spcAft>
            </a:pPr>
            <a:r>
              <a:rPr lang="en-US" altLang="en-US" sz="1400" u="sng">
                <a:solidFill>
                  <a:srgbClr val="000099"/>
                </a:solidFill>
              </a:rPr>
              <a:t>Working stack</a:t>
            </a:r>
            <a:r>
              <a:rPr lang="en-US" altLang="en-US" sz="1400" u="sng">
                <a:solidFill>
                  <a:schemeClr val="tx1"/>
                </a:solidFill>
              </a:rPr>
              <a:t>:</a:t>
            </a:r>
          </a:p>
          <a:p>
            <a:pPr algn="l">
              <a:spcAft>
                <a:spcPct val="30000"/>
              </a:spcAft>
            </a:pPr>
            <a:r>
              <a:rPr lang="en-US" altLang="en-US" sz="1400">
                <a:solidFill>
                  <a:schemeClr val="tx1"/>
                </a:solidFill>
              </a:rPr>
              <a:t>Topmost part of the global stack, as seen by the VM program</a:t>
            </a:r>
          </a:p>
        </p:txBody>
      </p:sp>
      <p:sp>
        <p:nvSpPr>
          <p:cNvPr id="264203" name="AutoShape 11">
            <a:extLst>
              <a:ext uri="{FF2B5EF4-FFF2-40B4-BE49-F238E27FC236}">
                <a16:creationId xmlns:a16="http://schemas.microsoft.com/office/drawing/2014/main" id="{F24B161C-3FF2-AD41-A25A-F7B554250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29200"/>
            <a:ext cx="1828800" cy="1066800"/>
          </a:xfrm>
          <a:prstGeom prst="wedgeRoundRectCallout">
            <a:avLst>
              <a:gd name="adj1" fmla="val -72134"/>
              <a:gd name="adj2" fmla="val 36606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18000"/>
          <a:lstStyle/>
          <a:p>
            <a:pPr algn="l">
              <a:spcAft>
                <a:spcPct val="30000"/>
              </a:spcAft>
            </a:pPr>
            <a:r>
              <a:rPr lang="en-US" altLang="en-US" sz="1400" u="sng">
                <a:solidFill>
                  <a:srgbClr val="000099"/>
                </a:solidFill>
              </a:rPr>
              <a:t>Call stack</a:t>
            </a:r>
            <a:r>
              <a:rPr lang="en-US" altLang="en-US" sz="1400" u="sng">
                <a:solidFill>
                  <a:schemeClr val="tx1"/>
                </a:solidFill>
              </a:rPr>
              <a:t>:</a:t>
            </a:r>
          </a:p>
          <a:p>
            <a:pPr algn="l">
              <a:spcAft>
                <a:spcPct val="30000"/>
              </a:spcAft>
            </a:pPr>
            <a:r>
              <a:rPr lang="en-US" altLang="en-US" sz="1400">
                <a:solidFill>
                  <a:schemeClr val="tx1"/>
                </a:solidFill>
              </a:rPr>
              <a:t>Hierarchy of all the functions that are currently running</a:t>
            </a:r>
          </a:p>
        </p:txBody>
      </p:sp>
      <p:sp>
        <p:nvSpPr>
          <p:cNvPr id="264206" name="AutoShape 14">
            <a:extLst>
              <a:ext uri="{FF2B5EF4-FFF2-40B4-BE49-F238E27FC236}">
                <a16:creationId xmlns:a16="http://schemas.microsoft.com/office/drawing/2014/main" id="{B3624B3D-B411-1C42-8C31-837388C08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410200"/>
            <a:ext cx="1447800" cy="762000"/>
          </a:xfrm>
          <a:prstGeom prst="wedgeRoundRectCallout">
            <a:avLst>
              <a:gd name="adj1" fmla="val 11843"/>
              <a:gd name="adj2" fmla="val 15208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54000"/>
          <a:lstStyle/>
          <a:p>
            <a:pPr algn="l">
              <a:spcAft>
                <a:spcPct val="30000"/>
              </a:spcAft>
            </a:pPr>
            <a:r>
              <a:rPr lang="en-US" altLang="en-US" sz="1400" u="sng">
                <a:solidFill>
                  <a:srgbClr val="000099"/>
                </a:solidFill>
              </a:rPr>
              <a:t>Host RAM:</a:t>
            </a:r>
          </a:p>
          <a:p>
            <a:pPr algn="l">
              <a:spcAft>
                <a:spcPct val="30000"/>
              </a:spcAft>
            </a:pPr>
            <a:r>
              <a:rPr lang="en-US" altLang="en-US" sz="1200">
                <a:solidFill>
                  <a:schemeClr val="tx1"/>
                </a:solidFill>
              </a:rPr>
              <a:t>Stores the global stack, heap, etc.</a:t>
            </a:r>
          </a:p>
        </p:txBody>
      </p:sp>
      <p:sp>
        <p:nvSpPr>
          <p:cNvPr id="264207" name="AutoShape 15">
            <a:extLst>
              <a:ext uri="{FF2B5EF4-FFF2-40B4-BE49-F238E27FC236}">
                <a16:creationId xmlns:a16="http://schemas.microsoft.com/office/drawing/2014/main" id="{48B61BA0-2FE6-214B-A19E-EE6B533FE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362200"/>
            <a:ext cx="4419600" cy="1981200"/>
          </a:xfrm>
          <a:prstGeom prst="wedgeRoundRectCallout">
            <a:avLst>
              <a:gd name="adj1" fmla="val -23921"/>
              <a:gd name="adj2" fmla="val -47116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54800" rIns="0"/>
          <a:lstStyle>
            <a:lvl1pPr marL="290513" indent="-290513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576263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>
              <a:spcAft>
                <a:spcPct val="30000"/>
              </a:spcAft>
            </a:pPr>
            <a:r>
              <a:rPr lang="en-US" altLang="en-US" sz="1400" u="sng">
                <a:solidFill>
                  <a:srgbClr val="0000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VM emulator serves three purposes: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ct val="30000"/>
              </a:spcAft>
              <a:buClr>
                <a:srgbClr val="006600"/>
              </a:buClr>
              <a:buSzPct val="150000"/>
              <a:buFont typeface="Wingdings" pitchFamily="2" charset="2"/>
              <a:buChar char="§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Running programs</a:t>
            </a:r>
          </a:p>
          <a:p>
            <a:pPr algn="l" rtl="0">
              <a:spcAft>
                <a:spcPct val="30000"/>
              </a:spcAft>
              <a:buClr>
                <a:srgbClr val="006600"/>
              </a:buClr>
              <a:buSzPct val="150000"/>
              <a:buFont typeface="Wingdings" pitchFamily="2" charset="2"/>
              <a:buChar char="§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Debugging programs </a:t>
            </a:r>
          </a:p>
          <a:p>
            <a:pPr algn="l" rtl="0">
              <a:spcAft>
                <a:spcPct val="30000"/>
              </a:spcAft>
              <a:buClr>
                <a:srgbClr val="006600"/>
              </a:buClr>
              <a:buSzPct val="150000"/>
              <a:buFont typeface="Wingdings" pitchFamily="2" charset="2"/>
              <a:buChar char="§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Visualizing the VM’s anatomy</a:t>
            </a:r>
          </a:p>
          <a:p>
            <a:pPr algn="l" rtl="0">
              <a:spcAft>
                <a:spcPct val="30000"/>
              </a:spcAft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    The emulator’s GUI is rather crowded, but each</a:t>
            </a:r>
            <a:b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GUI element has an important debugging role.</a:t>
            </a:r>
          </a:p>
        </p:txBody>
      </p:sp>
      <p:sp>
        <p:nvSpPr>
          <p:cNvPr id="264208" name="AutoShape 16">
            <a:extLst>
              <a:ext uri="{FF2B5EF4-FFF2-40B4-BE49-F238E27FC236}">
                <a16:creationId xmlns:a16="http://schemas.microsoft.com/office/drawing/2014/main" id="{3673154B-A972-024B-977F-1872B612F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410200"/>
            <a:ext cx="1447800" cy="762000"/>
          </a:xfrm>
          <a:prstGeom prst="wedgeRoundRectCallout">
            <a:avLst>
              <a:gd name="adj1" fmla="val 11843"/>
              <a:gd name="adj2" fmla="val -4792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54000"/>
          <a:lstStyle/>
          <a:p>
            <a:pPr algn="l">
              <a:spcAft>
                <a:spcPct val="30000"/>
              </a:spcAft>
            </a:pPr>
            <a:r>
              <a:rPr lang="en-US" altLang="en-US" sz="1400" u="sng">
                <a:solidFill>
                  <a:srgbClr val="000099"/>
                </a:solidFill>
              </a:rPr>
              <a:t>Global stack:</a:t>
            </a:r>
          </a:p>
          <a:p>
            <a:pPr algn="l">
              <a:spcAft>
                <a:spcPct val="30000"/>
              </a:spcAft>
            </a:pPr>
            <a:r>
              <a:rPr lang="en-US" altLang="en-US" sz="1200">
                <a:solidFill>
                  <a:schemeClr val="tx1"/>
                </a:solidFill>
              </a:rPr>
              <a:t>Function frames + working stack</a:t>
            </a:r>
          </a:p>
        </p:txBody>
      </p:sp>
      <p:sp>
        <p:nvSpPr>
          <p:cNvPr id="264204" name="Rectangle 12">
            <a:extLst>
              <a:ext uri="{FF2B5EF4-FFF2-40B4-BE49-F238E27FC236}">
                <a16:creationId xmlns:a16="http://schemas.microsoft.com/office/drawing/2014/main" id="{0A0BEA00-57D1-CB40-9ACE-32EF51561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114800"/>
            <a:ext cx="3581400" cy="2133600"/>
          </a:xfrm>
          <a:prstGeom prst="rect">
            <a:avLst/>
          </a:prstGeom>
          <a:solidFill>
            <a:srgbClr val="75E5FF">
              <a:alpha val="50000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b="1"/>
              <a:t>Not Part of the VM!</a:t>
            </a:r>
          </a:p>
          <a:p>
            <a:r>
              <a:rPr lang="en-US" altLang="en-US" sz="1400"/>
              <a:t>(displayed in the VM emulator </a:t>
            </a:r>
          </a:p>
          <a:p>
            <a:r>
              <a:rPr lang="en-US" altLang="en-US" sz="1400"/>
              <a:t>for reference purposes)</a:t>
            </a:r>
          </a:p>
          <a:p>
            <a:endParaRPr lang="en-US" altLang="en-US" sz="1400"/>
          </a:p>
          <a:p>
            <a:endParaRPr lang="en-US" altLang="en-US" sz="1400"/>
          </a:p>
          <a:p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6" grpId="0" animBg="1" autoUpdateAnimBg="0"/>
      <p:bldP spid="264197" grpId="0" animBg="1" autoUpdateAnimBg="0"/>
      <p:bldP spid="264201" grpId="0" animBg="1" autoUpdateAnimBg="0"/>
      <p:bldP spid="264202" grpId="0" animBg="1" autoUpdateAnimBg="0"/>
      <p:bldP spid="264203" grpId="0" animBg="1" autoUpdateAnimBg="0"/>
      <p:bldP spid="264206" grpId="0" animBg="1" autoUpdateAnimBg="0"/>
      <p:bldP spid="264207" grpId="0" animBg="1" autoUpdateAnimBg="0"/>
      <p:bldP spid="264208" grpId="0" animBg="1" autoUpdateAnimBg="0"/>
      <p:bldP spid="264204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95" name="Picture 27">
            <a:extLst>
              <a:ext uri="{FF2B5EF4-FFF2-40B4-BE49-F238E27FC236}">
                <a16:creationId xmlns:a16="http://schemas.microsoft.com/office/drawing/2014/main" id="{4079476E-D7A1-AB4F-8708-AF8E612D6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8077200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1970" name="Rectangle 2">
            <a:extLst>
              <a:ext uri="{FF2B5EF4-FFF2-40B4-BE49-F238E27FC236}">
                <a16:creationId xmlns:a16="http://schemas.microsoft.com/office/drawing/2014/main" id="{CC8ECDAD-0D19-EF4A-9EEE-3C7561703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Loading a VM Program</a:t>
            </a:r>
            <a:endParaRPr lang="en-US" altLang="en-US" sz="1600"/>
          </a:p>
        </p:txBody>
      </p:sp>
      <p:sp>
        <p:nvSpPr>
          <p:cNvPr id="211992" name="AutoShape 24">
            <a:extLst>
              <a:ext uri="{FF2B5EF4-FFF2-40B4-BE49-F238E27FC236}">
                <a16:creationId xmlns:a16="http://schemas.microsoft.com/office/drawing/2014/main" id="{A9E3F554-4AD3-7643-9519-E6CD36D9A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371600"/>
            <a:ext cx="4191000" cy="2133600"/>
          </a:xfrm>
          <a:prstGeom prst="roundRect">
            <a:avLst>
              <a:gd name="adj" fmla="val 16667"/>
            </a:avLst>
          </a:prstGeom>
          <a:solidFill>
            <a:srgbClr val="FFDDC3"/>
          </a:solidFill>
          <a:ln w="19050">
            <a:solidFill>
              <a:srgbClr val="BD520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rIns="180000" anchor="ctr"/>
          <a:lstStyle>
            <a:lvl1pPr marL="385763" indent="-288925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576263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>
              <a:buClr>
                <a:srgbClr val="006600"/>
              </a:buClr>
              <a:buSzPct val="150000"/>
              <a:buFont typeface="Wingdings" pitchFamily="2" charset="2"/>
              <a:buChar char="§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Let’s start with a trivial VM program that manipulates only the stack (i.e. does not involve the memory segments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Local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Argument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, etc.);</a:t>
            </a:r>
          </a:p>
          <a:p>
            <a:pPr algn="l" rtl="0">
              <a:spcBef>
                <a:spcPct val="50000"/>
              </a:spcBef>
              <a:buClr>
                <a:srgbClr val="006600"/>
              </a:buClr>
              <a:buSzPct val="150000"/>
              <a:buFont typeface="Wingdings" pitchFamily="2" charset="2"/>
              <a:buChar char="§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VM programs that don’t manipulate memory segments can be loaded via the “load file” button.</a:t>
            </a:r>
          </a:p>
        </p:txBody>
      </p:sp>
      <p:sp>
        <p:nvSpPr>
          <p:cNvPr id="211993" name="Oval 25">
            <a:extLst>
              <a:ext uri="{FF2B5EF4-FFF2-40B4-BE49-F238E27FC236}">
                <a16:creationId xmlns:a16="http://schemas.microsoft.com/office/drawing/2014/main" id="{E6C39A16-20A2-9C4A-A7DA-4EC75236C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838200"/>
            <a:ext cx="533400" cy="7620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11996" name="Picture 28">
            <a:extLst>
              <a:ext uri="{FF2B5EF4-FFF2-40B4-BE49-F238E27FC236}">
                <a16:creationId xmlns:a16="http://schemas.microsoft.com/office/drawing/2014/main" id="{4C2387E2-2842-CA4C-AD17-A144E47C9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600200"/>
            <a:ext cx="56769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1985" name="AutoShape 17">
            <a:extLst>
              <a:ext uri="{FF2B5EF4-FFF2-40B4-BE49-F238E27FC236}">
                <a16:creationId xmlns:a16="http://schemas.microsoft.com/office/drawing/2014/main" id="{508524F8-D8B8-3B40-924E-9EECD8DD6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5105400"/>
            <a:ext cx="1752600" cy="914400"/>
          </a:xfrm>
          <a:prstGeom prst="wedgeRoundRectCallout">
            <a:avLst>
              <a:gd name="adj1" fmla="val 84509"/>
              <a:gd name="adj2" fmla="val -133162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en-US" sz="1600">
                <a:solidFill>
                  <a:schemeClr val="tx1"/>
                </a:solidFill>
              </a:rPr>
              <a:t>Navigate to a directory and select a </a:t>
            </a:r>
            <a:r>
              <a:rPr lang="en-US" altLang="en-US" sz="13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.vm </a:t>
            </a:r>
            <a:r>
              <a:rPr lang="en-US" altLang="en-US" sz="1600">
                <a:solidFill>
                  <a:schemeClr val="tx1"/>
                </a:solidFill>
              </a:rPr>
              <a:t>file</a:t>
            </a:r>
          </a:p>
        </p:txBody>
      </p:sp>
      <p:sp>
        <p:nvSpPr>
          <p:cNvPr id="211986" name="Oval 18">
            <a:extLst>
              <a:ext uri="{FF2B5EF4-FFF2-40B4-BE49-F238E27FC236}">
                <a16:creationId xmlns:a16="http://schemas.microsoft.com/office/drawing/2014/main" id="{37FFA142-0948-AA48-AF86-78212922F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419600"/>
            <a:ext cx="1447800" cy="6096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92" grpId="0" animBg="1" autoUpdateAnimBg="0"/>
      <p:bldP spid="211985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6" name="Picture 26">
            <a:extLst>
              <a:ext uri="{FF2B5EF4-FFF2-40B4-BE49-F238E27FC236}">
                <a16:creationId xmlns:a16="http://schemas.microsoft.com/office/drawing/2014/main" id="{597F3BE7-B8EA-6E44-846E-B21DB1A3D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8077200" cy="584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15" name="AutoShape 15">
            <a:extLst>
              <a:ext uri="{FF2B5EF4-FFF2-40B4-BE49-F238E27FC236}">
                <a16:creationId xmlns:a16="http://schemas.microsoft.com/office/drawing/2014/main" id="{9AFDA7F9-FDD0-CF40-B848-2A51CA323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971800"/>
            <a:ext cx="2667000" cy="1371600"/>
          </a:xfrm>
          <a:prstGeom prst="wedgeRoundRectCallout">
            <a:avLst>
              <a:gd name="adj1" fmla="val -82380"/>
              <a:gd name="adj2" fmla="val -58102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/>
          <a:p>
            <a:pPr algn="l">
              <a:spcAft>
                <a:spcPct val="30000"/>
              </a:spcAft>
            </a:pPr>
            <a:r>
              <a:rPr lang="en-US" altLang="en-US" sz="1400" u="sng">
                <a:solidFill>
                  <a:srgbClr val="000099"/>
                </a:solidFill>
              </a:rPr>
              <a:t>VM code is loaded:</a:t>
            </a:r>
            <a:r>
              <a:rPr lang="en-US" altLang="en-US" sz="1200">
                <a:solidFill>
                  <a:srgbClr val="000099"/>
                </a:solidFill>
              </a:rPr>
              <a:t> (read-only)</a:t>
            </a:r>
          </a:p>
          <a:p>
            <a:pPr algn="l">
              <a:spcAft>
                <a:spcPct val="55000"/>
              </a:spcAft>
            </a:pPr>
            <a:r>
              <a:rPr lang="en-US" altLang="en-US" sz="1400">
                <a:solidFill>
                  <a:schemeClr val="tx1"/>
                </a:solidFill>
              </a:rPr>
              <a:t>The index on the left is the location of the VM command within the VM code (a GUI effect, not part of the code).</a:t>
            </a:r>
          </a:p>
        </p:txBody>
      </p:sp>
      <p:sp>
        <p:nvSpPr>
          <p:cNvPr id="256019" name="Rectangle 19">
            <a:extLst>
              <a:ext uri="{FF2B5EF4-FFF2-40B4-BE49-F238E27FC236}">
                <a16:creationId xmlns:a16="http://schemas.microsoft.com/office/drawing/2014/main" id="{64E7D20B-0616-2442-A849-9E821ABF6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Running a Program</a:t>
            </a:r>
            <a:endParaRPr lang="en-US" altLang="en-US" sz="1600"/>
          </a:p>
        </p:txBody>
      </p:sp>
      <p:sp>
        <p:nvSpPr>
          <p:cNvPr id="256021" name="AutoShape 21">
            <a:extLst>
              <a:ext uri="{FF2B5EF4-FFF2-40B4-BE49-F238E27FC236}">
                <a16:creationId xmlns:a16="http://schemas.microsoft.com/office/drawing/2014/main" id="{5D2B5D6B-AD78-6943-A1DB-414C21D04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057400"/>
            <a:ext cx="2133600" cy="1143000"/>
          </a:xfrm>
          <a:prstGeom prst="wedgeRoundRectCallout">
            <a:avLst>
              <a:gd name="adj1" fmla="val -98958"/>
              <a:gd name="adj2" fmla="val -67361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/>
          <a:p>
            <a:pPr algn="l">
              <a:spcAft>
                <a:spcPct val="30000"/>
              </a:spcAft>
            </a:pPr>
            <a:r>
              <a:rPr lang="en-US" altLang="en-US" sz="1400" u="sng">
                <a:solidFill>
                  <a:srgbClr val="000099"/>
                </a:solidFill>
              </a:rPr>
              <a:t>Default test script</a:t>
            </a:r>
          </a:p>
          <a:p>
            <a:pPr algn="l">
              <a:spcAft>
                <a:spcPct val="55000"/>
              </a:spcAft>
            </a:pPr>
            <a:r>
              <a:rPr lang="en-US" altLang="en-US" sz="1400">
                <a:solidFill>
                  <a:schemeClr val="tx1"/>
                </a:solidFill>
              </a:rPr>
              <a:t>Always loaded, unless another script is loaded by the user.</a:t>
            </a:r>
          </a:p>
        </p:txBody>
      </p:sp>
      <p:grpSp>
        <p:nvGrpSpPr>
          <p:cNvPr id="256024" name="Group 24">
            <a:extLst>
              <a:ext uri="{FF2B5EF4-FFF2-40B4-BE49-F238E27FC236}">
                <a16:creationId xmlns:a16="http://schemas.microsoft.com/office/drawing/2014/main" id="{E53A2D70-0F4C-7449-B761-CD2A769A5EC4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990600"/>
            <a:ext cx="3124200" cy="1219200"/>
            <a:chOff x="576" y="672"/>
            <a:chExt cx="1968" cy="768"/>
          </a:xfrm>
        </p:grpSpPr>
        <p:sp>
          <p:nvSpPr>
            <p:cNvPr id="256012" name="AutoShape 12">
              <a:extLst>
                <a:ext uri="{FF2B5EF4-FFF2-40B4-BE49-F238E27FC236}">
                  <a16:creationId xmlns:a16="http://schemas.microsoft.com/office/drawing/2014/main" id="{54EEBAB0-C3EB-DA4F-A394-C6F245F43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104"/>
              <a:ext cx="864" cy="336"/>
            </a:xfrm>
            <a:prstGeom prst="wedgeRoundRectCallout">
              <a:avLst>
                <a:gd name="adj1" fmla="val -76042"/>
                <a:gd name="adj2" fmla="val -104764"/>
                <a:gd name="adj3" fmla="val 16667"/>
              </a:avLst>
            </a:prstGeom>
            <a:solidFill>
              <a:srgbClr val="FFFFC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rIns="54000" anchor="ctr"/>
            <a:lstStyle/>
            <a:p>
              <a:pPr algn="l"/>
              <a:r>
                <a:rPr lang="en-US" altLang="en-US" sz="1400">
                  <a:solidFill>
                    <a:schemeClr val="tx1"/>
                  </a:solidFill>
                </a:rPr>
                <a:t>Script controls</a:t>
              </a:r>
            </a:p>
          </p:txBody>
        </p:sp>
        <p:sp>
          <p:nvSpPr>
            <p:cNvPr id="256023" name="Rectangle 23">
              <a:extLst>
                <a:ext uri="{FF2B5EF4-FFF2-40B4-BE49-F238E27FC236}">
                  <a16:creationId xmlns:a16="http://schemas.microsoft.com/office/drawing/2014/main" id="{6EF54057-57AA-D544-8484-49676A2B6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672"/>
              <a:ext cx="864" cy="288"/>
            </a:xfrm>
            <a:prstGeom prst="rect">
              <a:avLst/>
            </a:prstGeom>
            <a:noFill/>
            <a:ln w="38100">
              <a:solidFill>
                <a:srgbClr val="CC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6E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6025" name="Oval 25">
            <a:extLst>
              <a:ext uri="{FF2B5EF4-FFF2-40B4-BE49-F238E27FC236}">
                <a16:creationId xmlns:a16="http://schemas.microsoft.com/office/drawing/2014/main" id="{93F4661D-5960-E044-8B3C-468F23FA6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990600"/>
            <a:ext cx="381000" cy="4572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1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544" name="Picture 2096">
            <a:extLst>
              <a:ext uri="{FF2B5EF4-FFF2-40B4-BE49-F238E27FC236}">
                <a16:creationId xmlns:a16="http://schemas.microsoft.com/office/drawing/2014/main" id="{D31D62E1-80C7-E549-9869-D8D947AA6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8077200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34535" name="Group 2087">
            <a:extLst>
              <a:ext uri="{FF2B5EF4-FFF2-40B4-BE49-F238E27FC236}">
                <a16:creationId xmlns:a16="http://schemas.microsoft.com/office/drawing/2014/main" id="{3AEA9C59-74BA-3E4A-AB92-1F0F9316DA81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343400"/>
            <a:ext cx="3352800" cy="1981200"/>
            <a:chOff x="960" y="2736"/>
            <a:chExt cx="2112" cy="1248"/>
          </a:xfrm>
        </p:grpSpPr>
        <p:sp>
          <p:nvSpPr>
            <p:cNvPr id="234519" name="AutoShape 2071">
              <a:extLst>
                <a:ext uri="{FF2B5EF4-FFF2-40B4-BE49-F238E27FC236}">
                  <a16:creationId xmlns:a16="http://schemas.microsoft.com/office/drawing/2014/main" id="{94388F4D-9BD0-314F-B494-649375498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504"/>
              <a:ext cx="864" cy="480"/>
            </a:xfrm>
            <a:prstGeom prst="roundRect">
              <a:avLst>
                <a:gd name="adj" fmla="val 16667"/>
              </a:avLst>
            </a:prstGeom>
            <a:solidFill>
              <a:srgbClr val="FFDDC3"/>
            </a:solidFill>
            <a:ln w="19050">
              <a:solidFill>
                <a:srgbClr val="BD520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rIns="54000" anchor="ctr"/>
            <a:lstStyle/>
            <a:p>
              <a:pPr algn="l" eaLnBrk="0" hangingPunct="0"/>
              <a:r>
                <a:rPr lang="en-US" altLang="en-US" sz="1400">
                  <a:solidFill>
                    <a:srgbClr val="800000"/>
                  </a:solidFill>
                  <a:cs typeface="Times New Roman (Hebrew)" panose="02020603050405020304" pitchFamily="18" charset="0"/>
                </a:rPr>
                <a:t>Impact of first 13 “vmsteps”</a:t>
              </a:r>
            </a:p>
          </p:txBody>
        </p:sp>
        <p:cxnSp>
          <p:nvCxnSpPr>
            <p:cNvPr id="234520" name="AutoShape 2072">
              <a:extLst>
                <a:ext uri="{FF2B5EF4-FFF2-40B4-BE49-F238E27FC236}">
                  <a16:creationId xmlns:a16="http://schemas.microsoft.com/office/drawing/2014/main" id="{418E391C-F701-A240-8185-7F06FF085572}"/>
                </a:ext>
              </a:extLst>
            </p:cNvPr>
            <p:cNvCxnSpPr>
              <a:cxnSpLocks noChangeShapeType="1"/>
              <a:stCxn id="234519" idx="0"/>
              <a:endCxn id="234521" idx="2"/>
            </p:cNvCxnSpPr>
            <p:nvPr/>
          </p:nvCxnSpPr>
          <p:spPr bwMode="auto">
            <a:xfrm flipH="1" flipV="1">
              <a:off x="1056" y="2880"/>
              <a:ext cx="864" cy="618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4521" name="Rectangle 2073">
              <a:extLst>
                <a:ext uri="{FF2B5EF4-FFF2-40B4-BE49-F238E27FC236}">
                  <a16:creationId xmlns:a16="http://schemas.microsoft.com/office/drawing/2014/main" id="{BC75E399-7C17-3749-8238-67D4BEA81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736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cxnSp>
          <p:nvCxnSpPr>
            <p:cNvPr id="234522" name="AutoShape 2074">
              <a:extLst>
                <a:ext uri="{FF2B5EF4-FFF2-40B4-BE49-F238E27FC236}">
                  <a16:creationId xmlns:a16="http://schemas.microsoft.com/office/drawing/2014/main" id="{E36AED36-3A9A-4D49-BA51-98750EB48FA7}"/>
                </a:ext>
              </a:extLst>
            </p:cNvPr>
            <p:cNvCxnSpPr>
              <a:cxnSpLocks noChangeShapeType="1"/>
              <a:stCxn id="234519" idx="0"/>
              <a:endCxn id="234523" idx="2"/>
            </p:cNvCxnSpPr>
            <p:nvPr/>
          </p:nvCxnSpPr>
          <p:spPr bwMode="auto">
            <a:xfrm flipV="1">
              <a:off x="1920" y="2928"/>
              <a:ext cx="1056" cy="570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4523" name="Rectangle 2075">
              <a:extLst>
                <a:ext uri="{FF2B5EF4-FFF2-40B4-BE49-F238E27FC236}">
                  <a16:creationId xmlns:a16="http://schemas.microsoft.com/office/drawing/2014/main" id="{B7A82B60-399F-7448-8F00-AC6A6E54D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784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234529" name="Rectangle 2081">
            <a:extLst>
              <a:ext uri="{FF2B5EF4-FFF2-40B4-BE49-F238E27FC236}">
                <a16:creationId xmlns:a16="http://schemas.microsoft.com/office/drawing/2014/main" id="{AD7EFF36-2661-AB42-ACB5-51ED59A48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Running a Program</a:t>
            </a:r>
            <a:endParaRPr lang="en-US" altLang="en-US" sz="1600"/>
          </a:p>
        </p:txBody>
      </p:sp>
      <p:sp>
        <p:nvSpPr>
          <p:cNvPr id="234545" name="Oval 2097">
            <a:extLst>
              <a:ext uri="{FF2B5EF4-FFF2-40B4-BE49-F238E27FC236}">
                <a16:creationId xmlns:a16="http://schemas.microsoft.com/office/drawing/2014/main" id="{457B9120-6130-E84B-AEEE-8A450CE3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990600"/>
            <a:ext cx="381000" cy="4572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4546" name="AutoShape 2098">
            <a:extLst>
              <a:ext uri="{FF2B5EF4-FFF2-40B4-BE49-F238E27FC236}">
                <a16:creationId xmlns:a16="http://schemas.microsoft.com/office/drawing/2014/main" id="{9EC1AB4B-840B-1C42-8DB5-DCD6DD3BF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752600"/>
            <a:ext cx="533400" cy="1752600"/>
          </a:xfrm>
          <a:prstGeom prst="downArrow">
            <a:avLst>
              <a:gd name="adj1" fmla="val 50000"/>
              <a:gd name="adj2" fmla="val 8214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299" name="Picture 11">
            <a:extLst>
              <a:ext uri="{FF2B5EF4-FFF2-40B4-BE49-F238E27FC236}">
                <a16:creationId xmlns:a16="http://schemas.microsoft.com/office/drawing/2014/main" id="{632C5C27-36F4-9E4D-A8E4-292EEAFE3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"/>
          <a:stretch>
            <a:fillRect/>
          </a:stretch>
        </p:blipFill>
        <p:spPr bwMode="auto">
          <a:xfrm>
            <a:off x="457200" y="685800"/>
            <a:ext cx="8153400" cy="586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8296" name="Rectangle 8">
            <a:extLst>
              <a:ext uri="{FF2B5EF4-FFF2-40B4-BE49-F238E27FC236}">
                <a16:creationId xmlns:a16="http://schemas.microsoft.com/office/drawing/2014/main" id="{EA12A468-9792-0845-932E-59FEA493B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Loading a Multi-File Program</a:t>
            </a:r>
            <a:endParaRPr lang="en-US" altLang="en-US" sz="1600"/>
          </a:p>
        </p:txBody>
      </p:sp>
      <p:sp>
        <p:nvSpPr>
          <p:cNvPr id="268297" name="Oval 9">
            <a:extLst>
              <a:ext uri="{FF2B5EF4-FFF2-40B4-BE49-F238E27FC236}">
                <a16:creationId xmlns:a16="http://schemas.microsoft.com/office/drawing/2014/main" id="{ECDCF777-5ACF-1E4F-B840-24F2E79A5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419600"/>
            <a:ext cx="1143000" cy="4572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8300" name="AutoShape 12">
            <a:extLst>
              <a:ext uri="{FF2B5EF4-FFF2-40B4-BE49-F238E27FC236}">
                <a16:creationId xmlns:a16="http://schemas.microsoft.com/office/drawing/2014/main" id="{BE04862F-378A-7549-B457-15F989317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914400"/>
            <a:ext cx="5562600" cy="1828800"/>
          </a:xfrm>
          <a:prstGeom prst="roundRect">
            <a:avLst>
              <a:gd name="adj" fmla="val 16667"/>
            </a:avLst>
          </a:prstGeom>
          <a:solidFill>
            <a:srgbClr val="FFDDC3"/>
          </a:solidFill>
          <a:ln w="19050">
            <a:solidFill>
              <a:srgbClr val="BD520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rIns="18000" anchor="ctr"/>
          <a:lstStyle>
            <a:lvl1pPr marL="385763" indent="-288925" algn="r" rtl="1"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576263" algn="r" rtl="1"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algn="r" rtl="1"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algn="r" rtl="1"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algn="r" rtl="1"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algn="r" rtl="1" fontAlgn="base">
              <a:spcBef>
                <a:spcPct val="0"/>
              </a:spcBef>
              <a:spcAft>
                <a:spcPct val="0"/>
              </a:spcAft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algn="r" rtl="1" fontAlgn="base">
              <a:spcBef>
                <a:spcPct val="0"/>
              </a:spcBef>
              <a:spcAft>
                <a:spcPct val="0"/>
              </a:spcAft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algn="r" rtl="1" fontAlgn="base">
              <a:spcBef>
                <a:spcPct val="0"/>
              </a:spcBef>
              <a:spcAft>
                <a:spcPct val="0"/>
              </a:spcAft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algn="r" rtl="1" fontAlgn="base">
              <a:spcBef>
                <a:spcPct val="0"/>
              </a:spcBef>
              <a:spcAft>
                <a:spcPct val="0"/>
              </a:spcAft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>
              <a:buClr>
                <a:srgbClr val="006600"/>
              </a:buClr>
              <a:buSzPct val="150000"/>
              <a:buFont typeface="Wingdings" pitchFamily="2" charset="2"/>
              <a:buChar char="§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Most VM programs, like Pong, consist of more than one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.vm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file.  For example, the Jack compiler generates one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.vm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file for each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.jack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class file, and then there are all the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.vm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fies comprising the operating system.  All these files must reside in the same directory.</a:t>
            </a:r>
          </a:p>
          <a:p>
            <a:pPr algn="l" rtl="0">
              <a:spcBef>
                <a:spcPct val="30000"/>
              </a:spcBef>
              <a:buClr>
                <a:srgbClr val="006600"/>
              </a:buClr>
              <a:buSzPct val="150000"/>
              <a:buFont typeface="Wingdings" pitchFamily="2" charset="2"/>
              <a:buChar char="§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Therefore, when loading a multi-file VM program into the VM emulator, one must load the </a:t>
            </a:r>
            <a:r>
              <a:rPr lang="en-US" altLang="en-US" sz="1400" i="1">
                <a:latin typeface="Arial" panose="020B0604020202020204" pitchFamily="34" charset="0"/>
                <a:cs typeface="Arial" panose="020B0604020202020204" pitchFamily="34" charset="0"/>
              </a:rPr>
              <a:t>entire directory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68301" name="AutoShape 13">
            <a:extLst>
              <a:ext uri="{FF2B5EF4-FFF2-40B4-BE49-F238E27FC236}">
                <a16:creationId xmlns:a16="http://schemas.microsoft.com/office/drawing/2014/main" id="{1339DFB6-6D9F-224A-85F4-2382CC1A3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886200"/>
            <a:ext cx="2667000" cy="1600200"/>
          </a:xfrm>
          <a:prstGeom prst="wedgeRoundRectCallout">
            <a:avLst>
              <a:gd name="adj1" fmla="val 68454"/>
              <a:gd name="adj2" fmla="val -38097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/>
          <a:p>
            <a:pPr algn="l">
              <a:spcAft>
                <a:spcPct val="30000"/>
              </a:spcAft>
            </a:pPr>
            <a:r>
              <a:rPr lang="en-US" altLang="en-US" sz="1400" b="1" u="sng">
                <a:solidFill>
                  <a:srgbClr val="F83B00"/>
                </a:solidFill>
              </a:rPr>
              <a:t>Won’t work!</a:t>
            </a:r>
          </a:p>
          <a:p>
            <a:pPr algn="l">
              <a:spcAft>
                <a:spcPct val="55000"/>
              </a:spcAft>
            </a:pPr>
            <a:r>
              <a:rPr lang="en-US" altLang="en-US" sz="1400">
                <a:solidFill>
                  <a:schemeClr val="tx1"/>
                </a:solidFill>
              </a:rPr>
              <a:t>Why? Because Pong is a multi-file program, and ALL these files must be loaded. Solution: navigate back to the directory level, and load it.</a:t>
            </a:r>
          </a:p>
        </p:txBody>
      </p:sp>
      <p:sp>
        <p:nvSpPr>
          <p:cNvPr id="268302" name="Oval 14">
            <a:extLst>
              <a:ext uri="{FF2B5EF4-FFF2-40B4-BE49-F238E27FC236}">
                <a16:creationId xmlns:a16="http://schemas.microsoft.com/office/drawing/2014/main" id="{AD077B60-2129-5246-8199-170F334FF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200400"/>
            <a:ext cx="381000" cy="4572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301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319" name="Picture 1031">
            <a:extLst>
              <a:ext uri="{FF2B5EF4-FFF2-40B4-BE49-F238E27FC236}">
                <a16:creationId xmlns:a16="http://schemas.microsoft.com/office/drawing/2014/main" id="{D2378E42-1647-8F40-99E8-3FB43EBB0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"/>
          <a:stretch>
            <a:fillRect/>
          </a:stretch>
        </p:blipFill>
        <p:spPr bwMode="auto">
          <a:xfrm>
            <a:off x="457200" y="685800"/>
            <a:ext cx="8153400" cy="586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9320" name="Oval 1032">
            <a:extLst>
              <a:ext uri="{FF2B5EF4-FFF2-40B4-BE49-F238E27FC236}">
                <a16:creationId xmlns:a16="http://schemas.microsoft.com/office/drawing/2014/main" id="{436E2711-95DF-D349-A705-69A25349B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1143000" cy="4572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9321" name="Rectangle 1033">
            <a:extLst>
              <a:ext uri="{FF2B5EF4-FFF2-40B4-BE49-F238E27FC236}">
                <a16:creationId xmlns:a16="http://schemas.microsoft.com/office/drawing/2014/main" id="{4B82BCAA-05F7-5846-9186-7BFC0CF36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anchor="b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4572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9144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1371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18288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Loading a Multi-File Program</a:t>
            </a:r>
            <a:endParaRPr lang="en-US" altLang="en-US" sz="16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506" name="Picture 2" descr="G:\PPT Presentations\Pres Training\db Prepared Photos\monitor.jpg">
            <a:extLst>
              <a:ext uri="{FF2B5EF4-FFF2-40B4-BE49-F238E27FC236}">
                <a16:creationId xmlns:a16="http://schemas.microsoft.com/office/drawing/2014/main" id="{BCB95A30-2639-6B46-BF98-2961BF55A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219200"/>
            <a:ext cx="45720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7507" name="Rectangle 3">
            <a:extLst>
              <a:ext uri="{FF2B5EF4-FFF2-40B4-BE49-F238E27FC236}">
                <a16:creationId xmlns:a16="http://schemas.microsoft.com/office/drawing/2014/main" id="{14DD260E-EEA0-D846-A563-6247FE38A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438400"/>
            <a:ext cx="3048000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90513" indent="-290513" algn="l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1pPr>
            <a:lvl2pPr marL="481013" algn="l">
              <a:spcBef>
                <a:spcPct val="40000"/>
              </a:spcBef>
              <a:buClr>
                <a:srgbClr val="00007A"/>
              </a:buClr>
              <a:buSzPct val="125000"/>
              <a:buChar char="•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2pPr>
            <a:lvl3pPr algn="l">
              <a:spcBef>
                <a:spcPct val="40000"/>
              </a:spcBef>
              <a:buClr>
                <a:srgbClr val="A50021"/>
              </a:buClr>
              <a:buSzPct val="110000"/>
              <a:buChar char="•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3pPr>
            <a:lvl4pPr algn="l">
              <a:spcBef>
                <a:spcPct val="40000"/>
              </a:spcBef>
              <a:buChar char="–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4pPr>
            <a:lvl5pPr algn="l">
              <a:spcBef>
                <a:spcPct val="40000"/>
              </a:spcBef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5pPr>
            <a:lvl6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6pPr>
            <a:lvl7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7pPr>
            <a:lvl8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8pPr>
            <a:lvl9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9pPr>
          </a:lstStyle>
          <a:p>
            <a:pPr algn="ctr">
              <a:spcBef>
                <a:spcPct val="60000"/>
              </a:spcBef>
              <a:buFont typeface="Wingdings" pitchFamily="2" charset="2"/>
              <a:buNone/>
            </a:pPr>
            <a:r>
              <a:rPr lang="en-US" altLang="he-IL" sz="2400" b="1" u="sng">
                <a:solidFill>
                  <a:srgbClr val="000066"/>
                </a:solidFill>
              </a:rPr>
              <a:t>Part II:</a:t>
            </a:r>
          </a:p>
          <a:p>
            <a:pPr algn="ctr">
              <a:spcBef>
                <a:spcPct val="60000"/>
              </a:spcBef>
              <a:buFont typeface="Wingdings" pitchFamily="2" charset="2"/>
              <a:buNone/>
            </a:pPr>
            <a:r>
              <a:rPr lang="en-US" altLang="he-IL" sz="2400" b="1">
                <a:solidFill>
                  <a:srgbClr val="000066"/>
                </a:solidFill>
              </a:rPr>
              <a:t>Virtual Memory</a:t>
            </a:r>
            <a:br>
              <a:rPr lang="en-US" altLang="he-IL" sz="2400" b="1">
                <a:solidFill>
                  <a:srgbClr val="000066"/>
                </a:solidFill>
              </a:rPr>
            </a:br>
            <a:r>
              <a:rPr lang="en-US" altLang="he-IL" sz="2400" b="1">
                <a:solidFill>
                  <a:srgbClr val="000066"/>
                </a:solidFill>
              </a:rPr>
              <a:t>Segments</a:t>
            </a:r>
          </a:p>
        </p:txBody>
      </p:sp>
      <p:sp>
        <p:nvSpPr>
          <p:cNvPr id="277508" name="Rectangle 4">
            <a:extLst>
              <a:ext uri="{FF2B5EF4-FFF2-40B4-BE49-F238E27FC236}">
                <a16:creationId xmlns:a16="http://schemas.microsoft.com/office/drawing/2014/main" id="{62C5DDE1-1471-744A-986B-0B43060CB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VM Emulator Tutorial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633" name="Picture 17">
            <a:extLst>
              <a:ext uri="{FF2B5EF4-FFF2-40B4-BE49-F238E27FC236}">
                <a16:creationId xmlns:a16="http://schemas.microsoft.com/office/drawing/2014/main" id="{5B2986FA-F246-7B4F-8E01-23BB34555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8077200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9618" name="Rectangle 2">
            <a:extLst>
              <a:ext uri="{FF2B5EF4-FFF2-40B4-BE49-F238E27FC236}">
                <a16:creationId xmlns:a16="http://schemas.microsoft.com/office/drawing/2014/main" id="{B192FA87-74A6-9348-B564-7EDC2404A6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Virtual Memory Segments</a:t>
            </a:r>
          </a:p>
        </p:txBody>
      </p:sp>
      <p:sp>
        <p:nvSpPr>
          <p:cNvPr id="239621" name="AutoShape 5">
            <a:extLst>
              <a:ext uri="{FF2B5EF4-FFF2-40B4-BE49-F238E27FC236}">
                <a16:creationId xmlns:a16="http://schemas.microsoft.com/office/drawing/2014/main" id="{7C448398-378B-7C47-B4E7-FF238FD00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295400"/>
            <a:ext cx="4267200" cy="5105400"/>
          </a:xfrm>
          <a:prstGeom prst="roundRect">
            <a:avLst>
              <a:gd name="adj" fmla="val 16667"/>
            </a:avLst>
          </a:prstGeom>
          <a:solidFill>
            <a:srgbClr val="FFDDC3"/>
          </a:solidFill>
          <a:ln w="19050">
            <a:solidFill>
              <a:srgbClr val="BD520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rIns="18000" anchor="ctr"/>
          <a:lstStyle>
            <a:lvl1pPr marL="385763" indent="-288925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576263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>
              <a:spcAft>
                <a:spcPct val="50000"/>
              </a:spcAft>
              <a:buClr>
                <a:srgbClr val="006600"/>
              </a:buClr>
              <a:buSzPct val="150000"/>
              <a:buFont typeface="Wingdings" pitchFamily="2" charset="2"/>
              <a:buNone/>
            </a:pPr>
            <a:r>
              <a:rPr lang="en-US" altLang="en-US" sz="1400" u="sng">
                <a:solidFill>
                  <a:srgbClr val="0000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technical point to keep in mind:</a:t>
            </a:r>
          </a:p>
          <a:p>
            <a:pPr algn="l" rtl="0">
              <a:buClr>
                <a:srgbClr val="006600"/>
              </a:buClr>
              <a:buSzPct val="150000"/>
              <a:buFont typeface="Wingdings" pitchFamily="2" charset="2"/>
              <a:buChar char="§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Most VM programs include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  <a:b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commands that operate on</a:t>
            </a:r>
            <a:b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Local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Argument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, etc.;</a:t>
            </a:r>
          </a:p>
          <a:p>
            <a:pPr algn="l" rtl="0">
              <a:spcBef>
                <a:spcPct val="50000"/>
              </a:spcBef>
              <a:buClr>
                <a:srgbClr val="006600"/>
              </a:buClr>
              <a:buSzPct val="150000"/>
              <a:buFont typeface="Wingdings" pitchFamily="2" charset="2"/>
              <a:buChar char="§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In order for such programs to operate properly, VM implementations must initialize the memory segments’ bases, e.g. anchor them in selected addresses in the host RAM;</a:t>
            </a:r>
          </a:p>
          <a:p>
            <a:pPr algn="l" rtl="0">
              <a:spcBef>
                <a:spcPct val="50000"/>
              </a:spcBef>
              <a:buClr>
                <a:srgbClr val="006600"/>
              </a:buClr>
              <a:buSzPct val="150000"/>
              <a:buFont typeface="Wingdings" pitchFamily="2" charset="2"/>
              <a:buChar char="§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Case 1: the loaded code includes function calling commands.  In this case, the VM implementation takes care of the required segment initializations in run-time, since this task is part of the VM function call-and-return protocol;</a:t>
            </a:r>
          </a:p>
          <a:p>
            <a:pPr algn="l" rtl="0">
              <a:spcBef>
                <a:spcPct val="50000"/>
              </a:spcBef>
              <a:buClr>
                <a:srgbClr val="006600"/>
              </a:buClr>
              <a:buSzPct val="150000"/>
              <a:buFont typeface="Wingdings" pitchFamily="2" charset="2"/>
              <a:buChar char="§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Case 2: the loaded code includes no function calling commands. In this case, the common practice is to load the code through a </a:t>
            </a:r>
            <a:r>
              <a:rPr lang="en-US" altLang="en-US" sz="1400" i="1">
                <a:latin typeface="Arial" panose="020B0604020202020204" pitchFamily="34" charset="0"/>
                <a:cs typeface="Arial" panose="020B0604020202020204" pitchFamily="34" charset="0"/>
              </a:rPr>
              <a:t>test script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that handles the necessary initialization externally.</a:t>
            </a:r>
          </a:p>
        </p:txBody>
      </p:sp>
      <p:grpSp>
        <p:nvGrpSpPr>
          <p:cNvPr id="239629" name="Group 13">
            <a:extLst>
              <a:ext uri="{FF2B5EF4-FFF2-40B4-BE49-F238E27FC236}">
                <a16:creationId xmlns:a16="http://schemas.microsoft.com/office/drawing/2014/main" id="{32D97ABD-9694-3845-B4A1-744650BA0F77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524000"/>
            <a:ext cx="4114800" cy="4724400"/>
            <a:chOff x="144" y="960"/>
            <a:chExt cx="2592" cy="2976"/>
          </a:xfrm>
        </p:grpSpPr>
        <p:sp>
          <p:nvSpPr>
            <p:cNvPr id="239626" name="Rectangle 10">
              <a:extLst>
                <a:ext uri="{FF2B5EF4-FFF2-40B4-BE49-F238E27FC236}">
                  <a16:creationId xmlns:a16="http://schemas.microsoft.com/office/drawing/2014/main" id="{7116267B-E986-CE44-BBF5-293A46D32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960"/>
              <a:ext cx="1008" cy="2976"/>
            </a:xfrm>
            <a:prstGeom prst="rect">
              <a:avLst/>
            </a:prstGeom>
            <a:noFill/>
            <a:ln w="47625">
              <a:solidFill>
                <a:srgbClr val="CC33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6E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627" name="AutoShape 11">
              <a:extLst>
                <a:ext uri="{FF2B5EF4-FFF2-40B4-BE49-F238E27FC236}">
                  <a16:creationId xmlns:a16="http://schemas.microsoft.com/office/drawing/2014/main" id="{A706F493-4B67-224D-A137-8E5B6B163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496"/>
              <a:ext cx="1344" cy="1344"/>
            </a:xfrm>
            <a:prstGeom prst="wedgeRoundRectCallout">
              <a:avLst>
                <a:gd name="adj1" fmla="val 65551"/>
                <a:gd name="adj2" fmla="val -22097"/>
                <a:gd name="adj3" fmla="val 16667"/>
              </a:avLst>
            </a:prstGeom>
            <a:solidFill>
              <a:srgbClr val="FFFFC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118800" rIns="54000"/>
            <a:lstStyle>
              <a:lvl1pPr marL="185738" indent="-185738" algn="r" rtl="1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1pPr>
              <a:lvl2pPr marL="666750" algn="r" rtl="1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2pPr>
              <a:lvl3pPr algn="r" rtl="1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3pPr>
              <a:lvl4pPr algn="r" rtl="1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4pPr>
              <a:lvl5pPr algn="r" rtl="1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5pPr>
              <a:lvl6pPr algn="r" rtl="1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6pPr>
              <a:lvl7pPr algn="r" rtl="1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7pPr>
              <a:lvl8pPr algn="r" rtl="1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8pPr>
              <a:lvl9pPr algn="r" rtl="1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9pPr>
            </a:lstStyle>
            <a:p>
              <a:pPr algn="l" rtl="0"/>
              <a:r>
                <a:rPr lang="en-US" altLang="en-US" sz="1400" u="sng">
                  <a:solidFill>
                    <a:srgbClr val="00009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 segments:</a:t>
              </a:r>
            </a:p>
            <a:p>
              <a:pPr algn="l" rtl="0">
                <a:spcBef>
                  <a:spcPct val="25000"/>
                </a:spcBef>
                <a:buClr>
                  <a:srgbClr val="006600"/>
                </a:buClr>
                <a:buFont typeface="Wingdings" pitchFamily="2" charset="2"/>
                <a:buChar char="§"/>
              </a:pP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The VM emulator displays the states of 6 of the 8 VM’s memory segments;</a:t>
              </a:r>
            </a:p>
            <a:p>
              <a:pPr algn="l" rtl="0">
                <a:spcBef>
                  <a:spcPct val="25000"/>
                </a:spcBef>
                <a:buClr>
                  <a:srgbClr val="006600"/>
                </a:buClr>
                <a:buFont typeface="Wingdings" pitchFamily="2" charset="2"/>
                <a:buChar char="§"/>
              </a:pP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The </a:t>
              </a:r>
              <a:r>
                <a:rPr lang="en-US" altLang="en-US" sz="1400" b="1">
                  <a:latin typeface="Courier New" panose="02070309020205020404" pitchFamily="49" charset="0"/>
                  <a:cs typeface="Courier New" panose="02070309020205020404" pitchFamily="49" charset="0"/>
                </a:rPr>
                <a:t>Constant</a:t>
              </a: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 and </a:t>
              </a:r>
              <a:r>
                <a:rPr lang="en-US" altLang="en-US" sz="1400" b="1">
                  <a:latin typeface="Courier New" panose="02070309020205020404" pitchFamily="49" charset="0"/>
                  <a:cs typeface="Courier New" panose="02070309020205020404" pitchFamily="49" charset="0"/>
                </a:rPr>
                <a:t>Pointer</a:t>
              </a: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 segments are not displayed.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1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2" name="Picture 2" descr="G:\PPT Presentations\Pres Training\db Prepared Photos\monitor.jpg">
            <a:extLst>
              <a:ext uri="{FF2B5EF4-FFF2-40B4-BE49-F238E27FC236}">
                <a16:creationId xmlns:a16="http://schemas.microsoft.com/office/drawing/2014/main" id="{39D6F5BB-318B-2D4B-9241-F27EC238B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219200"/>
            <a:ext cx="45720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1123" name="Rectangle 3">
            <a:extLst>
              <a:ext uri="{FF2B5EF4-FFF2-40B4-BE49-F238E27FC236}">
                <a16:creationId xmlns:a16="http://schemas.microsoft.com/office/drawing/2014/main" id="{63B94648-FC16-8547-AC98-B42CE472C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438400"/>
            <a:ext cx="304800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90513" indent="-290513" algn="l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1pPr>
            <a:lvl2pPr marL="481013" algn="l">
              <a:spcBef>
                <a:spcPct val="40000"/>
              </a:spcBef>
              <a:buClr>
                <a:srgbClr val="00007A"/>
              </a:buClr>
              <a:buSzPct val="125000"/>
              <a:buChar char="•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2pPr>
            <a:lvl3pPr algn="l">
              <a:spcBef>
                <a:spcPct val="40000"/>
              </a:spcBef>
              <a:buClr>
                <a:srgbClr val="A50021"/>
              </a:buClr>
              <a:buSzPct val="110000"/>
              <a:buChar char="•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3pPr>
            <a:lvl4pPr algn="l">
              <a:spcBef>
                <a:spcPct val="40000"/>
              </a:spcBef>
              <a:buChar char="–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4pPr>
            <a:lvl5pPr algn="l">
              <a:spcBef>
                <a:spcPct val="40000"/>
              </a:spcBef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5pPr>
            <a:lvl6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6pPr>
            <a:lvl7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7pPr>
            <a:lvl8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8pPr>
            <a:lvl9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9pPr>
          </a:lstStyle>
          <a:p>
            <a:pPr algn="ctr">
              <a:spcBef>
                <a:spcPct val="60000"/>
              </a:spcBef>
              <a:buFont typeface="Wingdings" pitchFamily="2" charset="2"/>
              <a:buNone/>
            </a:pPr>
            <a:r>
              <a:rPr lang="en-US" altLang="he-IL" sz="2400" b="1" u="sng">
                <a:solidFill>
                  <a:srgbClr val="000066"/>
                </a:solidFill>
              </a:rPr>
              <a:t>Part II:</a:t>
            </a:r>
          </a:p>
          <a:p>
            <a:pPr algn="ctr">
              <a:spcBef>
                <a:spcPct val="60000"/>
              </a:spcBef>
              <a:buFont typeface="Wingdings" pitchFamily="2" charset="2"/>
              <a:buNone/>
            </a:pPr>
            <a:r>
              <a:rPr lang="en-US" altLang="he-IL" sz="2400" b="1">
                <a:solidFill>
                  <a:srgbClr val="000066"/>
                </a:solidFill>
              </a:rPr>
              <a:t>Using Scripts</a:t>
            </a:r>
          </a:p>
        </p:txBody>
      </p:sp>
      <p:sp>
        <p:nvSpPr>
          <p:cNvPr id="261124" name="Rectangle 4">
            <a:extLst>
              <a:ext uri="{FF2B5EF4-FFF2-40B4-BE49-F238E27FC236}">
                <a16:creationId xmlns:a16="http://schemas.microsoft.com/office/drawing/2014/main" id="{CD7BE802-BFA2-CA46-BEF9-8EC2345E4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VM Emulator Tutorial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AC895635-0988-994F-9EC0-B0904FE2C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Typical VM Script</a:t>
            </a:r>
          </a:p>
        </p:txBody>
      </p:sp>
      <p:sp>
        <p:nvSpPr>
          <p:cNvPr id="272387" name="Text Box 3">
            <a:extLst>
              <a:ext uri="{FF2B5EF4-FFF2-40B4-BE49-F238E27FC236}">
                <a16:creationId xmlns:a16="http://schemas.microsoft.com/office/drawing/2014/main" id="{116748A5-163D-5746-ADC5-5608FA215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838200"/>
            <a:ext cx="5257800" cy="4876800"/>
          </a:xfrm>
          <a:prstGeom prst="rect">
            <a:avLst/>
          </a:prstGeom>
          <a:solidFill>
            <a:srgbClr val="F3F3FF"/>
          </a:solidFill>
          <a:ln w="9525">
            <a:solidFill>
              <a:srgbClr val="293973"/>
            </a:solidFill>
            <a:miter lim="800000"/>
            <a:headEnd/>
            <a:tailEnd/>
          </a:ln>
          <a:effectLst>
            <a:outerShdw dist="89803" dir="2700000" algn="ctr" rotWithShape="0">
              <a:srgbClr val="293973"/>
            </a:outerShdw>
          </a:effectLst>
        </p:spPr>
        <p:txBody>
          <a:bodyPr lIns="201600" tIns="154800" rIns="93600" bIns="82800"/>
          <a:lstStyle>
            <a:lvl1pPr marL="342900" indent="-3429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load BasicTest.vm,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output-file BasicTest.out,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compare-to BasicTest.cmp,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output-list RAM[256]%D1.6.1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RAM[300]%D1.6.1 RAM[401]%D1.6.1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RAM[402]%D1.6.1 RAM[3006]%D1.6.1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RAM[3012]%D1.6.1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RAM[3015]%D1.6.1 RAM[11]%D1.6.1;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endParaRPr lang="en-US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set sp 256,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set local 300,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set argument 400,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set this 3000,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set that 3010;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endParaRPr lang="en-US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repeat 25 {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vmstep,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output;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272425" name="Group 41">
            <a:extLst>
              <a:ext uri="{FF2B5EF4-FFF2-40B4-BE49-F238E27FC236}">
                <a16:creationId xmlns:a16="http://schemas.microsoft.com/office/drawing/2014/main" id="{733D068F-BB62-7E48-B975-76952A4FF1FD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066800"/>
            <a:ext cx="1905000" cy="1828800"/>
            <a:chOff x="288" y="672"/>
            <a:chExt cx="1200" cy="1152"/>
          </a:xfrm>
        </p:grpSpPr>
        <p:sp>
          <p:nvSpPr>
            <p:cNvPr id="272394" name="AutoShape 10">
              <a:extLst>
                <a:ext uri="{FF2B5EF4-FFF2-40B4-BE49-F238E27FC236}">
                  <a16:creationId xmlns:a16="http://schemas.microsoft.com/office/drawing/2014/main" id="{7E6FFF66-5EB2-5A4D-9307-E68501C63917}"/>
                </a:ext>
              </a:extLst>
            </p:cNvPr>
            <p:cNvSpPr>
              <a:spLocks/>
            </p:cNvSpPr>
            <p:nvPr/>
          </p:nvSpPr>
          <p:spPr bwMode="auto">
            <a:xfrm rot="-10834387">
              <a:off x="1248" y="672"/>
              <a:ext cx="240" cy="1152"/>
            </a:xfrm>
            <a:prstGeom prst="rightBrace">
              <a:avLst>
                <a:gd name="adj1" fmla="val 40000"/>
                <a:gd name="adj2" fmla="val 50000"/>
              </a:avLst>
            </a:prstGeom>
            <a:noFill/>
            <a:ln w="2222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6E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397" name="Rectangle 13">
              <a:extLst>
                <a:ext uri="{FF2B5EF4-FFF2-40B4-BE49-F238E27FC236}">
                  <a16:creationId xmlns:a16="http://schemas.microsoft.com/office/drawing/2014/main" id="{7F51A5F7-E5E9-F245-A9ED-D5278CB66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864"/>
              <a:ext cx="960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anchorCtr="1"/>
            <a:lstStyle>
              <a:lvl1pPr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1pPr>
              <a:lvl2pPr marL="862013" indent="-285750"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2pPr>
              <a:lvl3pPr marL="1281113" indent="-228600"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3pPr>
              <a:lvl4pPr marL="1700213" indent="-228600"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4pPr>
              <a:lvl5pPr marL="2119313" indent="-228600"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5pPr>
              <a:lvl6pPr marL="2576513" indent="-228600" algn="r" rtl="1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6pPr>
              <a:lvl7pPr marL="3033713" indent="-228600" algn="r" rtl="1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7pPr>
              <a:lvl8pPr marL="3490913" indent="-228600" algn="r" rtl="1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8pPr>
              <a:lvl9pPr marL="3948113" indent="-228600" algn="r" rtl="1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9pPr>
            </a:lstStyle>
            <a:p>
              <a:pPr rtl="0">
                <a:spcBef>
                  <a:spcPct val="40000"/>
                </a:spcBef>
                <a:buClr>
                  <a:srgbClr val="CC3300"/>
                </a:buClr>
                <a:buSzPct val="110000"/>
                <a:buFont typeface="Wingdings" pitchFamily="2" charset="2"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Simulation step</a:t>
              </a:r>
              <a:br>
                <a:rPr lang="en-US" altLang="en-US" sz="1400">
                  <a:latin typeface="Arial" panose="020B0604020202020204" pitchFamily="34" charset="0"/>
                </a:rPr>
              </a:br>
              <a:r>
                <a:rPr lang="en-US" altLang="en-US" sz="1400">
                  <a:latin typeface="Arial" panose="020B0604020202020204" pitchFamily="34" charset="0"/>
                </a:rPr>
                <a:t>(a series of script commands ending with a semicolon)</a:t>
              </a:r>
            </a:p>
          </p:txBody>
        </p:sp>
      </p:grpSp>
      <p:grpSp>
        <p:nvGrpSpPr>
          <p:cNvPr id="272426" name="Group 42">
            <a:extLst>
              <a:ext uri="{FF2B5EF4-FFF2-40B4-BE49-F238E27FC236}">
                <a16:creationId xmlns:a16="http://schemas.microsoft.com/office/drawing/2014/main" id="{2FB870B7-3FB4-384C-A13D-E1ADC5D4D718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122613"/>
            <a:ext cx="1371600" cy="1220787"/>
            <a:chOff x="624" y="1967"/>
            <a:chExt cx="864" cy="769"/>
          </a:xfrm>
        </p:grpSpPr>
        <p:sp>
          <p:nvSpPr>
            <p:cNvPr id="272421" name="AutoShape 37">
              <a:extLst>
                <a:ext uri="{FF2B5EF4-FFF2-40B4-BE49-F238E27FC236}">
                  <a16:creationId xmlns:a16="http://schemas.microsoft.com/office/drawing/2014/main" id="{EBF1B2D6-B6EA-564F-9FAB-65542E2A1AA3}"/>
                </a:ext>
              </a:extLst>
            </p:cNvPr>
            <p:cNvSpPr>
              <a:spLocks/>
            </p:cNvSpPr>
            <p:nvPr/>
          </p:nvSpPr>
          <p:spPr bwMode="auto">
            <a:xfrm rot="-10834387">
              <a:off x="1248" y="1967"/>
              <a:ext cx="240" cy="769"/>
            </a:xfrm>
            <a:prstGeom prst="rightBrace">
              <a:avLst>
                <a:gd name="adj1" fmla="val 26701"/>
                <a:gd name="adj2" fmla="val 50000"/>
              </a:avLst>
            </a:prstGeom>
            <a:noFill/>
            <a:ln w="2222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6E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422" name="Rectangle 38">
              <a:extLst>
                <a:ext uri="{FF2B5EF4-FFF2-40B4-BE49-F238E27FC236}">
                  <a16:creationId xmlns:a16="http://schemas.microsoft.com/office/drawing/2014/main" id="{750D47A9-9F43-8B41-A651-D2F3D5D3D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160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anchorCtr="1"/>
            <a:lstStyle>
              <a:lvl1pPr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1pPr>
              <a:lvl2pPr marL="862013" indent="-285750"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2pPr>
              <a:lvl3pPr marL="1281113" indent="-228600"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3pPr>
              <a:lvl4pPr marL="1700213" indent="-228600"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4pPr>
              <a:lvl5pPr marL="2119313" indent="-228600"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5pPr>
              <a:lvl6pPr marL="2576513" indent="-228600" algn="r" rtl="1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6pPr>
              <a:lvl7pPr marL="3033713" indent="-228600" algn="r" rtl="1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7pPr>
              <a:lvl8pPr marL="3490913" indent="-228600" algn="r" rtl="1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8pPr>
              <a:lvl9pPr marL="3948113" indent="-228600" algn="r" rtl="1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9pPr>
            </a:lstStyle>
            <a:p>
              <a:pPr rtl="0">
                <a:spcBef>
                  <a:spcPct val="40000"/>
                </a:spcBef>
                <a:buClr>
                  <a:srgbClr val="CC3300"/>
                </a:buClr>
                <a:buSzPct val="110000"/>
                <a:buFont typeface="Wingdings" pitchFamily="2" charset="2"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Next </a:t>
              </a:r>
              <a:br>
                <a:rPr lang="en-US" altLang="en-US" sz="1400">
                  <a:latin typeface="Arial" panose="020B0604020202020204" pitchFamily="34" charset="0"/>
                </a:rPr>
              </a:br>
              <a:r>
                <a:rPr lang="en-US" altLang="en-US" sz="1400">
                  <a:latin typeface="Arial" panose="020B0604020202020204" pitchFamily="34" charset="0"/>
                </a:rPr>
                <a:t>simulation</a:t>
              </a:r>
              <a:br>
                <a:rPr lang="en-US" altLang="en-US" sz="1400">
                  <a:latin typeface="Arial" panose="020B0604020202020204" pitchFamily="34" charset="0"/>
                </a:rPr>
              </a:br>
              <a:r>
                <a:rPr lang="en-US" altLang="en-US" sz="1400">
                  <a:latin typeface="Arial" panose="020B0604020202020204" pitchFamily="34" charset="0"/>
                </a:rPr>
                <a:t>step</a:t>
              </a:r>
            </a:p>
          </p:txBody>
        </p:sp>
      </p:grpSp>
      <p:grpSp>
        <p:nvGrpSpPr>
          <p:cNvPr id="272427" name="Group 43">
            <a:extLst>
              <a:ext uri="{FF2B5EF4-FFF2-40B4-BE49-F238E27FC236}">
                <a16:creationId xmlns:a16="http://schemas.microsoft.com/office/drawing/2014/main" id="{9038C44B-57BE-EF44-97A8-5F42B1351AE5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572000"/>
            <a:ext cx="1370013" cy="838200"/>
            <a:chOff x="624" y="2880"/>
            <a:chExt cx="863" cy="528"/>
          </a:xfrm>
        </p:grpSpPr>
        <p:sp>
          <p:nvSpPr>
            <p:cNvPr id="272423" name="AutoShape 39">
              <a:extLst>
                <a:ext uri="{FF2B5EF4-FFF2-40B4-BE49-F238E27FC236}">
                  <a16:creationId xmlns:a16="http://schemas.microsoft.com/office/drawing/2014/main" id="{5B60AD73-1639-E746-B65E-A7C801F407F1}"/>
                </a:ext>
              </a:extLst>
            </p:cNvPr>
            <p:cNvSpPr>
              <a:spLocks/>
            </p:cNvSpPr>
            <p:nvPr/>
          </p:nvSpPr>
          <p:spPr bwMode="auto">
            <a:xfrm rot="-10834387">
              <a:off x="1247" y="2880"/>
              <a:ext cx="240" cy="480"/>
            </a:xfrm>
            <a:prstGeom prst="rightBrace">
              <a:avLst>
                <a:gd name="adj1" fmla="val 16667"/>
                <a:gd name="adj2" fmla="val 50000"/>
              </a:avLst>
            </a:prstGeom>
            <a:noFill/>
            <a:ln w="2222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6E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424" name="Rectangle 40">
              <a:extLst>
                <a:ext uri="{FF2B5EF4-FFF2-40B4-BE49-F238E27FC236}">
                  <a16:creationId xmlns:a16="http://schemas.microsoft.com/office/drawing/2014/main" id="{C41E3CA2-C6F4-664E-B1BC-76642EE63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928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anchorCtr="1"/>
            <a:lstStyle>
              <a:lvl1pPr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1pPr>
              <a:lvl2pPr marL="862013" indent="-285750"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2pPr>
              <a:lvl3pPr marL="1281113" indent="-228600"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3pPr>
              <a:lvl4pPr marL="1700213" indent="-228600"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4pPr>
              <a:lvl5pPr marL="2119313" indent="-228600" algn="r" rtl="1"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5pPr>
              <a:lvl6pPr marL="2576513" indent="-228600" algn="r" rtl="1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6pPr>
              <a:lvl7pPr marL="3033713" indent="-228600" algn="r" rtl="1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7pPr>
              <a:lvl8pPr marL="3490913" indent="-228600" algn="r" rtl="1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8pPr>
              <a:lvl9pPr marL="3948113" indent="-228600" algn="r" rtl="1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 (Hebrew)" panose="02020603050405020304" pitchFamily="18" charset="0"/>
                </a:defRPr>
              </a:lvl9pPr>
            </a:lstStyle>
            <a:p>
              <a:pPr rtl="0">
                <a:spcBef>
                  <a:spcPct val="40000"/>
                </a:spcBef>
                <a:buClr>
                  <a:srgbClr val="CC3300"/>
                </a:buClr>
                <a:buSzPct val="110000"/>
                <a:buFont typeface="Wingdings" pitchFamily="2" charset="2"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Repeated</a:t>
              </a:r>
              <a:br>
                <a:rPr lang="en-US" altLang="en-US" sz="1400">
                  <a:latin typeface="Arial" panose="020B0604020202020204" pitchFamily="34" charset="0"/>
                </a:rPr>
              </a:br>
              <a:r>
                <a:rPr lang="en-US" altLang="en-US" sz="1400">
                  <a:latin typeface="Arial" panose="020B0604020202020204" pitchFamily="34" charset="0"/>
                </a:rPr>
                <a:t>simulation</a:t>
              </a:r>
              <a:br>
                <a:rPr lang="en-US" altLang="en-US" sz="1400">
                  <a:latin typeface="Arial" panose="020B0604020202020204" pitchFamily="34" charset="0"/>
                </a:rPr>
              </a:br>
              <a:r>
                <a:rPr lang="en-US" altLang="en-US" sz="1400">
                  <a:latin typeface="Arial" panose="020B0604020202020204" pitchFamily="34" charset="0"/>
                </a:rPr>
                <a:t>step</a:t>
              </a:r>
            </a:p>
          </p:txBody>
        </p:sp>
      </p:grpSp>
      <p:grpSp>
        <p:nvGrpSpPr>
          <p:cNvPr id="272428" name="Group 44">
            <a:extLst>
              <a:ext uri="{FF2B5EF4-FFF2-40B4-BE49-F238E27FC236}">
                <a16:creationId xmlns:a16="http://schemas.microsoft.com/office/drawing/2014/main" id="{58AF0949-D6DF-D247-BD58-DAE77327D45B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143000"/>
            <a:ext cx="3200400" cy="609600"/>
            <a:chOff x="3360" y="720"/>
            <a:chExt cx="1968" cy="384"/>
          </a:xfrm>
        </p:grpSpPr>
        <p:sp>
          <p:nvSpPr>
            <p:cNvPr id="272429" name="AutoShape 45">
              <a:extLst>
                <a:ext uri="{FF2B5EF4-FFF2-40B4-BE49-F238E27FC236}">
                  <a16:creationId xmlns:a16="http://schemas.microsoft.com/office/drawing/2014/main" id="{58509C90-20A6-554D-8E92-559C98132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3" y="720"/>
              <a:ext cx="1265" cy="384"/>
            </a:xfrm>
            <a:prstGeom prst="roundRect">
              <a:avLst>
                <a:gd name="adj" fmla="val 16667"/>
              </a:avLst>
            </a:prstGeom>
            <a:solidFill>
              <a:srgbClr val="FFDDC3"/>
            </a:solidFill>
            <a:ln w="19050">
              <a:solidFill>
                <a:srgbClr val="BD520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6000" rIns="126000" anchor="ctr"/>
            <a:lstStyle/>
            <a:p>
              <a:pPr algn="l" eaLnBrk="0" hangingPunct="0"/>
              <a:r>
                <a:rPr lang="en-US" altLang="en-US" sz="1400">
                  <a:solidFill>
                    <a:srgbClr val="800000"/>
                  </a:solidFill>
                  <a:cs typeface="Times New Roman (Hebrew)" panose="02020603050405020304" pitchFamily="18" charset="0"/>
                </a:rPr>
                <a:t>Typical “script setup” commands</a:t>
              </a:r>
            </a:p>
          </p:txBody>
        </p:sp>
        <p:cxnSp>
          <p:nvCxnSpPr>
            <p:cNvPr id="272430" name="AutoShape 46">
              <a:extLst>
                <a:ext uri="{FF2B5EF4-FFF2-40B4-BE49-F238E27FC236}">
                  <a16:creationId xmlns:a16="http://schemas.microsoft.com/office/drawing/2014/main" id="{798F4EA8-BDA9-F448-9819-576413EBB67D}"/>
                </a:ext>
              </a:extLst>
            </p:cNvPr>
            <p:cNvCxnSpPr>
              <a:cxnSpLocks noChangeShapeType="1"/>
              <a:stCxn id="272429" idx="1"/>
              <a:endCxn id="272431" idx="2"/>
            </p:cNvCxnSpPr>
            <p:nvPr/>
          </p:nvCxnSpPr>
          <p:spPr bwMode="auto">
            <a:xfrm flipH="1">
              <a:off x="3461" y="912"/>
              <a:ext cx="596" cy="0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2431" name="Rectangle 47">
              <a:extLst>
                <a:ext uri="{FF2B5EF4-FFF2-40B4-BE49-F238E27FC236}">
                  <a16:creationId xmlns:a16="http://schemas.microsoft.com/office/drawing/2014/main" id="{DC95EC2E-1349-C142-9095-47B40FB8B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768"/>
              <a:ext cx="201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endParaRPr lang="en-US" altLang="en-US"/>
            </a:p>
          </p:txBody>
        </p:sp>
      </p:grpSp>
      <p:grpSp>
        <p:nvGrpSpPr>
          <p:cNvPr id="272440" name="Group 56">
            <a:extLst>
              <a:ext uri="{FF2B5EF4-FFF2-40B4-BE49-F238E27FC236}">
                <a16:creationId xmlns:a16="http://schemas.microsoft.com/office/drawing/2014/main" id="{C24166A8-EDA6-7642-AE3A-283413407D6D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3048000"/>
            <a:ext cx="4495800" cy="914400"/>
            <a:chOff x="2784" y="1920"/>
            <a:chExt cx="2832" cy="576"/>
          </a:xfrm>
        </p:grpSpPr>
        <p:sp>
          <p:nvSpPr>
            <p:cNvPr id="272433" name="AutoShape 49">
              <a:extLst>
                <a:ext uri="{FF2B5EF4-FFF2-40B4-BE49-F238E27FC236}">
                  <a16:creationId xmlns:a16="http://schemas.microsoft.com/office/drawing/2014/main" id="{DFF5C068-37A5-2248-A7FF-4BFDF5938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920"/>
              <a:ext cx="1392" cy="576"/>
            </a:xfrm>
            <a:prstGeom prst="roundRect">
              <a:avLst>
                <a:gd name="adj" fmla="val 16667"/>
              </a:avLst>
            </a:prstGeom>
            <a:solidFill>
              <a:srgbClr val="FFDDC3"/>
            </a:solidFill>
            <a:ln w="19050">
              <a:solidFill>
                <a:srgbClr val="BD520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6000" rIns="126000" anchor="ctr"/>
            <a:lstStyle/>
            <a:p>
              <a:pPr algn="l" eaLnBrk="0" hangingPunct="0"/>
              <a:r>
                <a:rPr lang="en-US" altLang="en-US" sz="1400">
                  <a:solidFill>
                    <a:srgbClr val="800000"/>
                  </a:solidFill>
                  <a:cs typeface="Times New Roman (Hebrew)" panose="02020603050405020304" pitchFamily="18" charset="0"/>
                </a:rPr>
                <a:t>Typical memory segments initialization commands</a:t>
              </a:r>
            </a:p>
          </p:txBody>
        </p:sp>
        <p:cxnSp>
          <p:nvCxnSpPr>
            <p:cNvPr id="272434" name="AutoShape 50">
              <a:extLst>
                <a:ext uri="{FF2B5EF4-FFF2-40B4-BE49-F238E27FC236}">
                  <a16:creationId xmlns:a16="http://schemas.microsoft.com/office/drawing/2014/main" id="{1F29A9F6-215D-C44B-B2B2-F987BD390F3E}"/>
                </a:ext>
              </a:extLst>
            </p:cNvPr>
            <p:cNvCxnSpPr>
              <a:cxnSpLocks noChangeShapeType="1"/>
              <a:stCxn id="272433" idx="1"/>
              <a:endCxn id="272435" idx="2"/>
            </p:cNvCxnSpPr>
            <p:nvPr/>
          </p:nvCxnSpPr>
          <p:spPr bwMode="auto">
            <a:xfrm flipH="1">
              <a:off x="2880" y="2208"/>
              <a:ext cx="1338" cy="0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2435" name="Rectangle 51">
              <a:extLst>
                <a:ext uri="{FF2B5EF4-FFF2-40B4-BE49-F238E27FC236}">
                  <a16:creationId xmlns:a16="http://schemas.microsoft.com/office/drawing/2014/main" id="{F7173B24-AC58-DC42-AAF4-AE28F43E2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064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endParaRPr lang="en-US" altLang="en-US"/>
            </a:p>
          </p:txBody>
        </p:sp>
      </p:grpSp>
      <p:grpSp>
        <p:nvGrpSpPr>
          <p:cNvPr id="272441" name="Group 57">
            <a:extLst>
              <a:ext uri="{FF2B5EF4-FFF2-40B4-BE49-F238E27FC236}">
                <a16:creationId xmlns:a16="http://schemas.microsoft.com/office/drawing/2014/main" id="{09D5A25D-2803-7742-91EA-5D9206E36AB0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4724400"/>
            <a:ext cx="4953000" cy="609600"/>
            <a:chOff x="2496" y="2976"/>
            <a:chExt cx="3120" cy="384"/>
          </a:xfrm>
        </p:grpSpPr>
        <p:sp>
          <p:nvSpPr>
            <p:cNvPr id="272437" name="AutoShape 53">
              <a:extLst>
                <a:ext uri="{FF2B5EF4-FFF2-40B4-BE49-F238E27FC236}">
                  <a16:creationId xmlns:a16="http://schemas.microsoft.com/office/drawing/2014/main" id="{EEF91790-519C-9848-A1BA-91E82A2CF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976"/>
              <a:ext cx="1392" cy="384"/>
            </a:xfrm>
            <a:prstGeom prst="roundRect">
              <a:avLst>
                <a:gd name="adj" fmla="val 16667"/>
              </a:avLst>
            </a:prstGeom>
            <a:solidFill>
              <a:srgbClr val="FFDDC3"/>
            </a:solidFill>
            <a:ln w="19050">
              <a:solidFill>
                <a:srgbClr val="BD520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6000" rIns="126000" anchor="ctr"/>
            <a:lstStyle/>
            <a:p>
              <a:pPr algn="l" eaLnBrk="0" hangingPunct="0"/>
              <a:r>
                <a:rPr lang="en-US" altLang="en-US" sz="1400">
                  <a:solidFill>
                    <a:srgbClr val="800000"/>
                  </a:solidFill>
                  <a:cs typeface="Times New Roman (Hebrew)" panose="02020603050405020304" pitchFamily="18" charset="0"/>
                </a:rPr>
                <a:t>Typical execution loop</a:t>
              </a:r>
            </a:p>
          </p:txBody>
        </p:sp>
        <p:cxnSp>
          <p:nvCxnSpPr>
            <p:cNvPr id="272438" name="AutoShape 54">
              <a:extLst>
                <a:ext uri="{FF2B5EF4-FFF2-40B4-BE49-F238E27FC236}">
                  <a16:creationId xmlns:a16="http://schemas.microsoft.com/office/drawing/2014/main" id="{A8590DCF-DAE8-474D-A4D8-7273E1114404}"/>
                </a:ext>
              </a:extLst>
            </p:cNvPr>
            <p:cNvCxnSpPr>
              <a:cxnSpLocks noChangeShapeType="1"/>
              <a:stCxn id="272437" idx="1"/>
              <a:endCxn id="272439" idx="2"/>
            </p:cNvCxnSpPr>
            <p:nvPr/>
          </p:nvCxnSpPr>
          <p:spPr bwMode="auto">
            <a:xfrm flipH="1">
              <a:off x="2592" y="3168"/>
              <a:ext cx="1626" cy="0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2439" name="Rectangle 55">
              <a:extLst>
                <a:ext uri="{FF2B5EF4-FFF2-40B4-BE49-F238E27FC236}">
                  <a16:creationId xmlns:a16="http://schemas.microsoft.com/office/drawing/2014/main" id="{52AE5BC7-A051-6645-9974-36885396D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024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702" name="Picture 14">
            <a:extLst>
              <a:ext uri="{FF2B5EF4-FFF2-40B4-BE49-F238E27FC236}">
                <a16:creationId xmlns:a16="http://schemas.microsoft.com/office/drawing/2014/main" id="{3F2351EB-508A-9848-9E6B-B295F8F6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8077200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2690" name="Rectangle 2">
            <a:extLst>
              <a:ext uri="{FF2B5EF4-FFF2-40B4-BE49-F238E27FC236}">
                <a16:creationId xmlns:a16="http://schemas.microsoft.com/office/drawing/2014/main" id="{610B9354-939A-5E43-8C18-A98F01991A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Loading a Script</a:t>
            </a:r>
          </a:p>
        </p:txBody>
      </p:sp>
      <p:sp>
        <p:nvSpPr>
          <p:cNvPr id="242701" name="Oval 13">
            <a:extLst>
              <a:ext uri="{FF2B5EF4-FFF2-40B4-BE49-F238E27FC236}">
                <a16:creationId xmlns:a16="http://schemas.microsoft.com/office/drawing/2014/main" id="{A8E0084A-7E80-354B-8B14-85379BA81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914400"/>
            <a:ext cx="609600" cy="6096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42704" name="Picture 16">
            <a:extLst>
              <a:ext uri="{FF2B5EF4-FFF2-40B4-BE49-F238E27FC236}">
                <a16:creationId xmlns:a16="http://schemas.microsoft.com/office/drawing/2014/main" id="{D2396708-0C14-7A41-BB32-C6600B5AD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209800"/>
            <a:ext cx="55626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2694" name="AutoShape 6">
            <a:extLst>
              <a:ext uri="{FF2B5EF4-FFF2-40B4-BE49-F238E27FC236}">
                <a16:creationId xmlns:a16="http://schemas.microsoft.com/office/drawing/2014/main" id="{9174AEEB-11AC-1049-A04F-E00D27F4D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10000"/>
            <a:ext cx="2209800" cy="914400"/>
          </a:xfrm>
          <a:prstGeom prst="wedgeRoundRectCallout">
            <a:avLst>
              <a:gd name="adj1" fmla="val -37213"/>
              <a:gd name="adj2" fmla="val -103125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en-US" sz="1600">
                <a:solidFill>
                  <a:schemeClr val="tx1"/>
                </a:solidFill>
              </a:rPr>
              <a:t>Navigate to a directory and select a </a:t>
            </a:r>
            <a:r>
              <a:rPr lang="en-US" altLang="en-US" sz="13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.tst </a:t>
            </a:r>
            <a:r>
              <a:rPr lang="en-US" altLang="en-US" sz="1600">
                <a:solidFill>
                  <a:schemeClr val="tx1"/>
                </a:solidFill>
              </a:rPr>
              <a:t>file.</a:t>
            </a:r>
          </a:p>
        </p:txBody>
      </p:sp>
      <p:sp>
        <p:nvSpPr>
          <p:cNvPr id="242695" name="Oval 7">
            <a:extLst>
              <a:ext uri="{FF2B5EF4-FFF2-40B4-BE49-F238E27FC236}">
                <a16:creationId xmlns:a16="http://schemas.microsoft.com/office/drawing/2014/main" id="{6D716168-1BD6-694E-84ED-51B6B1479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105400"/>
            <a:ext cx="1447800" cy="6096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4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372" name="Picture 12">
            <a:extLst>
              <a:ext uri="{FF2B5EF4-FFF2-40B4-BE49-F238E27FC236}">
                <a16:creationId xmlns:a16="http://schemas.microsoft.com/office/drawing/2014/main" id="{C480B80C-1756-174B-91D3-CB9CE923F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8077200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1363" name="Rectangle 3">
            <a:extLst>
              <a:ext uri="{FF2B5EF4-FFF2-40B4-BE49-F238E27FC236}">
                <a16:creationId xmlns:a16="http://schemas.microsoft.com/office/drawing/2014/main" id="{81086A0A-0C7F-EA4A-A7FD-E081179F53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Script Controls</a:t>
            </a:r>
          </a:p>
        </p:txBody>
      </p:sp>
      <p:sp>
        <p:nvSpPr>
          <p:cNvPr id="271364" name="AutoShape 4">
            <a:extLst>
              <a:ext uri="{FF2B5EF4-FFF2-40B4-BE49-F238E27FC236}">
                <a16:creationId xmlns:a16="http://schemas.microsoft.com/office/drawing/2014/main" id="{A8FF6A09-3738-1B43-A9C2-4E4745ABB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410200"/>
            <a:ext cx="1676400" cy="609600"/>
          </a:xfrm>
          <a:prstGeom prst="wedgeRoundRectCallout">
            <a:avLst>
              <a:gd name="adj1" fmla="val -29449"/>
              <a:gd name="adj2" fmla="val -707032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en-US" sz="1400">
                <a:solidFill>
                  <a:schemeClr val="tx1"/>
                </a:solidFill>
              </a:rPr>
              <a:t>Execute the next simulation step</a:t>
            </a:r>
          </a:p>
        </p:txBody>
      </p:sp>
      <p:sp>
        <p:nvSpPr>
          <p:cNvPr id="271365" name="AutoShape 5">
            <a:extLst>
              <a:ext uri="{FF2B5EF4-FFF2-40B4-BE49-F238E27FC236}">
                <a16:creationId xmlns:a16="http://schemas.microsoft.com/office/drawing/2014/main" id="{EA7828D7-7B36-BC41-8A81-145264F52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724400"/>
            <a:ext cx="1752600" cy="533400"/>
          </a:xfrm>
          <a:prstGeom prst="wedgeRoundRectCallout">
            <a:avLst>
              <a:gd name="adj1" fmla="val -64583"/>
              <a:gd name="adj2" fmla="val -668153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en-US" sz="1400">
                <a:solidFill>
                  <a:schemeClr val="tx1"/>
                </a:solidFill>
              </a:rPr>
              <a:t>Execute step after step repeatedly</a:t>
            </a:r>
          </a:p>
        </p:txBody>
      </p:sp>
      <p:sp>
        <p:nvSpPr>
          <p:cNvPr id="271366" name="AutoShape 6">
            <a:extLst>
              <a:ext uri="{FF2B5EF4-FFF2-40B4-BE49-F238E27FC236}">
                <a16:creationId xmlns:a16="http://schemas.microsoft.com/office/drawing/2014/main" id="{D3E85F9A-C35F-3249-A234-AEF18B392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1143000" cy="533400"/>
          </a:xfrm>
          <a:prstGeom prst="wedgeRoundRectCallout">
            <a:avLst>
              <a:gd name="adj1" fmla="val -119722"/>
              <a:gd name="adj2" fmla="val -543454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en-US" sz="1400">
                <a:solidFill>
                  <a:schemeClr val="tx1"/>
                </a:solidFill>
              </a:rPr>
              <a:t>Pause the simulation</a:t>
            </a:r>
          </a:p>
        </p:txBody>
      </p:sp>
      <p:sp>
        <p:nvSpPr>
          <p:cNvPr id="271367" name="AutoShape 7">
            <a:extLst>
              <a:ext uri="{FF2B5EF4-FFF2-40B4-BE49-F238E27FC236}">
                <a16:creationId xmlns:a16="http://schemas.microsoft.com/office/drawing/2014/main" id="{46884D06-8214-F745-BB40-1E7811666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276600"/>
            <a:ext cx="990600" cy="609600"/>
          </a:xfrm>
          <a:prstGeom prst="wedgeRoundRectCallout">
            <a:avLst>
              <a:gd name="adj1" fmla="val -145194"/>
              <a:gd name="adj2" fmla="val -355731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en-US" sz="1400">
                <a:solidFill>
                  <a:schemeClr val="tx1"/>
                </a:solidFill>
              </a:rPr>
              <a:t>Reset</a:t>
            </a:r>
            <a:br>
              <a:rPr lang="en-US" altLang="en-US" sz="1400">
                <a:solidFill>
                  <a:schemeClr val="tx1"/>
                </a:solidFill>
              </a:rPr>
            </a:br>
            <a:r>
              <a:rPr lang="en-US" altLang="en-US" sz="1400">
                <a:solidFill>
                  <a:schemeClr val="tx1"/>
                </a:solidFill>
              </a:rPr>
              <a:t>the script</a:t>
            </a:r>
          </a:p>
        </p:txBody>
      </p:sp>
      <p:sp>
        <p:nvSpPr>
          <p:cNvPr id="271369" name="AutoShape 9">
            <a:extLst>
              <a:ext uri="{FF2B5EF4-FFF2-40B4-BE49-F238E27FC236}">
                <a16:creationId xmlns:a16="http://schemas.microsoft.com/office/drawing/2014/main" id="{F7FECD97-F543-4F41-9E7E-C6A6B7D89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514600"/>
            <a:ext cx="2362200" cy="838200"/>
          </a:xfrm>
          <a:prstGeom prst="wedgeRoundRectCallout">
            <a:avLst>
              <a:gd name="adj1" fmla="val -21440"/>
              <a:gd name="adj2" fmla="val -35796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en-US" sz="1400">
                <a:solidFill>
                  <a:schemeClr val="tx1"/>
                </a:solidFill>
              </a:rPr>
              <a:t>Script = a series of simulation steps, each ending with a semicolon;</a:t>
            </a:r>
          </a:p>
        </p:txBody>
      </p:sp>
      <p:sp>
        <p:nvSpPr>
          <p:cNvPr id="271370" name="AutoShape 10">
            <a:extLst>
              <a:ext uri="{FF2B5EF4-FFF2-40B4-BE49-F238E27FC236}">
                <a16:creationId xmlns:a16="http://schemas.microsoft.com/office/drawing/2014/main" id="{2C9FD571-2A74-C24C-B7C4-3A1DBC523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52400"/>
            <a:ext cx="1066800" cy="838200"/>
          </a:xfrm>
          <a:prstGeom prst="wedgeRoundRectCallout">
            <a:avLst>
              <a:gd name="adj1" fmla="val -129611"/>
              <a:gd name="adj2" fmla="val 57954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en-US" sz="1400">
                <a:solidFill>
                  <a:schemeClr val="tx1"/>
                </a:solidFill>
              </a:rPr>
              <a:t>Execution speed </a:t>
            </a:r>
          </a:p>
          <a:p>
            <a:pPr algn="l"/>
            <a:r>
              <a:rPr lang="en-US" altLang="en-US" sz="1400">
                <a:solidFill>
                  <a:schemeClr val="tx1"/>
                </a:solidFill>
              </a:rPr>
              <a:t>control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4" grpId="0" animBg="1" autoUpdateAnimBg="0"/>
      <p:bldP spid="271365" grpId="0" animBg="1" autoUpdateAnimBg="0"/>
      <p:bldP spid="271366" grpId="0" animBg="1" autoUpdateAnimBg="0"/>
      <p:bldP spid="271367" grpId="0" animBg="1" autoUpdateAnimBg="0"/>
      <p:bldP spid="271370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7" name="Picture 27">
            <a:extLst>
              <a:ext uri="{FF2B5EF4-FFF2-40B4-BE49-F238E27FC236}">
                <a16:creationId xmlns:a16="http://schemas.microsoft.com/office/drawing/2014/main" id="{6258BF16-7989-884F-B567-B39673CA6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8077200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45774" name="Group 14">
            <a:extLst>
              <a:ext uri="{FF2B5EF4-FFF2-40B4-BE49-F238E27FC236}">
                <a16:creationId xmlns:a16="http://schemas.microsoft.com/office/drawing/2014/main" id="{DF6B7983-7B80-DA4D-93D6-72ED06FC307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295400"/>
            <a:ext cx="2819400" cy="609600"/>
            <a:chOff x="3552" y="912"/>
            <a:chExt cx="2064" cy="384"/>
          </a:xfrm>
        </p:grpSpPr>
        <p:sp>
          <p:nvSpPr>
            <p:cNvPr id="245766" name="AutoShape 6">
              <a:extLst>
                <a:ext uri="{FF2B5EF4-FFF2-40B4-BE49-F238E27FC236}">
                  <a16:creationId xmlns:a16="http://schemas.microsoft.com/office/drawing/2014/main" id="{44FC21BF-6153-4942-A4CF-1B26F6A46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912"/>
              <a:ext cx="1392" cy="384"/>
            </a:xfrm>
            <a:prstGeom prst="roundRect">
              <a:avLst>
                <a:gd name="adj" fmla="val 16667"/>
              </a:avLst>
            </a:prstGeom>
            <a:solidFill>
              <a:srgbClr val="FFDDC3"/>
            </a:solidFill>
            <a:ln w="19050">
              <a:solidFill>
                <a:srgbClr val="BD520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 anchor="ctr"/>
            <a:lstStyle/>
            <a:p>
              <a:pPr algn="l" eaLnBrk="0" hangingPunct="0"/>
              <a:r>
                <a:rPr lang="en-US" altLang="en-US" sz="1400">
                  <a:solidFill>
                    <a:srgbClr val="800000"/>
                  </a:solidFill>
                  <a:cs typeface="Times New Roman (Hebrew)" panose="02020603050405020304" pitchFamily="18" charset="0"/>
                </a:rPr>
                <a:t>Loads a VM program into the emulator</a:t>
              </a:r>
            </a:p>
          </p:txBody>
        </p:sp>
        <p:cxnSp>
          <p:nvCxnSpPr>
            <p:cNvPr id="245767" name="AutoShape 7">
              <a:extLst>
                <a:ext uri="{FF2B5EF4-FFF2-40B4-BE49-F238E27FC236}">
                  <a16:creationId xmlns:a16="http://schemas.microsoft.com/office/drawing/2014/main" id="{73378381-9DBC-8847-B209-8F105179B64F}"/>
                </a:ext>
              </a:extLst>
            </p:cNvPr>
            <p:cNvCxnSpPr>
              <a:cxnSpLocks noChangeShapeType="1"/>
              <a:stCxn id="245766" idx="1"/>
              <a:endCxn id="245768" idx="2"/>
            </p:cNvCxnSpPr>
            <p:nvPr/>
          </p:nvCxnSpPr>
          <p:spPr bwMode="auto">
            <a:xfrm flipH="1">
              <a:off x="3648" y="1104"/>
              <a:ext cx="570" cy="0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5768" name="Rectangle 8">
              <a:extLst>
                <a:ext uri="{FF2B5EF4-FFF2-40B4-BE49-F238E27FC236}">
                  <a16:creationId xmlns:a16="http://schemas.microsoft.com/office/drawing/2014/main" id="{B2D0284A-E32B-704B-B1DD-AFEEBAEB9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960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endParaRPr lang="en-US" altLang="en-US"/>
            </a:p>
          </p:txBody>
        </p:sp>
      </p:grpSp>
      <p:sp>
        <p:nvSpPr>
          <p:cNvPr id="245776" name="Oval 16">
            <a:extLst>
              <a:ext uri="{FF2B5EF4-FFF2-40B4-BE49-F238E27FC236}">
                <a16:creationId xmlns:a16="http://schemas.microsoft.com/office/drawing/2014/main" id="{E7097AD9-002D-844E-82D9-848F174C3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381000" cy="4572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783" name="Rectangle 23">
            <a:extLst>
              <a:ext uri="{FF2B5EF4-FFF2-40B4-BE49-F238E27FC236}">
                <a16:creationId xmlns:a16="http://schemas.microsoft.com/office/drawing/2014/main" id="{BD3F0827-ACF9-FF46-BC86-521357872D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Running the Script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831" name="Picture 23">
            <a:extLst>
              <a:ext uri="{FF2B5EF4-FFF2-40B4-BE49-F238E27FC236}">
                <a16:creationId xmlns:a16="http://schemas.microsoft.com/office/drawing/2014/main" id="{0E761D3C-3B57-304E-BE38-FCE8A28BF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8077200" cy="584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7824" name="AutoShape 16">
            <a:extLst>
              <a:ext uri="{FF2B5EF4-FFF2-40B4-BE49-F238E27FC236}">
                <a16:creationId xmlns:a16="http://schemas.microsoft.com/office/drawing/2014/main" id="{58ED85CE-61CF-D546-8472-DD5E31E9E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114800"/>
            <a:ext cx="1143000" cy="685800"/>
          </a:xfrm>
          <a:prstGeom prst="wedgeRoundRectCallout">
            <a:avLst>
              <a:gd name="adj1" fmla="val 11250"/>
              <a:gd name="adj2" fmla="val -123380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en-US" sz="1600">
                <a:solidFill>
                  <a:schemeClr val="tx1"/>
                </a:solidFill>
              </a:rPr>
              <a:t>VM code is loaded</a:t>
            </a:r>
          </a:p>
        </p:txBody>
      </p:sp>
      <p:sp>
        <p:nvSpPr>
          <p:cNvPr id="247826" name="Rectangle 18">
            <a:extLst>
              <a:ext uri="{FF2B5EF4-FFF2-40B4-BE49-F238E27FC236}">
                <a16:creationId xmlns:a16="http://schemas.microsoft.com/office/drawing/2014/main" id="{3114FFDB-B7F2-9040-9406-3F68339B4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Running the Script</a:t>
            </a:r>
          </a:p>
        </p:txBody>
      </p:sp>
      <p:sp>
        <p:nvSpPr>
          <p:cNvPr id="247833" name="Oval 25">
            <a:extLst>
              <a:ext uri="{FF2B5EF4-FFF2-40B4-BE49-F238E27FC236}">
                <a16:creationId xmlns:a16="http://schemas.microsoft.com/office/drawing/2014/main" id="{C40B0B02-D630-9D48-9AEC-ABEB1A611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381000" cy="4572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866" name="Picture 34">
            <a:extLst>
              <a:ext uri="{FF2B5EF4-FFF2-40B4-BE49-F238E27FC236}">
                <a16:creationId xmlns:a16="http://schemas.microsoft.com/office/drawing/2014/main" id="{9E785A5C-0E3B-9C4A-8CCD-23BB25AC7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8077200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48854" name="Group 22">
            <a:extLst>
              <a:ext uri="{FF2B5EF4-FFF2-40B4-BE49-F238E27FC236}">
                <a16:creationId xmlns:a16="http://schemas.microsoft.com/office/drawing/2014/main" id="{D80A6F9A-C338-2242-B79F-CD445181D9CF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2971800"/>
            <a:ext cx="1524000" cy="2971800"/>
            <a:chOff x="2448" y="1872"/>
            <a:chExt cx="960" cy="1872"/>
          </a:xfrm>
        </p:grpSpPr>
        <p:sp>
          <p:nvSpPr>
            <p:cNvPr id="248850" name="AutoShape 18">
              <a:extLst>
                <a:ext uri="{FF2B5EF4-FFF2-40B4-BE49-F238E27FC236}">
                  <a16:creationId xmlns:a16="http://schemas.microsoft.com/office/drawing/2014/main" id="{1D104BC9-943D-374C-A78B-E2A557E79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072"/>
              <a:ext cx="960" cy="672"/>
            </a:xfrm>
            <a:prstGeom prst="roundRect">
              <a:avLst>
                <a:gd name="adj" fmla="val 16667"/>
              </a:avLst>
            </a:prstGeom>
            <a:solidFill>
              <a:srgbClr val="FFDDC3"/>
            </a:solidFill>
            <a:ln w="19050">
              <a:solidFill>
                <a:srgbClr val="BD520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rIns="54000" anchor="ctr"/>
            <a:lstStyle/>
            <a:p>
              <a:pPr eaLnBrk="0" hangingPunct="0"/>
              <a:r>
                <a:rPr lang="en-US" altLang="en-US" sz="1400">
                  <a:solidFill>
                    <a:srgbClr val="800000"/>
                  </a:solidFill>
                  <a:cs typeface="Times New Roman (Hebrew)" panose="02020603050405020304" pitchFamily="18" charset="0"/>
                </a:rPr>
                <a:t>A loop that executes the loaded VM program</a:t>
              </a:r>
            </a:p>
          </p:txBody>
        </p:sp>
        <p:cxnSp>
          <p:nvCxnSpPr>
            <p:cNvPr id="248851" name="AutoShape 19">
              <a:extLst>
                <a:ext uri="{FF2B5EF4-FFF2-40B4-BE49-F238E27FC236}">
                  <a16:creationId xmlns:a16="http://schemas.microsoft.com/office/drawing/2014/main" id="{9D91ADA0-5017-0345-9EE3-93F46327F7F4}"/>
                </a:ext>
              </a:extLst>
            </p:cNvPr>
            <p:cNvCxnSpPr>
              <a:cxnSpLocks noChangeShapeType="1"/>
              <a:stCxn id="248850" idx="0"/>
              <a:endCxn id="248852" idx="2"/>
            </p:cNvCxnSpPr>
            <p:nvPr/>
          </p:nvCxnSpPr>
          <p:spPr bwMode="auto">
            <a:xfrm flipV="1">
              <a:off x="2928" y="2016"/>
              <a:ext cx="0" cy="1050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8852" name="Rectangle 20">
              <a:extLst>
                <a:ext uri="{FF2B5EF4-FFF2-40B4-BE49-F238E27FC236}">
                  <a16:creationId xmlns:a16="http://schemas.microsoft.com/office/drawing/2014/main" id="{B4F60119-E811-C846-B7AF-F9797D925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872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248860" name="Rectangle 28">
            <a:extLst>
              <a:ext uri="{FF2B5EF4-FFF2-40B4-BE49-F238E27FC236}">
                <a16:creationId xmlns:a16="http://schemas.microsoft.com/office/drawing/2014/main" id="{F8CBBD6C-C026-7846-840B-A32831A27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Running the Script</a:t>
            </a:r>
          </a:p>
        </p:txBody>
      </p:sp>
      <p:grpSp>
        <p:nvGrpSpPr>
          <p:cNvPr id="248879" name="Group 47">
            <a:extLst>
              <a:ext uri="{FF2B5EF4-FFF2-40B4-BE49-F238E27FC236}">
                <a16:creationId xmlns:a16="http://schemas.microsoft.com/office/drawing/2014/main" id="{B38CA067-1B10-804F-9311-E0357658D293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685800"/>
            <a:ext cx="2514600" cy="762000"/>
            <a:chOff x="528" y="432"/>
            <a:chExt cx="1584" cy="480"/>
          </a:xfrm>
        </p:grpSpPr>
        <p:sp>
          <p:nvSpPr>
            <p:cNvPr id="248856" name="AutoShape 24">
              <a:extLst>
                <a:ext uri="{FF2B5EF4-FFF2-40B4-BE49-F238E27FC236}">
                  <a16:creationId xmlns:a16="http://schemas.microsoft.com/office/drawing/2014/main" id="{8393C200-9254-7643-BE36-791BB6EFA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432"/>
              <a:ext cx="1056" cy="240"/>
            </a:xfrm>
            <a:prstGeom prst="wedgeRoundRectCallout">
              <a:avLst>
                <a:gd name="adj1" fmla="val -82199"/>
                <a:gd name="adj2" fmla="val 75417"/>
                <a:gd name="adj3" fmla="val 16667"/>
              </a:avLst>
            </a:prstGeom>
            <a:solidFill>
              <a:srgbClr val="FFFFC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rIns="54000"/>
            <a:lstStyle/>
            <a:p>
              <a:pPr algn="l"/>
              <a:r>
                <a:rPr lang="en-US" altLang="en-US" sz="1400">
                  <a:solidFill>
                    <a:schemeClr val="tx1"/>
                  </a:solidFill>
                </a:rPr>
                <a:t>(click a few times)</a:t>
              </a:r>
            </a:p>
          </p:txBody>
        </p:sp>
        <p:sp>
          <p:nvSpPr>
            <p:cNvPr id="248868" name="Oval 36">
              <a:extLst>
                <a:ext uri="{FF2B5EF4-FFF2-40B4-BE49-F238E27FC236}">
                  <a16:creationId xmlns:a16="http://schemas.microsoft.com/office/drawing/2014/main" id="{044054B0-F554-5244-90DA-5E1914497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624"/>
              <a:ext cx="240" cy="288"/>
            </a:xfrm>
            <a:prstGeom prst="ellips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6E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48878" name="Group 46">
            <a:extLst>
              <a:ext uri="{FF2B5EF4-FFF2-40B4-BE49-F238E27FC236}">
                <a16:creationId xmlns:a16="http://schemas.microsoft.com/office/drawing/2014/main" id="{1DB7F192-97B0-DC4D-B180-15B38BCC2832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676400"/>
            <a:ext cx="3429000" cy="2895600"/>
            <a:chOff x="3312" y="1056"/>
            <a:chExt cx="2160" cy="1824"/>
          </a:xfrm>
        </p:grpSpPr>
        <p:sp>
          <p:nvSpPr>
            <p:cNvPr id="248847" name="AutoShape 15">
              <a:extLst>
                <a:ext uri="{FF2B5EF4-FFF2-40B4-BE49-F238E27FC236}">
                  <a16:creationId xmlns:a16="http://schemas.microsoft.com/office/drawing/2014/main" id="{36F8F191-50E6-4F4F-81C5-4AD3A27BC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056"/>
              <a:ext cx="1440" cy="960"/>
            </a:xfrm>
            <a:prstGeom prst="roundRect">
              <a:avLst>
                <a:gd name="adj" fmla="val 16667"/>
              </a:avLst>
            </a:prstGeom>
            <a:solidFill>
              <a:srgbClr val="FFDDC3"/>
            </a:solidFill>
            <a:ln w="19050">
              <a:solidFill>
                <a:srgbClr val="BD520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6000" rIns="126000" anchor="ctr"/>
            <a:lstStyle/>
            <a:p>
              <a:pPr algn="l" eaLnBrk="0" hangingPunct="0"/>
              <a:r>
                <a:rPr lang="en-US" altLang="en-US" sz="1400">
                  <a:solidFill>
                    <a:srgbClr val="800000"/>
                  </a:solidFill>
                  <a:cs typeface="Times New Roman (Hebrew)" panose="02020603050405020304" pitchFamily="18" charset="0"/>
                </a:rPr>
                <a:t>The memory segments were initialized (their base addresses were anchored to the RAM locations specified by the script).</a:t>
              </a:r>
            </a:p>
          </p:txBody>
        </p:sp>
        <p:cxnSp>
          <p:nvCxnSpPr>
            <p:cNvPr id="248874" name="AutoShape 42">
              <a:extLst>
                <a:ext uri="{FF2B5EF4-FFF2-40B4-BE49-F238E27FC236}">
                  <a16:creationId xmlns:a16="http://schemas.microsoft.com/office/drawing/2014/main" id="{593203C8-9754-2048-845B-BA039272CD62}"/>
                </a:ext>
              </a:extLst>
            </p:cNvPr>
            <p:cNvCxnSpPr>
              <a:cxnSpLocks noChangeShapeType="1"/>
              <a:stCxn id="248847" idx="1"/>
              <a:endCxn id="248875" idx="2"/>
            </p:cNvCxnSpPr>
            <p:nvPr/>
          </p:nvCxnSpPr>
          <p:spPr bwMode="auto">
            <a:xfrm flipH="1">
              <a:off x="3408" y="1536"/>
              <a:ext cx="618" cy="0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8875" name="Rectangle 43">
              <a:extLst>
                <a:ext uri="{FF2B5EF4-FFF2-40B4-BE49-F238E27FC236}">
                  <a16:creationId xmlns:a16="http://schemas.microsoft.com/office/drawing/2014/main" id="{98A964D8-68BF-7446-BAE1-D336A59F1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392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cxnSp>
          <p:nvCxnSpPr>
            <p:cNvPr id="248876" name="AutoShape 44">
              <a:extLst>
                <a:ext uri="{FF2B5EF4-FFF2-40B4-BE49-F238E27FC236}">
                  <a16:creationId xmlns:a16="http://schemas.microsoft.com/office/drawing/2014/main" id="{333F215C-BB6C-6B4C-9705-5B8CA30591C1}"/>
                </a:ext>
              </a:extLst>
            </p:cNvPr>
            <p:cNvCxnSpPr>
              <a:cxnSpLocks noChangeShapeType="1"/>
              <a:stCxn id="248847" idx="2"/>
              <a:endCxn id="248877" idx="2"/>
            </p:cNvCxnSpPr>
            <p:nvPr/>
          </p:nvCxnSpPr>
          <p:spPr bwMode="auto">
            <a:xfrm>
              <a:off x="4752" y="2022"/>
              <a:ext cx="0" cy="858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8877" name="Rectangle 45">
              <a:extLst>
                <a:ext uri="{FF2B5EF4-FFF2-40B4-BE49-F238E27FC236}">
                  <a16:creationId xmlns:a16="http://schemas.microsoft.com/office/drawing/2014/main" id="{A84EE701-AB1E-DA49-B992-598648123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736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914" name="Picture 34">
            <a:extLst>
              <a:ext uri="{FF2B5EF4-FFF2-40B4-BE49-F238E27FC236}">
                <a16:creationId xmlns:a16="http://schemas.microsoft.com/office/drawing/2014/main" id="{7ABD6ADE-F39F-B94A-A67D-3C5B5D7FA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8077200" cy="584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50913" name="Group 33">
            <a:extLst>
              <a:ext uri="{FF2B5EF4-FFF2-40B4-BE49-F238E27FC236}">
                <a16:creationId xmlns:a16="http://schemas.microsoft.com/office/drawing/2014/main" id="{EC6D9E21-7898-C146-9DE3-067DD402E29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819400"/>
            <a:ext cx="2362200" cy="3200400"/>
            <a:chOff x="288" y="1776"/>
            <a:chExt cx="1488" cy="2016"/>
          </a:xfrm>
        </p:grpSpPr>
        <p:sp>
          <p:nvSpPr>
            <p:cNvPr id="250901" name="AutoShape 21">
              <a:extLst>
                <a:ext uri="{FF2B5EF4-FFF2-40B4-BE49-F238E27FC236}">
                  <a16:creationId xmlns:a16="http://schemas.microsoft.com/office/drawing/2014/main" id="{1D64856F-F9D2-2A46-B94A-22B98DAC8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68"/>
              <a:ext cx="864" cy="624"/>
            </a:xfrm>
            <a:prstGeom prst="roundRect">
              <a:avLst>
                <a:gd name="adj" fmla="val 16667"/>
              </a:avLst>
            </a:prstGeom>
            <a:solidFill>
              <a:srgbClr val="FFDDC3"/>
            </a:solidFill>
            <a:ln w="19050">
              <a:solidFill>
                <a:srgbClr val="BD520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rIns="54000" anchor="ctr"/>
            <a:lstStyle/>
            <a:p>
              <a:pPr algn="l" eaLnBrk="0" hangingPunct="0"/>
              <a:r>
                <a:rPr lang="en-US" altLang="en-US" sz="1400">
                  <a:solidFill>
                    <a:srgbClr val="800000"/>
                  </a:solidFill>
                  <a:cs typeface="Times New Roman (Hebrew)" panose="02020603050405020304" pitchFamily="18" charset="0"/>
                </a:rPr>
                <a:t>Impact after first 10 commands are executed</a:t>
              </a:r>
            </a:p>
          </p:txBody>
        </p:sp>
        <p:cxnSp>
          <p:nvCxnSpPr>
            <p:cNvPr id="250902" name="AutoShape 22">
              <a:extLst>
                <a:ext uri="{FF2B5EF4-FFF2-40B4-BE49-F238E27FC236}">
                  <a16:creationId xmlns:a16="http://schemas.microsoft.com/office/drawing/2014/main" id="{ED495D13-EF41-5441-A6FD-4C198112A0AB}"/>
                </a:ext>
              </a:extLst>
            </p:cNvPr>
            <p:cNvCxnSpPr>
              <a:cxnSpLocks noChangeShapeType="1"/>
              <a:stCxn id="250901" idx="0"/>
              <a:endCxn id="250903" idx="2"/>
            </p:cNvCxnSpPr>
            <p:nvPr/>
          </p:nvCxnSpPr>
          <p:spPr bwMode="auto">
            <a:xfrm flipH="1" flipV="1">
              <a:off x="624" y="2832"/>
              <a:ext cx="96" cy="330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0903" name="Rectangle 23">
              <a:extLst>
                <a:ext uri="{FF2B5EF4-FFF2-40B4-BE49-F238E27FC236}">
                  <a16:creationId xmlns:a16="http://schemas.microsoft.com/office/drawing/2014/main" id="{F0BF74F0-094B-3443-B33D-A08824D03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688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cxnSp>
          <p:nvCxnSpPr>
            <p:cNvPr id="250904" name="AutoShape 24">
              <a:extLst>
                <a:ext uri="{FF2B5EF4-FFF2-40B4-BE49-F238E27FC236}">
                  <a16:creationId xmlns:a16="http://schemas.microsoft.com/office/drawing/2014/main" id="{070C16C4-905A-1D47-9AB3-B552143A9893}"/>
                </a:ext>
              </a:extLst>
            </p:cNvPr>
            <p:cNvCxnSpPr>
              <a:cxnSpLocks noChangeShapeType="1"/>
              <a:stCxn id="250901" idx="0"/>
              <a:endCxn id="250905" idx="2"/>
            </p:cNvCxnSpPr>
            <p:nvPr/>
          </p:nvCxnSpPr>
          <p:spPr bwMode="auto">
            <a:xfrm flipV="1">
              <a:off x="720" y="1920"/>
              <a:ext cx="960" cy="1242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0905" name="Rectangle 25">
              <a:extLst>
                <a:ext uri="{FF2B5EF4-FFF2-40B4-BE49-F238E27FC236}">
                  <a16:creationId xmlns:a16="http://schemas.microsoft.com/office/drawing/2014/main" id="{6CEEEF75-30DA-D142-AB9E-61A4C17D9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776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cxnSp>
          <p:nvCxnSpPr>
            <p:cNvPr id="250906" name="AutoShape 26">
              <a:extLst>
                <a:ext uri="{FF2B5EF4-FFF2-40B4-BE49-F238E27FC236}">
                  <a16:creationId xmlns:a16="http://schemas.microsoft.com/office/drawing/2014/main" id="{39764BAA-3E2D-7345-980B-7C8C36A35452}"/>
                </a:ext>
              </a:extLst>
            </p:cNvPr>
            <p:cNvCxnSpPr>
              <a:cxnSpLocks noChangeShapeType="1"/>
              <a:stCxn id="250901" idx="0"/>
              <a:endCxn id="250907" idx="2"/>
            </p:cNvCxnSpPr>
            <p:nvPr/>
          </p:nvCxnSpPr>
          <p:spPr bwMode="auto">
            <a:xfrm flipV="1">
              <a:off x="720" y="2496"/>
              <a:ext cx="960" cy="666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0907" name="Rectangle 27">
              <a:extLst>
                <a:ext uri="{FF2B5EF4-FFF2-40B4-BE49-F238E27FC236}">
                  <a16:creationId xmlns:a16="http://schemas.microsoft.com/office/drawing/2014/main" id="{DE797210-94FD-3244-8A16-AF89D1AD4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352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cxnSp>
          <p:nvCxnSpPr>
            <p:cNvPr id="250908" name="AutoShape 28">
              <a:extLst>
                <a:ext uri="{FF2B5EF4-FFF2-40B4-BE49-F238E27FC236}">
                  <a16:creationId xmlns:a16="http://schemas.microsoft.com/office/drawing/2014/main" id="{E897262E-0613-5B44-82BD-64282FF4884D}"/>
                </a:ext>
              </a:extLst>
            </p:cNvPr>
            <p:cNvCxnSpPr>
              <a:cxnSpLocks noChangeShapeType="1"/>
              <a:stCxn id="250901" idx="0"/>
              <a:endCxn id="250909" idx="2"/>
            </p:cNvCxnSpPr>
            <p:nvPr/>
          </p:nvCxnSpPr>
          <p:spPr bwMode="auto">
            <a:xfrm flipV="1">
              <a:off x="720" y="2976"/>
              <a:ext cx="960" cy="186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0909" name="Rectangle 29">
              <a:extLst>
                <a:ext uri="{FF2B5EF4-FFF2-40B4-BE49-F238E27FC236}">
                  <a16:creationId xmlns:a16="http://schemas.microsoft.com/office/drawing/2014/main" id="{D5C037AC-1323-1444-A6E6-C707BB7DA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250912" name="Rectangle 32">
            <a:extLst>
              <a:ext uri="{FF2B5EF4-FFF2-40B4-BE49-F238E27FC236}">
                <a16:creationId xmlns:a16="http://schemas.microsoft.com/office/drawing/2014/main" id="{E52CF6B1-C86B-0748-9907-F23315004E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Running the Script</a:t>
            </a:r>
          </a:p>
        </p:txBody>
      </p:sp>
      <p:sp>
        <p:nvSpPr>
          <p:cNvPr id="250915" name="AutoShape 35">
            <a:extLst>
              <a:ext uri="{FF2B5EF4-FFF2-40B4-BE49-F238E27FC236}">
                <a16:creationId xmlns:a16="http://schemas.microsoft.com/office/drawing/2014/main" id="{311545E6-2037-8047-88C1-DE661925E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381000" cy="1143000"/>
          </a:xfrm>
          <a:prstGeom prst="down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434" name="Picture 2" descr="G:\PPT Presentations\Pres Training\db Prepared Photos\monitor.jpg">
            <a:extLst>
              <a:ext uri="{FF2B5EF4-FFF2-40B4-BE49-F238E27FC236}">
                <a16:creationId xmlns:a16="http://schemas.microsoft.com/office/drawing/2014/main" id="{FC5A93E8-8E1F-F646-995E-97B68E4A3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219200"/>
            <a:ext cx="45720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4435" name="Rectangle 3">
            <a:extLst>
              <a:ext uri="{FF2B5EF4-FFF2-40B4-BE49-F238E27FC236}">
                <a16:creationId xmlns:a16="http://schemas.microsoft.com/office/drawing/2014/main" id="{770C4260-3D77-6E42-A6BF-D759C6097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438400"/>
            <a:ext cx="304800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90513" indent="-290513" algn="l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1pPr>
            <a:lvl2pPr marL="481013" algn="l">
              <a:spcBef>
                <a:spcPct val="40000"/>
              </a:spcBef>
              <a:buClr>
                <a:srgbClr val="00007A"/>
              </a:buClr>
              <a:buSzPct val="125000"/>
              <a:buChar char="•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2pPr>
            <a:lvl3pPr algn="l">
              <a:spcBef>
                <a:spcPct val="40000"/>
              </a:spcBef>
              <a:buClr>
                <a:srgbClr val="A50021"/>
              </a:buClr>
              <a:buSzPct val="110000"/>
              <a:buChar char="•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3pPr>
            <a:lvl4pPr algn="l">
              <a:spcBef>
                <a:spcPct val="40000"/>
              </a:spcBef>
              <a:buChar char="–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4pPr>
            <a:lvl5pPr algn="l">
              <a:spcBef>
                <a:spcPct val="40000"/>
              </a:spcBef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5pPr>
            <a:lvl6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6pPr>
            <a:lvl7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7pPr>
            <a:lvl8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8pPr>
            <a:lvl9pPr fontAlgn="base">
              <a:spcBef>
                <a:spcPct val="40000"/>
              </a:spcBef>
              <a:spcAft>
                <a:spcPct val="0"/>
              </a:spcAft>
              <a:buChar char="»"/>
              <a:tabLst>
                <a:tab pos="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Times New Roman (Hebrew)" panose="02020603050405020304" pitchFamily="18" charset="0"/>
              </a:defRPr>
            </a:lvl9pPr>
          </a:lstStyle>
          <a:p>
            <a:pPr algn="ctr">
              <a:spcBef>
                <a:spcPct val="60000"/>
              </a:spcBef>
              <a:buFont typeface="Wingdings" pitchFamily="2" charset="2"/>
              <a:buNone/>
            </a:pPr>
            <a:r>
              <a:rPr lang="en-US" altLang="he-IL" sz="2400" b="1" u="sng">
                <a:solidFill>
                  <a:srgbClr val="000066"/>
                </a:solidFill>
              </a:rPr>
              <a:t>Part III:</a:t>
            </a:r>
          </a:p>
          <a:p>
            <a:pPr algn="ctr">
              <a:spcBef>
                <a:spcPct val="60000"/>
              </a:spcBef>
              <a:buFont typeface="Wingdings" pitchFamily="2" charset="2"/>
              <a:buNone/>
            </a:pPr>
            <a:r>
              <a:rPr lang="en-US" altLang="he-IL" sz="2400" b="1">
                <a:solidFill>
                  <a:srgbClr val="000066"/>
                </a:solidFill>
              </a:rPr>
              <a:t>Debugging</a:t>
            </a:r>
          </a:p>
        </p:txBody>
      </p:sp>
      <p:sp>
        <p:nvSpPr>
          <p:cNvPr id="274436" name="Rectangle 4">
            <a:extLst>
              <a:ext uri="{FF2B5EF4-FFF2-40B4-BE49-F238E27FC236}">
                <a16:creationId xmlns:a16="http://schemas.microsoft.com/office/drawing/2014/main" id="{08E96FFC-7621-8F48-88E1-697DE8AA66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VM Emulator Tutorial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458" name="Picture 2">
            <a:extLst>
              <a:ext uri="{FF2B5EF4-FFF2-40B4-BE49-F238E27FC236}">
                <a16:creationId xmlns:a16="http://schemas.microsoft.com/office/drawing/2014/main" id="{3C053C2D-E555-D24B-8B8C-F61072155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"/>
          <a:stretch>
            <a:fillRect/>
          </a:stretch>
        </p:blipFill>
        <p:spPr bwMode="auto">
          <a:xfrm>
            <a:off x="457200" y="685800"/>
            <a:ext cx="8153400" cy="586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5459" name="Rectangle 3">
            <a:extLst>
              <a:ext uri="{FF2B5EF4-FFF2-40B4-BE49-F238E27FC236}">
                <a16:creationId xmlns:a16="http://schemas.microsoft.com/office/drawing/2014/main" id="{B7DDBB3E-454F-254E-892A-0622DE097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View Options</a:t>
            </a:r>
          </a:p>
        </p:txBody>
      </p:sp>
      <p:sp>
        <p:nvSpPr>
          <p:cNvPr id="275460" name="AutoShape 4">
            <a:extLst>
              <a:ext uri="{FF2B5EF4-FFF2-40B4-BE49-F238E27FC236}">
                <a16:creationId xmlns:a16="http://schemas.microsoft.com/office/drawing/2014/main" id="{D53586C7-266C-7B4E-AD77-B8C0072C4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048000"/>
            <a:ext cx="4114800" cy="1676400"/>
          </a:xfrm>
          <a:prstGeom prst="wedgeRoundRectCallout">
            <a:avLst>
              <a:gd name="adj1" fmla="val -37037"/>
              <a:gd name="adj2" fmla="val -141194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18800" rIns="0"/>
          <a:lstStyle/>
          <a:p>
            <a:pPr algn="l"/>
            <a:r>
              <a:rPr lang="en-US" altLang="en-US" sz="1400" u="sng">
                <a:solidFill>
                  <a:srgbClr val="00007A"/>
                </a:solidFill>
              </a:rPr>
              <a:t>View options:</a:t>
            </a:r>
          </a:p>
          <a:p>
            <a:pPr algn="l">
              <a:spcBef>
                <a:spcPct val="25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Script:</a:t>
            </a:r>
            <a:r>
              <a:rPr lang="en-US" altLang="en-US" sz="1400">
                <a:solidFill>
                  <a:schemeClr val="tx1"/>
                </a:solidFill>
              </a:rPr>
              <a:t>   displays the loaded script;</a:t>
            </a:r>
          </a:p>
          <a:p>
            <a:pPr algn="l">
              <a:spcBef>
                <a:spcPct val="25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400">
                <a:solidFill>
                  <a:schemeClr val="tx1"/>
                </a:solidFill>
              </a:rPr>
              <a:t>  </a:t>
            </a:r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  <a:r>
              <a:rPr lang="en-US" altLang="en-US" sz="1400">
                <a:solidFill>
                  <a:schemeClr val="tx1"/>
                </a:solidFill>
              </a:rPr>
              <a:t>   displays the generated output file;</a:t>
            </a:r>
          </a:p>
          <a:p>
            <a:pPr algn="l">
              <a:spcBef>
                <a:spcPct val="25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400" b="1">
                <a:solidFill>
                  <a:schemeClr val="tx1"/>
                </a:solidFill>
              </a:rPr>
              <a:t>  </a:t>
            </a:r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Compare:</a:t>
            </a:r>
            <a:r>
              <a:rPr lang="en-US" altLang="en-US" sz="1400">
                <a:solidFill>
                  <a:schemeClr val="tx1"/>
                </a:solidFill>
              </a:rPr>
              <a:t> displays the given comparison file;</a:t>
            </a:r>
          </a:p>
          <a:p>
            <a:pPr algn="l">
              <a:spcBef>
                <a:spcPct val="25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400" b="1">
                <a:solidFill>
                  <a:schemeClr val="tx1"/>
                </a:solidFill>
              </a:rPr>
              <a:t>  </a:t>
            </a:r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Screen:</a:t>
            </a:r>
            <a:r>
              <a:rPr lang="en-US" altLang="en-US" sz="1400">
                <a:solidFill>
                  <a:schemeClr val="tx1"/>
                </a:solidFill>
              </a:rPr>
              <a:t>   displays the simulated screen.</a:t>
            </a:r>
          </a:p>
        </p:txBody>
      </p:sp>
      <p:sp>
        <p:nvSpPr>
          <p:cNvPr id="275461" name="AutoShape 5">
            <a:extLst>
              <a:ext uri="{FF2B5EF4-FFF2-40B4-BE49-F238E27FC236}">
                <a16:creationId xmlns:a16="http://schemas.microsoft.com/office/drawing/2014/main" id="{BE7DF50A-A417-974F-BD65-C0C3B74E3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572000"/>
            <a:ext cx="2971800" cy="914400"/>
          </a:xfrm>
          <a:prstGeom prst="wedgeRoundRectCallout">
            <a:avLst>
              <a:gd name="adj1" fmla="val -18111"/>
              <a:gd name="adj2" fmla="val 141319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>
              <a:spcBef>
                <a:spcPct val="25000"/>
              </a:spcBef>
              <a:buClr>
                <a:srgbClr val="006600"/>
              </a:buClr>
              <a:buFont typeface="Wingdings" pitchFamily="2" charset="2"/>
              <a:buNone/>
            </a:pPr>
            <a:r>
              <a:rPr lang="en-US" altLang="en-US" sz="1400">
                <a:solidFill>
                  <a:schemeClr val="tx1"/>
                </a:solidFill>
              </a:rPr>
              <a:t>When the script terminates, the comparison of the script output and the compare file is reported.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0" grpId="0" animBg="1" autoUpdateAnimBg="0"/>
      <p:bldP spid="275461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82" name="Picture 2">
            <a:extLst>
              <a:ext uri="{FF2B5EF4-FFF2-40B4-BE49-F238E27FC236}">
                <a16:creationId xmlns:a16="http://schemas.microsoft.com/office/drawing/2014/main" id="{B66A793E-236B-754D-A6C8-3B5F73C4B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"/>
          <a:stretch>
            <a:fillRect/>
          </a:stretch>
        </p:blipFill>
        <p:spPr bwMode="auto">
          <a:xfrm>
            <a:off x="457200" y="685800"/>
            <a:ext cx="8153400" cy="586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483" name="Rectangle 3">
            <a:extLst>
              <a:ext uri="{FF2B5EF4-FFF2-40B4-BE49-F238E27FC236}">
                <a16:creationId xmlns:a16="http://schemas.microsoft.com/office/drawing/2014/main" id="{FAD81437-E534-5F41-A862-590995DACA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Animation Options</a:t>
            </a:r>
          </a:p>
        </p:txBody>
      </p:sp>
      <p:sp>
        <p:nvSpPr>
          <p:cNvPr id="276484" name="AutoShape 4">
            <a:extLst>
              <a:ext uri="{FF2B5EF4-FFF2-40B4-BE49-F238E27FC236}">
                <a16:creationId xmlns:a16="http://schemas.microsoft.com/office/drawing/2014/main" id="{B5CC1E9F-C360-F943-93F0-7DA392685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048000"/>
            <a:ext cx="4419600" cy="2286000"/>
          </a:xfrm>
          <a:prstGeom prst="wedgeRoundRectCallout">
            <a:avLst>
              <a:gd name="adj1" fmla="val -45259"/>
              <a:gd name="adj2" fmla="val -116806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88925" indent="-187325" algn="r" rtl="1"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479425" algn="r" rtl="1"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algn="r" rtl="1"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algn="r" rtl="1"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algn="r" rtl="1"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algn="r" rtl="1" fontAlgn="base">
              <a:spcBef>
                <a:spcPct val="0"/>
              </a:spcBef>
              <a:spcAft>
                <a:spcPct val="0"/>
              </a:spcAft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algn="r" rtl="1" fontAlgn="base">
              <a:spcBef>
                <a:spcPct val="0"/>
              </a:spcBef>
              <a:spcAft>
                <a:spcPct val="0"/>
              </a:spcAft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algn="r" rtl="1" fontAlgn="base">
              <a:spcBef>
                <a:spcPct val="0"/>
              </a:spcBef>
              <a:spcAft>
                <a:spcPct val="0"/>
              </a:spcAft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algn="r" rtl="1" fontAlgn="base">
              <a:spcBef>
                <a:spcPct val="0"/>
              </a:spcBef>
              <a:spcAft>
                <a:spcPct val="0"/>
              </a:spcAft>
              <a:tabLst>
                <a:tab pos="2905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/>
            <a:r>
              <a:rPr lang="en-US" altLang="en-US" sz="1400" u="sng">
                <a:solidFill>
                  <a:srgbClr val="0000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Animation control:</a:t>
            </a:r>
          </a:p>
          <a:p>
            <a:pPr algn="l" rtl="0">
              <a:spcBef>
                <a:spcPct val="25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Program flow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(default): highlights the next VM command to be executed;</a:t>
            </a:r>
          </a:p>
          <a:p>
            <a:pPr algn="l" rtl="0">
              <a:spcBef>
                <a:spcPct val="25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flow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highlights the next VM command and animates data flow;</a:t>
            </a:r>
          </a:p>
          <a:p>
            <a:pPr algn="l" rtl="0">
              <a:spcBef>
                <a:spcPct val="25000"/>
              </a:spcBef>
              <a:buClr>
                <a:srgbClr val="006600"/>
              </a:buClr>
              <a:buFont typeface="Wingdings" pitchFamily="2" charset="2"/>
              <a:buChar char="§"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animation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disables all animation</a:t>
            </a:r>
          </a:p>
          <a:p>
            <a:pPr algn="l" rtl="0">
              <a:spcBef>
                <a:spcPct val="25000"/>
              </a:spcBef>
              <a:buClr>
                <a:srgbClr val="006600"/>
              </a:buClr>
              <a:buFont typeface="Wingdings" pitchFamily="2" charset="2"/>
              <a:buNone/>
            </a:pPr>
            <a:r>
              <a:rPr lang="en-US" altLang="en-US" sz="1400" b="1" u="sng">
                <a:solidFill>
                  <a:srgbClr val="00007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Usage tip: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To execute any non-trivial program </a:t>
            </a:r>
            <a:r>
              <a:rPr lang="en-US" altLang="en-US" sz="1400" i="1">
                <a:latin typeface="Arial" panose="020B0604020202020204" pitchFamily="34" charset="0"/>
                <a:cs typeface="Arial" panose="020B0604020202020204" pitchFamily="34" charset="0"/>
              </a:rPr>
              <a:t>quickly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, select </a:t>
            </a:r>
            <a:r>
              <a:rPr lang="en-US" altLang="en-US" sz="1400" i="1">
                <a:latin typeface="Arial" panose="020B0604020202020204" pitchFamily="34" charset="0"/>
                <a:cs typeface="Arial" panose="020B0604020202020204" pitchFamily="34" charset="0"/>
              </a:rPr>
              <a:t>no animation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76493" name="AutoShape 13">
            <a:extLst>
              <a:ext uri="{FF2B5EF4-FFF2-40B4-BE49-F238E27FC236}">
                <a16:creationId xmlns:a16="http://schemas.microsoft.com/office/drawing/2014/main" id="{B2E98513-09F3-B74B-801D-28E1A37D4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133600"/>
            <a:ext cx="1828800" cy="914400"/>
          </a:xfrm>
          <a:prstGeom prst="wedgeRoundRectCallout">
            <a:avLst>
              <a:gd name="adj1" fmla="val 28037"/>
              <a:gd name="adj2" fmla="val -128648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18000"/>
          <a:lstStyle/>
          <a:p>
            <a:pPr algn="l">
              <a:spcAft>
                <a:spcPct val="30000"/>
              </a:spcAft>
            </a:pPr>
            <a:r>
              <a:rPr lang="en-US" altLang="en-US" sz="1400" u="sng">
                <a:solidFill>
                  <a:srgbClr val="00007A"/>
                </a:solidFill>
              </a:rPr>
              <a:t>Speed control</a:t>
            </a:r>
          </a:p>
          <a:p>
            <a:pPr algn="l"/>
            <a:r>
              <a:rPr lang="en-US" altLang="en-US" sz="1400">
                <a:solidFill>
                  <a:schemeClr val="tx1"/>
                </a:solidFill>
              </a:rPr>
              <a:t>(of both execution and animation)</a:t>
            </a:r>
          </a:p>
        </p:txBody>
      </p:sp>
      <p:grpSp>
        <p:nvGrpSpPr>
          <p:cNvPr id="276498" name="Group 18">
            <a:extLst>
              <a:ext uri="{FF2B5EF4-FFF2-40B4-BE49-F238E27FC236}">
                <a16:creationId xmlns:a16="http://schemas.microsoft.com/office/drawing/2014/main" id="{F0EEF29F-4AC5-694F-B331-F552C7E76A1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276600"/>
            <a:ext cx="3733800" cy="2667000"/>
            <a:chOff x="288" y="2064"/>
            <a:chExt cx="2352" cy="1680"/>
          </a:xfrm>
        </p:grpSpPr>
        <p:grpSp>
          <p:nvGrpSpPr>
            <p:cNvPr id="276497" name="Group 17">
              <a:extLst>
                <a:ext uri="{FF2B5EF4-FFF2-40B4-BE49-F238E27FC236}">
                  <a16:creationId xmlns:a16="http://schemas.microsoft.com/office/drawing/2014/main" id="{2CA73950-E248-EC42-ADAC-454F7D7C7E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6" y="2304"/>
              <a:ext cx="1738" cy="1440"/>
              <a:chOff x="806" y="2304"/>
              <a:chExt cx="1738" cy="1440"/>
            </a:xfrm>
          </p:grpSpPr>
          <p:sp>
            <p:nvSpPr>
              <p:cNvPr id="276486" name="AutoShape 6">
                <a:extLst>
                  <a:ext uri="{FF2B5EF4-FFF2-40B4-BE49-F238E27FC236}">
                    <a16:creationId xmlns:a16="http://schemas.microsoft.com/office/drawing/2014/main" id="{C7A82076-E2AB-F242-A57A-67DDF9079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3216"/>
                <a:ext cx="1680" cy="528"/>
              </a:xfrm>
              <a:prstGeom prst="roundRect">
                <a:avLst>
                  <a:gd name="adj" fmla="val 16667"/>
                </a:avLst>
              </a:prstGeom>
              <a:solidFill>
                <a:srgbClr val="FFDDC3"/>
              </a:solidFill>
              <a:ln w="19050">
                <a:solidFill>
                  <a:srgbClr val="BD520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rIns="90000" anchor="ctr"/>
              <a:lstStyle/>
              <a:p>
                <a:pPr algn="l" eaLnBrk="0" hangingPunct="0"/>
                <a:r>
                  <a:rPr lang="en-US" altLang="en-US" sz="1400">
                    <a:solidFill>
                      <a:srgbClr val="800000"/>
                    </a:solidFill>
                    <a:cs typeface="Times New Roman (Hebrew)" panose="02020603050405020304" pitchFamily="18" charset="0"/>
                  </a:rPr>
                  <a:t>data flow animation related to the last VM command (in this example: </a:t>
                </a:r>
                <a:r>
                  <a:rPr lang="en-US" altLang="en-US" sz="1200" b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push argument</a:t>
                </a:r>
                <a:r>
                  <a:rPr lang="en-US" altLang="en-US" sz="1400">
                    <a:solidFill>
                      <a:srgbClr val="800000"/>
                    </a:solidFill>
                    <a:cs typeface="Courier New" panose="02070309020205020404" pitchFamily="49" charset="0"/>
                  </a:rPr>
                  <a:t> </a:t>
                </a:r>
                <a:r>
                  <a:rPr lang="en-US" altLang="en-US" sz="1200" b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0</a:t>
                </a:r>
                <a:r>
                  <a:rPr lang="en-US" altLang="en-US" sz="1400">
                    <a:solidFill>
                      <a:srgbClr val="800000"/>
                    </a:solidFill>
                    <a:cs typeface="Courier New" panose="02070309020205020404" pitchFamily="49" charset="0"/>
                  </a:rPr>
                  <a:t>)</a:t>
                </a:r>
              </a:p>
            </p:txBody>
          </p:sp>
          <p:cxnSp>
            <p:nvCxnSpPr>
              <p:cNvPr id="276487" name="AutoShape 7">
                <a:extLst>
                  <a:ext uri="{FF2B5EF4-FFF2-40B4-BE49-F238E27FC236}">
                    <a16:creationId xmlns:a16="http://schemas.microsoft.com/office/drawing/2014/main" id="{D0FB90CC-8B8E-9744-8990-13BD65ACE708}"/>
                  </a:ext>
                </a:extLst>
              </p:cNvPr>
              <p:cNvCxnSpPr>
                <a:cxnSpLocks noChangeShapeType="1"/>
                <a:stCxn id="276486" idx="0"/>
                <a:endCxn id="276488" idx="2"/>
              </p:cNvCxnSpPr>
              <p:nvPr/>
            </p:nvCxnSpPr>
            <p:spPr bwMode="auto">
              <a:xfrm flipH="1" flipV="1">
                <a:off x="907" y="2784"/>
                <a:ext cx="749" cy="426"/>
              </a:xfrm>
              <a:prstGeom prst="straightConnector1">
                <a:avLst/>
              </a:prstGeom>
              <a:noFill/>
              <a:ln w="31750">
                <a:solidFill>
                  <a:srgbClr val="BD5201"/>
                </a:solidFill>
                <a:round/>
                <a:headEnd/>
                <a:tailEnd type="oval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76488" name="Rectangle 8">
                <a:extLst>
                  <a:ext uri="{FF2B5EF4-FFF2-40B4-BE49-F238E27FC236}">
                    <a16:creationId xmlns:a16="http://schemas.microsoft.com/office/drawing/2014/main" id="{9ECFC60A-748F-6040-9849-34C2680DA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" y="2640"/>
                <a:ext cx="20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cxnSp>
            <p:nvCxnSpPr>
              <p:cNvPr id="276489" name="AutoShape 9">
                <a:extLst>
                  <a:ext uri="{FF2B5EF4-FFF2-40B4-BE49-F238E27FC236}">
                    <a16:creationId xmlns:a16="http://schemas.microsoft.com/office/drawing/2014/main" id="{2AB5AE6E-599A-794B-A224-23EC6D61D995}"/>
                  </a:ext>
                </a:extLst>
              </p:cNvPr>
              <p:cNvCxnSpPr>
                <a:cxnSpLocks noChangeShapeType="1"/>
                <a:stCxn id="276486" idx="0"/>
                <a:endCxn id="276490" idx="2"/>
              </p:cNvCxnSpPr>
              <p:nvPr/>
            </p:nvCxnSpPr>
            <p:spPr bwMode="auto">
              <a:xfrm flipH="1" flipV="1">
                <a:off x="1579" y="2640"/>
                <a:ext cx="77" cy="570"/>
              </a:xfrm>
              <a:prstGeom prst="straightConnector1">
                <a:avLst/>
              </a:prstGeom>
              <a:noFill/>
              <a:ln w="31750">
                <a:solidFill>
                  <a:srgbClr val="BD5201"/>
                </a:solidFill>
                <a:round/>
                <a:headEnd/>
                <a:tailEnd type="oval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76490" name="Rectangle 10">
                <a:extLst>
                  <a:ext uri="{FF2B5EF4-FFF2-40B4-BE49-F238E27FC236}">
                    <a16:creationId xmlns:a16="http://schemas.microsoft.com/office/drawing/2014/main" id="{8E5FFE97-102C-044C-B9FE-763CE9463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8" y="2496"/>
                <a:ext cx="20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cxnSp>
            <p:nvCxnSpPr>
              <p:cNvPr id="276491" name="AutoShape 11">
                <a:extLst>
                  <a:ext uri="{FF2B5EF4-FFF2-40B4-BE49-F238E27FC236}">
                    <a16:creationId xmlns:a16="http://schemas.microsoft.com/office/drawing/2014/main" id="{387F6BD6-0620-8248-8BF6-5919DC0B0366}"/>
                  </a:ext>
                </a:extLst>
              </p:cNvPr>
              <p:cNvCxnSpPr>
                <a:cxnSpLocks noChangeShapeType="1"/>
                <a:stCxn id="276486" idx="0"/>
                <a:endCxn id="276492" idx="2"/>
              </p:cNvCxnSpPr>
              <p:nvPr/>
            </p:nvCxnSpPr>
            <p:spPr bwMode="auto">
              <a:xfrm flipV="1">
                <a:off x="1656" y="2448"/>
                <a:ext cx="787" cy="762"/>
              </a:xfrm>
              <a:prstGeom prst="straightConnector1">
                <a:avLst/>
              </a:prstGeom>
              <a:noFill/>
              <a:ln w="31750">
                <a:solidFill>
                  <a:srgbClr val="BD5201"/>
                </a:solidFill>
                <a:round/>
                <a:headEnd/>
                <a:tailEnd type="oval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76492" name="Rectangle 12">
                <a:extLst>
                  <a:ext uri="{FF2B5EF4-FFF2-40B4-BE49-F238E27FC236}">
                    <a16:creationId xmlns:a16="http://schemas.microsoft.com/office/drawing/2014/main" id="{213697FF-C78B-E645-8A79-7BA457A81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2" y="2304"/>
                <a:ext cx="20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sp>
          <p:nvSpPr>
            <p:cNvPr id="276494" name="AutoShape 14">
              <a:extLst>
                <a:ext uri="{FF2B5EF4-FFF2-40B4-BE49-F238E27FC236}">
                  <a16:creationId xmlns:a16="http://schemas.microsoft.com/office/drawing/2014/main" id="{9C4D3388-8418-9B4C-8F86-2B5423AAF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064"/>
              <a:ext cx="432" cy="192"/>
            </a:xfrm>
            <a:prstGeom prst="roundRect">
              <a:avLst>
                <a:gd name="adj" fmla="val 16667"/>
              </a:avLst>
            </a:prstGeom>
            <a:solidFill>
              <a:srgbClr val="FFDDC3"/>
            </a:solidFill>
            <a:ln w="19050">
              <a:solidFill>
                <a:srgbClr val="BD520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rIns="54000" anchor="ctr"/>
            <a:lstStyle/>
            <a:p>
              <a:pPr algn="l" eaLnBrk="0" hangingPunct="0"/>
              <a:r>
                <a:rPr lang="en-US" altLang="en-US" sz="1400">
                  <a:solidFill>
                    <a:srgbClr val="00007A"/>
                  </a:solidFill>
                  <a:cs typeface="Times New Roman (Hebrew)" panose="02020603050405020304" pitchFamily="18" charset="0"/>
                </a:rPr>
                <a:t>source</a:t>
              </a:r>
            </a:p>
          </p:txBody>
        </p:sp>
        <p:sp>
          <p:nvSpPr>
            <p:cNvPr id="276495" name="AutoShape 15">
              <a:extLst>
                <a:ext uri="{FF2B5EF4-FFF2-40B4-BE49-F238E27FC236}">
                  <a16:creationId xmlns:a16="http://schemas.microsoft.com/office/drawing/2014/main" id="{B3BF53C5-5E6E-574B-ADF8-B370FA28A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08"/>
              <a:ext cx="432" cy="192"/>
            </a:xfrm>
            <a:prstGeom prst="roundRect">
              <a:avLst>
                <a:gd name="adj" fmla="val 16667"/>
              </a:avLst>
            </a:prstGeom>
            <a:solidFill>
              <a:srgbClr val="FFDDC3"/>
            </a:solidFill>
            <a:ln w="19050">
              <a:solidFill>
                <a:srgbClr val="BD520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rIns="54000" anchor="ctr"/>
            <a:lstStyle/>
            <a:p>
              <a:pPr algn="l" eaLnBrk="0" hangingPunct="0"/>
              <a:r>
                <a:rPr lang="en-US" altLang="en-US" sz="1400">
                  <a:solidFill>
                    <a:srgbClr val="00007A"/>
                  </a:solidFill>
                  <a:cs typeface="Times New Roman (Hebrew)" panose="02020603050405020304" pitchFamily="18" charset="0"/>
                </a:rPr>
                <a:t>transit</a:t>
              </a:r>
            </a:p>
          </p:txBody>
        </p:sp>
        <p:sp>
          <p:nvSpPr>
            <p:cNvPr id="276496" name="AutoShape 16">
              <a:extLst>
                <a:ext uri="{FF2B5EF4-FFF2-40B4-BE49-F238E27FC236}">
                  <a16:creationId xmlns:a16="http://schemas.microsoft.com/office/drawing/2014/main" id="{7D80995E-2C2F-FF49-AB3A-DE1051E1A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736"/>
              <a:ext cx="432" cy="192"/>
            </a:xfrm>
            <a:prstGeom prst="roundRect">
              <a:avLst>
                <a:gd name="adj" fmla="val 16667"/>
              </a:avLst>
            </a:prstGeom>
            <a:solidFill>
              <a:srgbClr val="FFDDC3"/>
            </a:solidFill>
            <a:ln w="19050">
              <a:solidFill>
                <a:srgbClr val="BD520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rIns="54000" anchor="ctr"/>
            <a:lstStyle/>
            <a:p>
              <a:pPr algn="l" eaLnBrk="0" hangingPunct="0"/>
              <a:r>
                <a:rPr lang="en-US" altLang="en-US" sz="1400">
                  <a:solidFill>
                    <a:srgbClr val="00007A"/>
                  </a:solidFill>
                  <a:cs typeface="Times New Roman (Hebrew)" panose="02020603050405020304" pitchFamily="18" charset="0"/>
                </a:rPr>
                <a:t>destn.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4" grpId="0" animBg="1" autoUpdateAnimBg="0"/>
      <p:bldP spid="276493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B9993124-265B-DE40-9870-18EFE2C6B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Breakpoints: a Powerful Debugging Tool</a:t>
            </a:r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FF5188B5-9468-CC46-90C3-9CB4DA395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0"/>
            <a:ext cx="83820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anchorCtr="1"/>
          <a:lstStyle>
            <a:lvl1pPr marL="342900" indent="-3429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742950" indent="-28575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marL="1143000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marL="1600200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marL="2057400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None/>
            </a:pPr>
            <a:r>
              <a:rPr lang="en-US" altLang="en-US" sz="2000" u="sng">
                <a:latin typeface="Arial" panose="020B0604020202020204" pitchFamily="34" charset="0"/>
              </a:rPr>
              <a:t>The VM emulator keeps track of the following variables:</a:t>
            </a:r>
          </a:p>
          <a:p>
            <a:pPr algn="l" rtl="0">
              <a:spcBef>
                <a:spcPct val="75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r>
              <a:rPr lang="en-US" altLang="en-US" sz="1600" b="1">
                <a:solidFill>
                  <a:srgbClr val="0000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segment[i]</a:t>
            </a:r>
            <a:r>
              <a:rPr lang="en-US" altLang="en-US" sz="1600">
                <a:latin typeface="Arial" panose="020B0604020202020204" pitchFamily="34" charset="0"/>
              </a:rPr>
              <a:t>:  Where segment is either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local</a:t>
            </a:r>
            <a:r>
              <a:rPr lang="en-US" altLang="en-US" sz="1600">
                <a:latin typeface="Arial" panose="020B0604020202020204" pitchFamily="34" charset="0"/>
              </a:rPr>
              <a:t>,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argument</a:t>
            </a:r>
            <a:r>
              <a:rPr lang="en-US" altLang="en-US" sz="1600">
                <a:latin typeface="Arial" panose="020B0604020202020204" pitchFamily="34" charset="0"/>
              </a:rPr>
              <a:t>,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>
                <a:latin typeface="Arial" panose="020B0604020202020204" pitchFamily="34" charset="0"/>
              </a:rPr>
              <a:t>,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en-US" altLang="en-US" sz="1600">
                <a:latin typeface="Arial" panose="020B0604020202020204" pitchFamily="34" charset="0"/>
              </a:rPr>
              <a:t>, or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</a:p>
          <a:p>
            <a:pPr algn="l" rtl="0">
              <a:spcBef>
                <a:spcPct val="75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r>
              <a:rPr lang="en-US" altLang="en-US" sz="1600" b="1">
                <a:solidFill>
                  <a:srgbClr val="0000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</a:t>
            </a:r>
            <a:r>
              <a:rPr lang="en-US" altLang="en-US" sz="1600">
                <a:latin typeface="Arial" panose="020B0604020202020204" pitchFamily="34" charset="0"/>
              </a:rPr>
              <a:t>, </a:t>
            </a:r>
            <a:r>
              <a:rPr lang="en-US" altLang="en-US" sz="1600" b="1">
                <a:solidFill>
                  <a:srgbClr val="0000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argument</a:t>
            </a:r>
            <a:r>
              <a:rPr lang="en-US" altLang="en-US" sz="1600">
                <a:latin typeface="Arial" panose="020B0604020202020204" pitchFamily="34" charset="0"/>
              </a:rPr>
              <a:t>, </a:t>
            </a:r>
            <a:r>
              <a:rPr lang="en-US" altLang="en-US" sz="1600" b="1">
                <a:solidFill>
                  <a:srgbClr val="0000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>
                <a:latin typeface="Arial" panose="020B0604020202020204" pitchFamily="34" charset="0"/>
              </a:rPr>
              <a:t>, </a:t>
            </a:r>
            <a:r>
              <a:rPr lang="en-US" altLang="en-US" sz="1600" b="1">
                <a:solidFill>
                  <a:srgbClr val="0000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en-US" altLang="en-US" sz="1600">
                <a:latin typeface="Arial" panose="020B0604020202020204" pitchFamily="34" charset="0"/>
              </a:rPr>
              <a:t>: Base addresses of these segments in the host RAM</a:t>
            </a:r>
          </a:p>
          <a:p>
            <a:pPr algn="l" rtl="0">
              <a:spcBef>
                <a:spcPct val="75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r>
              <a:rPr lang="en-US" altLang="en-US" sz="1600" b="1">
                <a:solidFill>
                  <a:srgbClr val="0000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RAM[i]</a:t>
            </a:r>
            <a:r>
              <a:rPr lang="en-US" altLang="en-US" sz="1600">
                <a:latin typeface="Arial" panose="020B0604020202020204" pitchFamily="34" charset="0"/>
              </a:rPr>
              <a:t>:  Value of this memory location in the host RAM</a:t>
            </a:r>
          </a:p>
          <a:p>
            <a:pPr algn="l" rtl="0">
              <a:spcBef>
                <a:spcPct val="75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r>
              <a:rPr lang="en-US" altLang="en-US" sz="1600" b="1">
                <a:solidFill>
                  <a:srgbClr val="0000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altLang="en-US" sz="1600">
                <a:latin typeface="Arial" panose="020B0604020202020204" pitchFamily="34" charset="0"/>
              </a:rPr>
              <a:t>: Stack pointer</a:t>
            </a:r>
          </a:p>
          <a:p>
            <a:pPr algn="l" rtl="0">
              <a:spcBef>
                <a:spcPct val="75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r>
              <a:rPr lang="en-US" altLang="en-US" sz="1600" b="1">
                <a:solidFill>
                  <a:srgbClr val="0000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currentFunction</a:t>
            </a:r>
            <a:r>
              <a:rPr lang="en-US" altLang="en-US" sz="1600">
                <a:latin typeface="Arial" panose="020B0604020202020204" pitchFamily="34" charset="0"/>
              </a:rPr>
              <a:t>: Full name (inc. fileName) of the currently executing VM function</a:t>
            </a:r>
          </a:p>
          <a:p>
            <a:pPr algn="l" rtl="0">
              <a:spcBef>
                <a:spcPct val="75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r>
              <a:rPr lang="en-US" altLang="en-US" sz="1600" b="1">
                <a:solidFill>
                  <a:srgbClr val="0000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</a:t>
            </a:r>
            <a:r>
              <a:rPr lang="en-US" altLang="en-US" sz="1600">
                <a:latin typeface="Arial" panose="020B0604020202020204" pitchFamily="34" charset="0"/>
              </a:rPr>
              <a:t>:  Line number of the currently executing VM command</a:t>
            </a:r>
          </a:p>
          <a:p>
            <a:pPr algn="l" rtl="0">
              <a:spcBef>
                <a:spcPct val="100000"/>
              </a:spcBef>
              <a:buClr>
                <a:srgbClr val="006600"/>
              </a:buClr>
              <a:buSzPct val="110000"/>
              <a:buFont typeface="Wingdings" pitchFamily="2" charset="2"/>
              <a:buNone/>
            </a:pPr>
            <a:r>
              <a:rPr lang="en-US" altLang="en-US" sz="2000" u="sng">
                <a:latin typeface="Arial" panose="020B0604020202020204" pitchFamily="34" charset="0"/>
              </a:rPr>
              <a:t>Breakpoints:</a:t>
            </a:r>
          </a:p>
          <a:p>
            <a:pPr algn="l" rtl="0">
              <a:spcBef>
                <a:spcPct val="75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r>
              <a:rPr lang="en-US" altLang="en-US" sz="1600">
                <a:latin typeface="Arial" panose="020B0604020202020204" pitchFamily="34" charset="0"/>
              </a:rPr>
              <a:t>A breakpoint is a pair &lt;</a:t>
            </a:r>
            <a:r>
              <a:rPr lang="en-US" altLang="en-US" sz="1600" i="1">
                <a:latin typeface="Arial" panose="020B0604020202020204" pitchFamily="34" charset="0"/>
              </a:rPr>
              <a:t>variable</a:t>
            </a:r>
            <a:r>
              <a:rPr lang="en-US" altLang="en-US" sz="1600">
                <a:latin typeface="Arial" panose="020B0604020202020204" pitchFamily="34" charset="0"/>
              </a:rPr>
              <a:t>, </a:t>
            </a:r>
            <a:r>
              <a:rPr lang="en-US" altLang="en-US" sz="1600" i="1">
                <a:latin typeface="Arial" panose="020B0604020202020204" pitchFamily="34" charset="0"/>
              </a:rPr>
              <a:t>value</a:t>
            </a:r>
            <a:r>
              <a:rPr lang="en-US" altLang="en-US" sz="1600">
                <a:latin typeface="Arial" panose="020B0604020202020204" pitchFamily="34" charset="0"/>
              </a:rPr>
              <a:t>&gt; where </a:t>
            </a:r>
            <a:r>
              <a:rPr lang="en-US" altLang="en-US" sz="1600" i="1">
                <a:latin typeface="Arial" panose="020B0604020202020204" pitchFamily="34" charset="0"/>
              </a:rPr>
              <a:t>variable</a:t>
            </a:r>
            <a:r>
              <a:rPr lang="en-US" altLang="en-US" sz="1600">
                <a:latin typeface="Arial" panose="020B0604020202020204" pitchFamily="34" charset="0"/>
              </a:rPr>
              <a:t> is one of the labels listed above (e.g.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local[5]</a:t>
            </a:r>
            <a:r>
              <a:rPr lang="en-US" altLang="en-US" sz="1600">
                <a:latin typeface="Arial" panose="020B0604020202020204" pitchFamily="34" charset="0"/>
              </a:rPr>
              <a:t>,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argument</a:t>
            </a:r>
            <a:r>
              <a:rPr lang="en-US" altLang="en-US" sz="1600">
                <a:latin typeface="Arial" panose="020B0604020202020204" pitchFamily="34" charset="0"/>
              </a:rPr>
              <a:t>,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line</a:t>
            </a:r>
            <a:r>
              <a:rPr lang="en-US" altLang="en-US" sz="1600">
                <a:latin typeface="Arial" panose="020B0604020202020204" pitchFamily="34" charset="0"/>
              </a:rPr>
              <a:t>, etc.) and </a:t>
            </a:r>
            <a:r>
              <a:rPr lang="en-US" altLang="en-US" sz="1600" i="1">
                <a:latin typeface="Arial" panose="020B0604020202020204" pitchFamily="34" charset="0"/>
              </a:rPr>
              <a:t>value</a:t>
            </a:r>
            <a:r>
              <a:rPr lang="en-US" altLang="en-US" sz="1600">
                <a:latin typeface="Arial" panose="020B0604020202020204" pitchFamily="34" charset="0"/>
              </a:rPr>
              <a:t> is a valid value </a:t>
            </a:r>
          </a:p>
          <a:p>
            <a:pPr algn="l" rtl="0">
              <a:spcBef>
                <a:spcPct val="75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r>
              <a:rPr lang="en-US" altLang="en-US" sz="1600">
                <a:latin typeface="Arial" panose="020B0604020202020204" pitchFamily="34" charset="0"/>
              </a:rPr>
              <a:t>Breakpoints can be declared either interactively, or via script commands</a:t>
            </a:r>
          </a:p>
          <a:p>
            <a:pPr algn="l" rtl="0">
              <a:spcBef>
                <a:spcPct val="75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r>
              <a:rPr lang="en-US" altLang="en-US" sz="1600">
                <a:latin typeface="Arial" panose="020B0604020202020204" pitchFamily="34" charset="0"/>
              </a:rPr>
              <a:t>For each declared breakpoint, when the </a:t>
            </a:r>
            <a:r>
              <a:rPr lang="en-US" altLang="en-US" sz="1600" i="1">
                <a:latin typeface="Arial" panose="020B0604020202020204" pitchFamily="34" charset="0"/>
              </a:rPr>
              <a:t>variable</a:t>
            </a:r>
            <a:r>
              <a:rPr lang="en-US" altLang="en-US" sz="1600">
                <a:latin typeface="Arial" panose="020B0604020202020204" pitchFamily="34" charset="0"/>
              </a:rPr>
              <a:t> reaches the </a:t>
            </a:r>
            <a:r>
              <a:rPr lang="en-US" altLang="en-US" sz="1600" i="1">
                <a:latin typeface="Arial" panose="020B0604020202020204" pitchFamily="34" charset="0"/>
              </a:rPr>
              <a:t>value</a:t>
            </a:r>
            <a:r>
              <a:rPr lang="en-US" altLang="en-US" sz="1600">
                <a:latin typeface="Arial" panose="020B0604020202020204" pitchFamily="34" charset="0"/>
              </a:rPr>
              <a:t>, the emulator pauses the program’s execution with a proper message.</a:t>
            </a:r>
          </a:p>
          <a:p>
            <a:pPr algn="l" rtl="0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endParaRPr lang="en-US" altLang="en-US" sz="16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566" name="Picture 14">
            <a:extLst>
              <a:ext uri="{FF2B5EF4-FFF2-40B4-BE49-F238E27FC236}">
                <a16:creationId xmlns:a16="http://schemas.microsoft.com/office/drawing/2014/main" id="{38E1DCF1-E08C-0645-B9FF-E0BEE7CF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8077200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9555" name="Rectangle 3">
            <a:extLst>
              <a:ext uri="{FF2B5EF4-FFF2-40B4-BE49-F238E27FC236}">
                <a16:creationId xmlns:a16="http://schemas.microsoft.com/office/drawing/2014/main" id="{56A3572A-33AD-3042-8094-B59D331CD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anchor="b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4572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9144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1371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18288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 Breakpoints </a:t>
            </a:r>
          </a:p>
        </p:txBody>
      </p:sp>
      <p:sp>
        <p:nvSpPr>
          <p:cNvPr id="279557" name="AutoShape 5">
            <a:extLst>
              <a:ext uri="{FF2B5EF4-FFF2-40B4-BE49-F238E27FC236}">
                <a16:creationId xmlns:a16="http://schemas.microsoft.com/office/drawing/2014/main" id="{7E308947-DF5B-EC48-929D-061AB1F35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86000"/>
            <a:ext cx="1219200" cy="838200"/>
          </a:xfrm>
          <a:prstGeom prst="wedgeRoundRectCallout">
            <a:avLst>
              <a:gd name="adj1" fmla="val 66407"/>
              <a:gd name="adj2" fmla="val -136366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en-US" sz="1400">
                <a:solidFill>
                  <a:schemeClr val="tx1"/>
                </a:solidFill>
              </a:rPr>
              <a:t>1. Open the breakpoint panel</a:t>
            </a:r>
          </a:p>
        </p:txBody>
      </p:sp>
      <p:sp>
        <p:nvSpPr>
          <p:cNvPr id="279558" name="Oval 6">
            <a:extLst>
              <a:ext uri="{FF2B5EF4-FFF2-40B4-BE49-F238E27FC236}">
                <a16:creationId xmlns:a16="http://schemas.microsoft.com/office/drawing/2014/main" id="{F4FEA980-97FC-0049-8DCD-89AC56116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990600"/>
            <a:ext cx="457200" cy="5334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79567" name="Picture 15">
            <a:extLst>
              <a:ext uri="{FF2B5EF4-FFF2-40B4-BE49-F238E27FC236}">
                <a16:creationId xmlns:a16="http://schemas.microsoft.com/office/drawing/2014/main" id="{B650CEE9-CFD0-154B-B0FD-FE9B0CE2D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86000"/>
            <a:ext cx="2000250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79572" name="Group 20">
            <a:extLst>
              <a:ext uri="{FF2B5EF4-FFF2-40B4-BE49-F238E27FC236}">
                <a16:creationId xmlns:a16="http://schemas.microsoft.com/office/drawing/2014/main" id="{D0F7968A-0CA9-2A44-AF8B-6C2CC3616ABA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990600"/>
            <a:ext cx="3200400" cy="2286000"/>
            <a:chOff x="2928" y="624"/>
            <a:chExt cx="2016" cy="1440"/>
          </a:xfrm>
        </p:grpSpPr>
        <p:sp>
          <p:nvSpPr>
            <p:cNvPr id="279561" name="Rectangle 9">
              <a:extLst>
                <a:ext uri="{FF2B5EF4-FFF2-40B4-BE49-F238E27FC236}">
                  <a16:creationId xmlns:a16="http://schemas.microsoft.com/office/drawing/2014/main" id="{9250D1AA-4EDB-6A47-B7F5-CE25CE938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584"/>
              <a:ext cx="1152" cy="480"/>
            </a:xfrm>
            <a:prstGeom prst="rect">
              <a:avLst/>
            </a:prstGeom>
            <a:noFill/>
            <a:ln w="34925">
              <a:solidFill>
                <a:srgbClr val="CC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5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562" name="AutoShape 10">
              <a:extLst>
                <a:ext uri="{FF2B5EF4-FFF2-40B4-BE49-F238E27FC236}">
                  <a16:creationId xmlns:a16="http://schemas.microsoft.com/office/drawing/2014/main" id="{F4AA9309-80F4-3E40-A8C2-17014C230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624"/>
              <a:ext cx="960" cy="528"/>
            </a:xfrm>
            <a:prstGeom prst="wedgeRoundRectCallout">
              <a:avLst>
                <a:gd name="adj1" fmla="val -84792"/>
                <a:gd name="adj2" fmla="val 127463"/>
                <a:gd name="adj3" fmla="val 16667"/>
              </a:avLst>
            </a:prstGeom>
            <a:solidFill>
              <a:srgbClr val="FFFFC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/>
              <a:r>
                <a:rPr lang="en-US" altLang="en-US" sz="1400">
                  <a:solidFill>
                    <a:schemeClr val="tx1"/>
                  </a:solidFill>
                </a:rPr>
                <a:t>2. Previously-declared breakpoints</a:t>
              </a:r>
            </a:p>
          </p:txBody>
        </p:sp>
      </p:grpSp>
      <p:sp>
        <p:nvSpPr>
          <p:cNvPr id="279559" name="AutoShape 7">
            <a:extLst>
              <a:ext uri="{FF2B5EF4-FFF2-40B4-BE49-F238E27FC236}">
                <a16:creationId xmlns:a16="http://schemas.microsoft.com/office/drawing/2014/main" id="{DAA61592-C3E4-034A-BE4A-DD54DB70D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410200"/>
            <a:ext cx="1447800" cy="838200"/>
          </a:xfrm>
          <a:prstGeom prst="wedgeRoundRectCallout">
            <a:avLst>
              <a:gd name="adj1" fmla="val 93093"/>
              <a:gd name="adj2" fmla="val 10606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en-US" sz="1400">
                <a:solidFill>
                  <a:schemeClr val="tx1"/>
                </a:solidFill>
              </a:rPr>
              <a:t>3. Add, delete, or update breakpoints</a:t>
            </a:r>
          </a:p>
        </p:txBody>
      </p:sp>
      <p:sp>
        <p:nvSpPr>
          <p:cNvPr id="279563" name="Oval 11">
            <a:extLst>
              <a:ext uri="{FF2B5EF4-FFF2-40B4-BE49-F238E27FC236}">
                <a16:creationId xmlns:a16="http://schemas.microsoft.com/office/drawing/2014/main" id="{CCD3882F-42B3-C14E-B9AA-D705D3240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562600"/>
            <a:ext cx="457200" cy="5334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79574" name="Picture 22">
            <a:extLst>
              <a:ext uri="{FF2B5EF4-FFF2-40B4-BE49-F238E27FC236}">
                <a16:creationId xmlns:a16="http://schemas.microsoft.com/office/drawing/2014/main" id="{D153A257-9B2E-AA47-A4C7-13AF7DCA7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75" t="34375" r="34375" b="38542"/>
          <a:stretch>
            <a:fillRect/>
          </a:stretch>
        </p:blipFill>
        <p:spPr bwMode="auto">
          <a:xfrm>
            <a:off x="4953000" y="3429000"/>
            <a:ext cx="30480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9571" name="AutoShape 19">
            <a:extLst>
              <a:ext uri="{FF2B5EF4-FFF2-40B4-BE49-F238E27FC236}">
                <a16:creationId xmlns:a16="http://schemas.microsoft.com/office/drawing/2014/main" id="{468685E8-6CB6-1441-A6A2-E0260BDFE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981200"/>
            <a:ext cx="2057400" cy="838200"/>
          </a:xfrm>
          <a:prstGeom prst="wedgeRoundRectCallout">
            <a:avLst>
              <a:gd name="adj1" fmla="val -26310"/>
              <a:gd name="adj2" fmla="val 165907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en-US" sz="1400">
                <a:solidFill>
                  <a:schemeClr val="tx1"/>
                </a:solidFill>
              </a:rPr>
              <a:t>4. Select the variable on whose value you wish to break</a:t>
            </a:r>
          </a:p>
        </p:txBody>
      </p:sp>
      <p:sp>
        <p:nvSpPr>
          <p:cNvPr id="279570" name="AutoShape 18">
            <a:extLst>
              <a:ext uri="{FF2B5EF4-FFF2-40B4-BE49-F238E27FC236}">
                <a16:creationId xmlns:a16="http://schemas.microsoft.com/office/drawing/2014/main" id="{A03118F8-5D64-D341-9712-C2AE2C91C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962400"/>
            <a:ext cx="1828800" cy="838200"/>
          </a:xfrm>
          <a:prstGeom prst="wedgeRoundRectCallout">
            <a:avLst>
              <a:gd name="adj1" fmla="val 84898"/>
              <a:gd name="adj2" fmla="val -23486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en-US" sz="1400">
                <a:solidFill>
                  <a:schemeClr val="tx1"/>
                </a:solidFill>
              </a:rPr>
              <a:t>5. Enter the value at which the break should occur</a:t>
            </a:r>
          </a:p>
        </p:txBody>
      </p:sp>
      <p:grpSp>
        <p:nvGrpSpPr>
          <p:cNvPr id="279587" name="Group 35">
            <a:extLst>
              <a:ext uri="{FF2B5EF4-FFF2-40B4-BE49-F238E27FC236}">
                <a16:creationId xmlns:a16="http://schemas.microsoft.com/office/drawing/2014/main" id="{F3A46415-D30F-6B41-9057-FE1D04DA1BA5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505200"/>
            <a:ext cx="2133600" cy="2590800"/>
            <a:chOff x="240" y="2208"/>
            <a:chExt cx="1344" cy="1632"/>
          </a:xfrm>
        </p:grpSpPr>
        <p:sp>
          <p:nvSpPr>
            <p:cNvPr id="279582" name="AutoShape 30">
              <a:extLst>
                <a:ext uri="{FF2B5EF4-FFF2-40B4-BE49-F238E27FC236}">
                  <a16:creationId xmlns:a16="http://schemas.microsoft.com/office/drawing/2014/main" id="{C309F023-CE3C-8E4D-A586-DF3C173A8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832"/>
              <a:ext cx="1344" cy="1008"/>
            </a:xfrm>
            <a:prstGeom prst="roundRect">
              <a:avLst>
                <a:gd name="adj" fmla="val 16667"/>
              </a:avLst>
            </a:prstGeom>
            <a:solidFill>
              <a:srgbClr val="FFDDC3"/>
            </a:solidFill>
            <a:ln w="19050">
              <a:solidFill>
                <a:srgbClr val="BD520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rIns="54000" anchor="ctr"/>
            <a:lstStyle/>
            <a:p>
              <a:pPr algn="l" eaLnBrk="0" hangingPunct="0"/>
              <a:r>
                <a:rPr lang="en-US" altLang="en-US" sz="1400">
                  <a:solidFill>
                    <a:srgbClr val="800000"/>
                  </a:solidFill>
                  <a:cs typeface="Times New Roman (Hebrew)" panose="02020603050405020304" pitchFamily="18" charset="0"/>
                </a:rPr>
                <a:t>A simple VM program: </a:t>
              </a:r>
              <a:r>
                <a:rPr lang="en-US" altLang="en-US" sz="1400" b="1">
                  <a:solidFill>
                    <a:srgbClr val="8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Sys.init</a:t>
              </a:r>
              <a:r>
                <a:rPr lang="en-US" altLang="en-US" sz="1400">
                  <a:solidFill>
                    <a:srgbClr val="800000"/>
                  </a:solidFill>
                  <a:cs typeface="Courier New" panose="02070309020205020404" pitchFamily="49" charset="0"/>
                </a:rPr>
                <a:t> calls </a:t>
              </a:r>
              <a:r>
                <a:rPr lang="en-US" altLang="en-US" sz="1400" b="1">
                  <a:solidFill>
                    <a:srgbClr val="8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Main.main</a:t>
              </a:r>
              <a:r>
                <a:rPr lang="en-US" altLang="en-US" sz="1400">
                  <a:solidFill>
                    <a:srgbClr val="800000"/>
                  </a:solidFill>
                  <a:cs typeface="Courier New" panose="02070309020205020404" pitchFamily="49" charset="0"/>
                </a:rPr>
                <a:t>, that calls </a:t>
              </a:r>
              <a:r>
                <a:rPr lang="en-US" altLang="en-US" sz="1400" b="1">
                  <a:solidFill>
                    <a:srgbClr val="8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Main.add</a:t>
              </a:r>
              <a:r>
                <a:rPr lang="en-US" altLang="en-US" sz="1400">
                  <a:solidFill>
                    <a:srgbClr val="800000"/>
                  </a:solidFill>
                  <a:cs typeface="Courier New" panose="02070309020205020404" pitchFamily="49" charset="0"/>
                </a:rPr>
                <a:t> (header not seen because of the scroll), that does some simple stack arithmetic.</a:t>
              </a:r>
            </a:p>
          </p:txBody>
        </p:sp>
        <p:cxnSp>
          <p:nvCxnSpPr>
            <p:cNvPr id="279583" name="AutoShape 31">
              <a:extLst>
                <a:ext uri="{FF2B5EF4-FFF2-40B4-BE49-F238E27FC236}">
                  <a16:creationId xmlns:a16="http://schemas.microsoft.com/office/drawing/2014/main" id="{EC6C5D6D-7A10-A54A-9FC3-ABA31094CF5C}"/>
                </a:ext>
              </a:extLst>
            </p:cNvPr>
            <p:cNvCxnSpPr>
              <a:cxnSpLocks noChangeShapeType="1"/>
              <a:stCxn id="279582" idx="0"/>
              <a:endCxn id="279584" idx="2"/>
            </p:cNvCxnSpPr>
            <p:nvPr/>
          </p:nvCxnSpPr>
          <p:spPr bwMode="auto">
            <a:xfrm flipV="1">
              <a:off x="912" y="2352"/>
              <a:ext cx="0" cy="474"/>
            </a:xfrm>
            <a:prstGeom prst="straightConnector1">
              <a:avLst/>
            </a:prstGeom>
            <a:noFill/>
            <a:ln w="19050">
              <a:solidFill>
                <a:srgbClr val="BD5201"/>
              </a:solidFill>
              <a:round/>
              <a:headEnd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584" name="Rectangle 32">
              <a:extLst>
                <a:ext uri="{FF2B5EF4-FFF2-40B4-BE49-F238E27FC236}">
                  <a16:creationId xmlns:a16="http://schemas.microsoft.com/office/drawing/2014/main" id="{E649F88B-9CA8-9943-B4AB-8315C68D5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208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endParaRPr lang="en-US" altLang="en-US"/>
            </a:p>
          </p:txBody>
        </p:sp>
      </p:grpSp>
      <p:sp>
        <p:nvSpPr>
          <p:cNvPr id="279588" name="Oval 36">
            <a:extLst>
              <a:ext uri="{FF2B5EF4-FFF2-40B4-BE49-F238E27FC236}">
                <a16:creationId xmlns:a16="http://schemas.microsoft.com/office/drawing/2014/main" id="{6D83A2F2-2E8A-DA4A-BBEA-9BECEE3D9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267200"/>
            <a:ext cx="609600" cy="5334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79593" name="Group 41">
            <a:extLst>
              <a:ext uri="{FF2B5EF4-FFF2-40B4-BE49-F238E27FC236}">
                <a16:creationId xmlns:a16="http://schemas.microsoft.com/office/drawing/2014/main" id="{6CD39320-3AB6-864E-A7CD-175CE7D1D35E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1981200"/>
            <a:ext cx="2514600" cy="1752600"/>
            <a:chOff x="1776" y="1248"/>
            <a:chExt cx="1584" cy="1104"/>
          </a:xfrm>
        </p:grpSpPr>
        <p:sp>
          <p:nvSpPr>
            <p:cNvPr id="279591" name="AutoShape 39">
              <a:extLst>
                <a:ext uri="{FF2B5EF4-FFF2-40B4-BE49-F238E27FC236}">
                  <a16:creationId xmlns:a16="http://schemas.microsoft.com/office/drawing/2014/main" id="{0C68FE02-552B-EF46-BD2E-1401CC78A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248"/>
              <a:ext cx="1536" cy="384"/>
            </a:xfrm>
            <a:prstGeom prst="wedgeRoundRectCallout">
              <a:avLst>
                <a:gd name="adj1" fmla="val -77148"/>
                <a:gd name="adj2" fmla="val 92190"/>
                <a:gd name="adj3" fmla="val 16667"/>
              </a:avLst>
            </a:prstGeom>
            <a:solidFill>
              <a:srgbClr val="FFFFC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/>
              <a:r>
                <a:rPr lang="en-US" altLang="en-US" sz="1400">
                  <a:solidFill>
                    <a:schemeClr val="tx1"/>
                  </a:solidFill>
                </a:rPr>
                <a:t>By convention, function headers are colored violet</a:t>
              </a:r>
            </a:p>
          </p:txBody>
        </p:sp>
        <p:sp>
          <p:nvSpPr>
            <p:cNvPr id="279592" name="AutoShape 40">
              <a:extLst>
                <a:ext uri="{FF2B5EF4-FFF2-40B4-BE49-F238E27FC236}">
                  <a16:creationId xmlns:a16="http://schemas.microsoft.com/office/drawing/2014/main" id="{1B5A8534-9AA3-254A-80E1-9AC5FAAC3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824"/>
              <a:ext cx="1536" cy="528"/>
            </a:xfrm>
            <a:prstGeom prst="wedgeRoundRectCallout">
              <a:avLst>
                <a:gd name="adj1" fmla="val -80014"/>
                <a:gd name="adj2" fmla="val -10417"/>
                <a:gd name="adj3" fmla="val 16667"/>
              </a:avLst>
            </a:prstGeom>
            <a:solidFill>
              <a:srgbClr val="FFFFC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/>
              <a:r>
                <a:rPr lang="en-US" altLang="en-US" sz="1400">
                  <a:solidFill>
                    <a:schemeClr val="tx1"/>
                  </a:solidFill>
                </a:rPr>
                <a:t>Here the violet coloring is overridden by the yellow “next command” highlight.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7" grpId="0" animBg="1" autoUpdateAnimBg="0"/>
      <p:bldP spid="279559" grpId="0" animBg="1" autoUpdateAnimBg="0"/>
      <p:bldP spid="279571" grpId="0" animBg="1" autoUpdateAnimBg="0"/>
      <p:bldP spid="279570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22" name="Picture 2">
            <a:extLst>
              <a:ext uri="{FF2B5EF4-FFF2-40B4-BE49-F238E27FC236}">
                <a16:creationId xmlns:a16="http://schemas.microsoft.com/office/drawing/2014/main" id="{383F570A-8FD0-A442-83D5-4557A89B5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8077200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23" name="Rectangle 3">
            <a:extLst>
              <a:ext uri="{FF2B5EF4-FFF2-40B4-BE49-F238E27FC236}">
                <a16:creationId xmlns:a16="http://schemas.microsoft.com/office/drawing/2014/main" id="{12CA3DEF-3341-594C-82BA-1784A26D0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anchor="b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4572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9144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1371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18288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 Breakpoints</a:t>
            </a:r>
          </a:p>
        </p:txBody>
      </p:sp>
      <p:pic>
        <p:nvPicPr>
          <p:cNvPr id="286739" name="Picture 19">
            <a:extLst>
              <a:ext uri="{FF2B5EF4-FFF2-40B4-BE49-F238E27FC236}">
                <a16:creationId xmlns:a16="http://schemas.microsoft.com/office/drawing/2014/main" id="{5E067739-FB78-FC40-A8E2-58FC0131A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66950"/>
            <a:ext cx="2000250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41" name="Oval 21">
            <a:extLst>
              <a:ext uri="{FF2B5EF4-FFF2-40B4-BE49-F238E27FC236}">
                <a16:creationId xmlns:a16="http://schemas.microsoft.com/office/drawing/2014/main" id="{67CCD8CD-DA32-7B42-805A-27FF6F518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457200" cy="5334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48" name="AutoShape 28">
            <a:extLst>
              <a:ext uri="{FF2B5EF4-FFF2-40B4-BE49-F238E27FC236}">
                <a16:creationId xmlns:a16="http://schemas.microsoft.com/office/drawing/2014/main" id="{AAFCA55C-30BC-F145-ADF0-7A1D76C51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295400"/>
            <a:ext cx="2286000" cy="2438400"/>
          </a:xfrm>
          <a:prstGeom prst="wedgeRoundRectCallout">
            <a:avLst>
              <a:gd name="adj1" fmla="val 67708"/>
              <a:gd name="adj2" fmla="val 18944"/>
              <a:gd name="adj3" fmla="val 16667"/>
            </a:avLst>
          </a:prstGeom>
          <a:solidFill>
            <a:srgbClr val="FFFFC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18000"/>
          <a:lstStyle/>
          <a:p>
            <a:pPr algn="l">
              <a:spcAft>
                <a:spcPct val="25000"/>
              </a:spcAft>
            </a:pPr>
            <a:r>
              <a:rPr lang="en-US" altLang="en-US" sz="1400" b="1" u="sng">
                <a:solidFill>
                  <a:srgbClr val="990000"/>
                </a:solidFill>
              </a:rPr>
              <a:t>Breakpoints logic:</a:t>
            </a:r>
          </a:p>
          <a:p>
            <a:pPr algn="l"/>
            <a:r>
              <a:rPr lang="en-US" altLang="en-US" sz="1400">
                <a:solidFill>
                  <a:schemeClr val="tx1"/>
                </a:solidFill>
              </a:rPr>
              <a:t>When </a:t>
            </a:r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local[1]</a:t>
            </a:r>
            <a:r>
              <a:rPr lang="en-US" altLang="en-US" sz="1400">
                <a:solidFill>
                  <a:schemeClr val="tx1"/>
                </a:solidFill>
              </a:rPr>
              <a:t> will become 8, or when </a:t>
            </a:r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altLang="en-US" sz="1400">
                <a:solidFill>
                  <a:schemeClr val="tx1"/>
                </a:solidFill>
              </a:rPr>
              <a:t> will reach 271, or when the command in line 13 will be reached, or when execution will reach the </a:t>
            </a:r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Main.add</a:t>
            </a:r>
            <a:r>
              <a:rPr lang="en-US" altLang="en-US" sz="1400">
                <a:solidFill>
                  <a:schemeClr val="tx1"/>
                </a:solidFill>
              </a:rPr>
              <a:t> function, the emulator will pause the program’s execution.</a:t>
            </a:r>
          </a:p>
        </p:txBody>
      </p:sp>
      <p:sp>
        <p:nvSpPr>
          <p:cNvPr id="286753" name="Rectangle 33">
            <a:extLst>
              <a:ext uri="{FF2B5EF4-FFF2-40B4-BE49-F238E27FC236}">
                <a16:creationId xmlns:a16="http://schemas.microsoft.com/office/drawing/2014/main" id="{C3CF6AC4-4F58-1A40-96B5-1BF464BAD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200400"/>
            <a:ext cx="1828800" cy="152400"/>
          </a:xfrm>
          <a:prstGeom prst="rect">
            <a:avLst/>
          </a:prstGeom>
          <a:noFill/>
          <a:ln w="34925">
            <a:solidFill>
              <a:srgbClr val="CC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8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753" name="Picture 9">
            <a:extLst>
              <a:ext uri="{FF2B5EF4-FFF2-40B4-BE49-F238E27FC236}">
                <a16:creationId xmlns:a16="http://schemas.microsoft.com/office/drawing/2014/main" id="{6877F86A-FE0A-9A4C-ACA9-2D552D59A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8077200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7747" name="Rectangle 3">
            <a:extLst>
              <a:ext uri="{FF2B5EF4-FFF2-40B4-BE49-F238E27FC236}">
                <a16:creationId xmlns:a16="http://schemas.microsoft.com/office/drawing/2014/main" id="{E49BE05B-FEF7-7646-808F-DC020EF17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anchor="b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4572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9144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1371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18288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Breakpoints in Action</a:t>
            </a:r>
          </a:p>
        </p:txBody>
      </p:sp>
      <p:sp>
        <p:nvSpPr>
          <p:cNvPr id="287754" name="Oval 10">
            <a:extLst>
              <a:ext uri="{FF2B5EF4-FFF2-40B4-BE49-F238E27FC236}">
                <a16:creationId xmlns:a16="http://schemas.microsoft.com/office/drawing/2014/main" id="{E591A496-F25E-0645-AA66-C9475AA26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457200" cy="5334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7770" name="Group 26">
            <a:extLst>
              <a:ext uri="{FF2B5EF4-FFF2-40B4-BE49-F238E27FC236}">
                <a16:creationId xmlns:a16="http://schemas.microsoft.com/office/drawing/2014/main" id="{F0B0E627-F946-EF4F-A75B-0E738CBA7629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676400"/>
            <a:ext cx="1828800" cy="4419600"/>
            <a:chOff x="720" y="1056"/>
            <a:chExt cx="1152" cy="2784"/>
          </a:xfrm>
        </p:grpSpPr>
        <p:sp>
          <p:nvSpPr>
            <p:cNvPr id="287756" name="AutoShape 12">
              <a:extLst>
                <a:ext uri="{FF2B5EF4-FFF2-40B4-BE49-F238E27FC236}">
                  <a16:creationId xmlns:a16="http://schemas.microsoft.com/office/drawing/2014/main" id="{384696C0-F90E-644B-B9C2-F64718379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056"/>
              <a:ext cx="336" cy="192"/>
            </a:xfrm>
            <a:prstGeom prst="leftArrow">
              <a:avLst>
                <a:gd name="adj1" fmla="val 50000"/>
                <a:gd name="adj2" fmla="val 4375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769" name="AutoShape 25">
              <a:extLst>
                <a:ext uri="{FF2B5EF4-FFF2-40B4-BE49-F238E27FC236}">
                  <a16:creationId xmlns:a16="http://schemas.microsoft.com/office/drawing/2014/main" id="{BC61EB96-984F-3B43-8D8A-E8AA6DFA5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552"/>
              <a:ext cx="240" cy="288"/>
            </a:xfrm>
            <a:prstGeom prst="upArrow">
              <a:avLst>
                <a:gd name="adj1" fmla="val 50000"/>
                <a:gd name="adj2" fmla="val 3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7772" name="AutoShape 28">
            <a:extLst>
              <a:ext uri="{FF2B5EF4-FFF2-40B4-BE49-F238E27FC236}">
                <a16:creationId xmlns:a16="http://schemas.microsoft.com/office/drawing/2014/main" id="{D2B064BD-2754-C144-9031-75A6E7EEC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343400"/>
            <a:ext cx="2286000" cy="1371600"/>
          </a:xfrm>
          <a:prstGeom prst="roundRect">
            <a:avLst>
              <a:gd name="adj" fmla="val 16667"/>
            </a:avLst>
          </a:prstGeom>
          <a:solidFill>
            <a:srgbClr val="FFDDC3"/>
          </a:solidFill>
          <a:ln w="19050">
            <a:solidFill>
              <a:srgbClr val="BD520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82800" rIns="54000" anchor="ctr"/>
          <a:lstStyle/>
          <a:p>
            <a:pPr algn="l" eaLnBrk="0" hangingPunct="0"/>
            <a:r>
              <a:rPr lang="en-US" altLang="en-US" sz="1400">
                <a:solidFill>
                  <a:srgbClr val="800000"/>
                </a:solidFill>
                <a:cs typeface="Times New Roman (Hebrew)" panose="02020603050405020304" pitchFamily="18" charset="0"/>
              </a:rPr>
              <a:t>Execution reached the </a:t>
            </a:r>
            <a:r>
              <a:rPr lang="en-US" altLang="en-US" sz="1400" b="1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Main.add</a:t>
            </a:r>
            <a:r>
              <a:rPr lang="en-US" altLang="en-US" sz="1400">
                <a:solidFill>
                  <a:srgbClr val="800000"/>
                </a:solidFill>
                <a:cs typeface="Courier New" panose="02070309020205020404" pitchFamily="49" charset="0"/>
              </a:rPr>
              <a:t> function, an event that triggers a display of the breakpoint and execution pause.</a:t>
            </a:r>
          </a:p>
        </p:txBody>
      </p:sp>
      <p:pic>
        <p:nvPicPr>
          <p:cNvPr id="287775" name="Picture 31">
            <a:extLst>
              <a:ext uri="{FF2B5EF4-FFF2-40B4-BE49-F238E27FC236}">
                <a16:creationId xmlns:a16="http://schemas.microsoft.com/office/drawing/2014/main" id="{8BD6707C-D8EB-EA4A-86BE-D3DB9203C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66950"/>
            <a:ext cx="2000250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775" name="Picture 7">
            <a:extLst>
              <a:ext uri="{FF2B5EF4-FFF2-40B4-BE49-F238E27FC236}">
                <a16:creationId xmlns:a16="http://schemas.microsoft.com/office/drawing/2014/main" id="{369A9ECF-85BC-E94B-BFDC-567BB9D2F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8077200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8771" name="Rectangle 3">
            <a:extLst>
              <a:ext uri="{FF2B5EF4-FFF2-40B4-BE49-F238E27FC236}">
                <a16:creationId xmlns:a16="http://schemas.microsoft.com/office/drawing/2014/main" id="{E9D6BB20-3C67-434F-BFBC-C11607D20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anchor="b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4572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9144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1371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18288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Breakpoints in Action</a:t>
            </a:r>
          </a:p>
        </p:txBody>
      </p:sp>
      <p:sp>
        <p:nvSpPr>
          <p:cNvPr id="288776" name="Oval 8">
            <a:extLst>
              <a:ext uri="{FF2B5EF4-FFF2-40B4-BE49-F238E27FC236}">
                <a16:creationId xmlns:a16="http://schemas.microsoft.com/office/drawing/2014/main" id="{B166594A-918C-2345-9DB0-CAA3D9A2D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90600"/>
            <a:ext cx="457200" cy="5334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6E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8779" name="AutoShape 11">
            <a:extLst>
              <a:ext uri="{FF2B5EF4-FFF2-40B4-BE49-F238E27FC236}">
                <a16:creationId xmlns:a16="http://schemas.microsoft.com/office/drawing/2014/main" id="{D637D752-08D5-C844-A9EF-5108A4DD3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733800"/>
            <a:ext cx="304800" cy="457200"/>
          </a:xfrm>
          <a:prstGeom prst="down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8785" name="AutoShape 17">
            <a:extLst>
              <a:ext uri="{FF2B5EF4-FFF2-40B4-BE49-F238E27FC236}">
                <a16:creationId xmlns:a16="http://schemas.microsoft.com/office/drawing/2014/main" id="{71CE8FAA-854E-6C4A-8713-77093C3A0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962400"/>
            <a:ext cx="2133600" cy="1828800"/>
          </a:xfrm>
          <a:prstGeom prst="roundRect">
            <a:avLst>
              <a:gd name="adj" fmla="val 16667"/>
            </a:avLst>
          </a:prstGeom>
          <a:solidFill>
            <a:srgbClr val="FFDDC3"/>
          </a:solidFill>
          <a:ln w="19050">
            <a:solidFill>
              <a:srgbClr val="BD520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82800" rIns="54000" anchor="ctr"/>
          <a:lstStyle/>
          <a:p>
            <a:pPr algn="l" eaLnBrk="0" hangingPunct="0"/>
            <a:r>
              <a:rPr lang="en-US" altLang="en-US" sz="1400">
                <a:solidFill>
                  <a:srgbClr val="800000"/>
                </a:solidFill>
                <a:cs typeface="Times New Roman (Hebrew)" panose="02020603050405020304" pitchFamily="18" charset="0"/>
              </a:rPr>
              <a:t>Following some </a:t>
            </a:r>
            <a:r>
              <a:rPr lang="en-US" altLang="en-US" sz="1400" b="1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altLang="en-US" sz="1400">
                <a:solidFill>
                  <a:srgbClr val="800000"/>
                </a:solidFill>
                <a:cs typeface="Courier New" panose="02070309020205020404" pitchFamily="49" charset="0"/>
              </a:rPr>
              <a:t> and </a:t>
            </a:r>
            <a:r>
              <a:rPr lang="en-US" altLang="en-US" sz="1400" b="1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altLang="en-US" sz="1400">
                <a:solidFill>
                  <a:srgbClr val="800000"/>
                </a:solidFill>
                <a:cs typeface="Courier New" panose="02070309020205020404" pitchFamily="49" charset="0"/>
              </a:rPr>
              <a:t> commands, the stack pointer (</a:t>
            </a:r>
            <a:r>
              <a:rPr lang="en-US" altLang="en-US" sz="1400" b="1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altLang="en-US" sz="1400">
                <a:solidFill>
                  <a:srgbClr val="800000"/>
                </a:solidFill>
                <a:cs typeface="Courier New" panose="02070309020205020404" pitchFamily="49" charset="0"/>
              </a:rPr>
              <a:t>) became 271, an event that triggers a display of the breakpoint and execution pause.</a:t>
            </a:r>
          </a:p>
        </p:txBody>
      </p:sp>
      <p:pic>
        <p:nvPicPr>
          <p:cNvPr id="288788" name="Picture 20">
            <a:extLst>
              <a:ext uri="{FF2B5EF4-FFF2-40B4-BE49-F238E27FC236}">
                <a16:creationId xmlns:a16="http://schemas.microsoft.com/office/drawing/2014/main" id="{CEB435A4-7FCD-CE4C-8EBB-3AEA6E181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66950"/>
            <a:ext cx="2000250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798" name="Picture 6">
            <a:extLst>
              <a:ext uri="{FF2B5EF4-FFF2-40B4-BE49-F238E27FC236}">
                <a16:creationId xmlns:a16="http://schemas.microsoft.com/office/drawing/2014/main" id="{53C84CA4-7D46-024B-9528-13A5538F6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8077200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9795" name="Rectangle 3">
            <a:extLst>
              <a:ext uri="{FF2B5EF4-FFF2-40B4-BE49-F238E27FC236}">
                <a16:creationId xmlns:a16="http://schemas.microsoft.com/office/drawing/2014/main" id="{0DFEC2CB-BB52-164E-81EF-E117CB689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anchor="b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4572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9144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1371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18288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Breakpoints in Action</a:t>
            </a:r>
          </a:p>
        </p:txBody>
      </p:sp>
      <p:pic>
        <p:nvPicPr>
          <p:cNvPr id="289797" name="Picture 5">
            <a:extLst>
              <a:ext uri="{FF2B5EF4-FFF2-40B4-BE49-F238E27FC236}">
                <a16:creationId xmlns:a16="http://schemas.microsoft.com/office/drawing/2014/main" id="{F0A429BD-AE2C-FD43-9186-687FB175E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86000"/>
            <a:ext cx="2000250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9800" name="AutoShape 8">
            <a:extLst>
              <a:ext uri="{FF2B5EF4-FFF2-40B4-BE49-F238E27FC236}">
                <a16:creationId xmlns:a16="http://schemas.microsoft.com/office/drawing/2014/main" id="{5CA63BE8-04FB-5840-AA43-0D172C6F3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743200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9802" name="AutoShape 10">
            <a:extLst>
              <a:ext uri="{FF2B5EF4-FFF2-40B4-BE49-F238E27FC236}">
                <a16:creationId xmlns:a16="http://schemas.microsoft.com/office/drawing/2014/main" id="{F5A80290-D41F-444A-880C-E21DE1AE1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343400"/>
            <a:ext cx="2895600" cy="1447800"/>
          </a:xfrm>
          <a:prstGeom prst="roundRect">
            <a:avLst>
              <a:gd name="adj" fmla="val 16667"/>
            </a:avLst>
          </a:prstGeom>
          <a:solidFill>
            <a:srgbClr val="FFDDC3"/>
          </a:solidFill>
          <a:ln w="19050">
            <a:solidFill>
              <a:srgbClr val="BD520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 anchor="ctr"/>
          <a:lstStyle/>
          <a:p>
            <a:pPr algn="l" eaLnBrk="0" hangingPunct="0"/>
            <a:r>
              <a:rPr lang="en-US" altLang="en-US" sz="1400">
                <a:solidFill>
                  <a:srgbClr val="800000"/>
                </a:solidFill>
                <a:cs typeface="Times New Roman (Hebrew)" panose="02020603050405020304" pitchFamily="18" charset="0"/>
              </a:rPr>
              <a:t>Following some more execution, the second local variable (</a:t>
            </a:r>
            <a:r>
              <a:rPr lang="en-US" altLang="en-US" sz="1400" b="1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local[1]</a:t>
            </a:r>
            <a:r>
              <a:rPr lang="en-US" altLang="en-US" sz="1400">
                <a:solidFill>
                  <a:srgbClr val="800000"/>
                </a:solidFill>
                <a:cs typeface="Courier New" panose="02070309020205020404" pitchFamily="49" charset="0"/>
              </a:rPr>
              <a:t>) became 8, an event that triggers a display of the breakpoint and execution pause.</a:t>
            </a:r>
          </a:p>
        </p:txBody>
      </p:sp>
      <p:sp>
        <p:nvSpPr>
          <p:cNvPr id="289806" name="AutoShape 14">
            <a:extLst>
              <a:ext uri="{FF2B5EF4-FFF2-40B4-BE49-F238E27FC236}">
                <a16:creationId xmlns:a16="http://schemas.microsoft.com/office/drawing/2014/main" id="{400CCED7-EA6A-3841-8022-370051218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267200"/>
            <a:ext cx="2971800" cy="1600200"/>
          </a:xfrm>
          <a:prstGeom prst="roundRect">
            <a:avLst>
              <a:gd name="adj" fmla="val 16667"/>
            </a:avLst>
          </a:prstGeom>
          <a:solidFill>
            <a:srgbClr val="FFDDC3"/>
          </a:solidFill>
          <a:ln w="19050">
            <a:solidFill>
              <a:srgbClr val="BD520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 anchor="ctr"/>
          <a:lstStyle/>
          <a:p>
            <a:pPr eaLnBrk="0" hangingPunct="0"/>
            <a:r>
              <a:rPr lang="en-US" altLang="en-US" sz="2400">
                <a:solidFill>
                  <a:srgbClr val="800000"/>
                </a:solidFill>
                <a:cs typeface="Times New Roman (Hebrew)" panose="02020603050405020304" pitchFamily="18" charset="0"/>
              </a:rPr>
              <a:t>A powerful debugging tool!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06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87EFBF28-7A1B-9343-BD12-6490E0F50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Breakpoints in Scripts</a:t>
            </a:r>
          </a:p>
        </p:txBody>
      </p:sp>
      <p:sp>
        <p:nvSpPr>
          <p:cNvPr id="224259" name="Text Box 3">
            <a:extLst>
              <a:ext uri="{FF2B5EF4-FFF2-40B4-BE49-F238E27FC236}">
                <a16:creationId xmlns:a16="http://schemas.microsoft.com/office/drawing/2014/main" id="{3E8FEC38-0E71-E24C-9B33-0FC6F2A0F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0"/>
            <a:ext cx="4191000" cy="5486400"/>
          </a:xfrm>
          <a:prstGeom prst="rect">
            <a:avLst/>
          </a:prstGeom>
          <a:solidFill>
            <a:srgbClr val="F3F3FF"/>
          </a:solidFill>
          <a:ln w="9525">
            <a:solidFill>
              <a:srgbClr val="293973"/>
            </a:solidFill>
            <a:miter lim="800000"/>
            <a:headEnd/>
            <a:tailEnd/>
          </a:ln>
          <a:effectLst>
            <a:outerShdw dist="89803" dir="2700000" algn="ctr" rotWithShape="0">
              <a:srgbClr val="293973"/>
            </a:outerShdw>
          </a:effectLst>
        </p:spPr>
        <p:txBody>
          <a:bodyPr lIns="201600" tIns="190800" rIns="93600" bIns="190800"/>
          <a:lstStyle>
            <a:lvl1pPr marL="342900" indent="-3429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load myProg.vm,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output-file myProg.out,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output-list sp%D2.4.2       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CurrentFunction%S1.15.1 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         Argument[0]%D3.6.3 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	         RAM[256]%D2.6.2;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breakpoint currentFunction Sys.init,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set RAM[256] 15,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set sp 257;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repeat 3 {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vmStep,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output;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while sp &lt; 260 {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vmstep;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output;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clear-breakpoints;</a:t>
            </a: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rtl="0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// Etc.</a:t>
            </a:r>
          </a:p>
        </p:txBody>
      </p:sp>
      <p:sp>
        <p:nvSpPr>
          <p:cNvPr id="224260" name="Rectangle 4">
            <a:extLst>
              <a:ext uri="{FF2B5EF4-FFF2-40B4-BE49-F238E27FC236}">
                <a16:creationId xmlns:a16="http://schemas.microsoft.com/office/drawing/2014/main" id="{BC6276F9-B6F2-BA47-A8D9-F9391E17C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762000"/>
            <a:ext cx="39624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anchorCtr="1"/>
          <a:lstStyle>
            <a:lvl1pPr marL="342900" indent="-246063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1pPr>
            <a:lvl2pPr marL="819150" indent="-28575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2pPr>
            <a:lvl3pPr marL="1238250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3pPr>
            <a:lvl4pPr marL="1657350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4pPr>
            <a:lvl5pPr marL="2076450" indent="-228600" algn="r" rtl="1"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5pPr>
            <a:lvl6pPr marL="253365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6pPr>
            <a:lvl7pPr marL="299085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7pPr>
            <a:lvl8pPr marL="344805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8pPr>
            <a:lvl9pPr marL="3905250" indent="-228600" algn="r" rtl="1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 (Hebrew)" panose="02020603050405020304" pitchFamily="18" charset="0"/>
              </a:defRPr>
            </a:lvl9pPr>
          </a:lstStyle>
          <a:p>
            <a:pPr algn="l" rtl="0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r>
              <a:rPr lang="en-US" altLang="en-US" sz="1800">
                <a:latin typeface="Arial" panose="020B0604020202020204" pitchFamily="34" charset="0"/>
              </a:rPr>
              <a:t>For systematic and replicable debugging, use scripts</a:t>
            </a:r>
          </a:p>
          <a:p>
            <a:pPr algn="l" rtl="0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r>
              <a:rPr lang="en-US" altLang="en-US" sz="1800">
                <a:latin typeface="Arial" panose="020B0604020202020204" pitchFamily="34" charset="0"/>
              </a:rPr>
              <a:t>The first script commands usually load the 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.vm</a:t>
            </a:r>
            <a:r>
              <a:rPr lang="en-US" altLang="en-US" sz="1800">
                <a:latin typeface="Arial" panose="020B0604020202020204" pitchFamily="34" charset="0"/>
              </a:rPr>
              <a:t> program and set up for the simulation</a:t>
            </a:r>
          </a:p>
          <a:p>
            <a:pPr algn="l" rtl="0">
              <a:spcBef>
                <a:spcPct val="40000"/>
              </a:spcBef>
              <a:buClr>
                <a:srgbClr val="006600"/>
              </a:buClr>
              <a:buSzPct val="110000"/>
              <a:buFont typeface="Wingdings" pitchFamily="2" charset="2"/>
              <a:buChar char="§"/>
            </a:pPr>
            <a:r>
              <a:rPr lang="en-US" altLang="en-US" sz="1800">
                <a:latin typeface="Arial" panose="020B0604020202020204" pitchFamily="34" charset="0"/>
              </a:rPr>
              <a:t>The rest of the script may use various debugging-oriented commands:</a:t>
            </a:r>
          </a:p>
          <a:p>
            <a:pPr lvl="1" algn="l" rtl="0">
              <a:spcBef>
                <a:spcPct val="40000"/>
              </a:spcBef>
              <a:buClr>
                <a:srgbClr val="00007A"/>
              </a:buClr>
              <a:buSzPct val="125000"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Write variable values (output)</a:t>
            </a:r>
          </a:p>
          <a:p>
            <a:pPr lvl="1" algn="l" rtl="0">
              <a:spcBef>
                <a:spcPct val="40000"/>
              </a:spcBef>
              <a:buClr>
                <a:srgbClr val="00007A"/>
              </a:buClr>
              <a:buSzPct val="125000"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Repeated execution (while)</a:t>
            </a:r>
          </a:p>
          <a:p>
            <a:pPr lvl="1" algn="l" rtl="0">
              <a:spcBef>
                <a:spcPct val="40000"/>
              </a:spcBef>
              <a:buClr>
                <a:srgbClr val="00007A"/>
              </a:buClr>
              <a:buSzPct val="125000"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Set/clear Breakpoints</a:t>
            </a:r>
          </a:p>
          <a:p>
            <a:pPr lvl="1" algn="l" rtl="0">
              <a:spcBef>
                <a:spcPct val="40000"/>
              </a:spcBef>
              <a:buClr>
                <a:srgbClr val="00007A"/>
              </a:buClr>
              <a:buSzPct val="125000"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Etc. (see Appendix B.)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_valu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9999"/>
      </a:hlink>
      <a:folHlink>
        <a:srgbClr val="006666"/>
      </a:folHlink>
    </a:clrScheme>
    <a:fontScheme name="ed_value">
      <a:majorFont>
        <a:latin typeface="Arial"/>
        <a:ea typeface=""/>
        <a:cs typeface="Arial"/>
      </a:majorFont>
      <a:minorFont>
        <a:latin typeface="Arial"/>
        <a:ea typeface=""/>
        <a:cs typeface="Times New Roman (Hebrew)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ed_valu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_valu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_valu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_valu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_valu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_valu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_valu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Designs\Artsy.pot</Template>
  <TotalTime>8358</TotalTime>
  <Words>1958</Words>
  <Application>Microsoft Macintosh PowerPoint</Application>
  <PresentationFormat>On-screen Show (4:3)</PresentationFormat>
  <Paragraphs>236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 Unicode MS</vt:lpstr>
      <vt:lpstr>Arial</vt:lpstr>
      <vt:lpstr>Comic Sans MS</vt:lpstr>
      <vt:lpstr>Courier New</vt:lpstr>
      <vt:lpstr>Wingdings</vt:lpstr>
      <vt:lpstr>ed_value</vt:lpstr>
      <vt:lpstr>VISIO</vt:lpstr>
      <vt:lpstr>VM Emulator Tutorial</vt:lpstr>
      <vt:lpstr>Background</vt:lpstr>
      <vt:lpstr>The Book’s Software Suite</vt:lpstr>
      <vt:lpstr>VM Emulator Tutorial</vt:lpstr>
      <vt:lpstr>VM Emulator Tutorial</vt:lpstr>
      <vt:lpstr>The Typical Origin of VM Programs</vt:lpstr>
      <vt:lpstr>Example: Pong game (user view)</vt:lpstr>
      <vt:lpstr>VM Emulator at a Glance</vt:lpstr>
      <vt:lpstr>Loading a VM Program</vt:lpstr>
      <vt:lpstr>Running a Program</vt:lpstr>
      <vt:lpstr>Running a Program</vt:lpstr>
      <vt:lpstr>Loading a Multi-File Program</vt:lpstr>
      <vt:lpstr>PowerPoint Presentation</vt:lpstr>
      <vt:lpstr>VM Emulator Tutorial</vt:lpstr>
      <vt:lpstr>Virtual Memory Segments</vt:lpstr>
      <vt:lpstr>VM Emulator Tutorial</vt:lpstr>
      <vt:lpstr>Typical VM Script</vt:lpstr>
      <vt:lpstr>Loading a Script</vt:lpstr>
      <vt:lpstr>Script Controls</vt:lpstr>
      <vt:lpstr>Running the Script</vt:lpstr>
      <vt:lpstr>Running the Script</vt:lpstr>
      <vt:lpstr>Running the Script</vt:lpstr>
      <vt:lpstr>Running the Script</vt:lpstr>
      <vt:lpstr>VM Emulator Tutorial</vt:lpstr>
      <vt:lpstr>View Options</vt:lpstr>
      <vt:lpstr>Animation Options</vt:lpstr>
      <vt:lpstr>Breakpoints: a Powerful Debugging Tool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Breakpoints in Scripts</vt:lpstr>
    </vt:vector>
  </TitlesOfParts>
  <Company>Bla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Lecture Name </dc:title>
  <dc:creator>Shimon Schocken</dc:creator>
  <cp:lastModifiedBy>Schocken Shimon</cp:lastModifiedBy>
  <cp:revision>531</cp:revision>
  <dcterms:created xsi:type="dcterms:W3CDTF">2002-09-27T17:30:27Z</dcterms:created>
  <dcterms:modified xsi:type="dcterms:W3CDTF">2023-02-16T15:02:23Z</dcterms:modified>
</cp:coreProperties>
</file>